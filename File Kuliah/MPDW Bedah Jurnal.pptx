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snapToObjects="1">
      <p:cViewPr>
        <p:scale>
          <a:sx n="50" d="100"/>
          <a:sy n="50" d="100"/>
        </p:scale>
        <p:origin x="2136" y="139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1"/>
        <c:ser>
          <c:idx val="0"/>
          <c:order val="0"/>
          <c:tx>
            <c:strRef>
              <c:f>Sheet1!$B$1</c:f>
              <c:strCache>
                <c:ptCount val="1"/>
                <c:pt idx="0">
                  <c:v>MAPE (%)</c:v>
                </c:pt>
              </c:strCache>
            </c:strRef>
          </c:tx>
          <c:invertIfNegative val="1"/>
          <c:dPt>
            <c:idx val="0"/>
            <c:invertIfNegative val="1"/>
            <c:bubble3D val="0"/>
            <c:spPr>
              <a:solidFill>
                <a:schemeClr val="accent6"/>
              </a:solidFill>
              <a:ln>
                <a:noFill/>
              </a:ln>
              <a:effectLst/>
            </c:spPr>
          </c:dPt>
          <c:dPt>
            <c:idx val="1"/>
            <c:invertIfNegative val="1"/>
            <c:bubble3D val="0"/>
            <c:spPr>
              <a:solidFill>
                <a:schemeClr val="accent5"/>
              </a:solidFill>
              <a:ln>
                <a:noFill/>
              </a:ln>
              <a:effectLst/>
            </c:spPr>
          </c:dPt>
          <c:dPt>
            <c:idx val="2"/>
            <c:invertIfNegative val="1"/>
            <c:bubble3D val="0"/>
            <c:spPr>
              <a:solidFill>
                <a:schemeClr val="accent4"/>
              </a:solidFill>
              <a:ln>
                <a:noFill/>
              </a:ln>
              <a:effectLst/>
            </c:spPr>
          </c:dPt>
          <c:cat>
            <c:strRef>
              <c:f>Sheet1!$A$2:$A$4</c:f>
              <c:strCache>
                <c:ptCount val="3"/>
                <c:pt idx="0">
                  <c:v>GRU</c:v>
                </c:pt>
                <c:pt idx="1">
                  <c:v>LSTM</c:v>
                </c:pt>
                <c:pt idx="2">
                  <c:v>ARIMA</c:v>
                </c:pt>
              </c:strCache>
            </c:strRef>
          </c:cat>
          <c:val>
            <c:numRef>
              <c:f>Sheet1!$B$2:$B$4</c:f>
              <c:numCache>
                <c:formatCode>General</c:formatCode>
                <c:ptCount val="3"/>
                <c:pt idx="0">
                  <c:v>2.2599999999999998</c:v>
                </c:pt>
                <c:pt idx="1">
                  <c:v>2.86</c:v>
                </c:pt>
                <c:pt idx="2">
                  <c:v>14.93</c:v>
                </c:pt>
              </c:numCache>
            </c:numRef>
          </c:val>
          <c:extLst>
            <c:ext xmlns:c16="http://schemas.microsoft.com/office/drawing/2014/chart" uri="{C3380CC4-5D6E-409C-BE32-E72D297353CC}">
              <c16:uniqueId val="{00000000-8877-4283-9EFB-50F2B7CCBB7A}"/>
            </c:ext>
          </c:extLst>
        </c:ser>
        <c:dLbls>
          <c:showLegendKey val="0"/>
          <c:showVal val="0"/>
          <c:showCatName val="0"/>
          <c:showSerName val="0"/>
          <c:showPercent val="0"/>
          <c:showBubbleSize val="0"/>
        </c:dLbls>
        <c:gapWidth val="182"/>
        <c:axId val="-2068027336"/>
        <c:axId val="-2113994440"/>
      </c:barChart>
      <c:catAx>
        <c:axId val="-2068027336"/>
        <c:scaling>
          <c:orientation val="maxMin"/>
        </c:scaling>
        <c:delete val="0"/>
        <c:axPos val="l"/>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2113994440"/>
        <c:crosses val="autoZero"/>
        <c:auto val="1"/>
        <c:lblAlgn val="ctr"/>
        <c:lblOffset val="100"/>
        <c:noMultiLvlLbl val="0"/>
      </c:catAx>
      <c:valAx>
        <c:axId val="-2113994440"/>
        <c:scaling>
          <c:orientation val="minMax"/>
          <c:max val="16"/>
          <c:min val="0"/>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68027336"/>
        <c:crosses val="autoZero"/>
        <c:crossBetween val="between"/>
        <c:majorUnit val="4"/>
      </c:valAx>
      <c:spPr>
        <a:noFill/>
        <a:ln>
          <a:noFill/>
        </a:ln>
        <a:effectLst/>
      </c:spPr>
    </c:plotArea>
    <c:plotVisOnly val="1"/>
    <c:dispBlanksAs val="gap"/>
    <c:showDLblsOverMax val="1"/>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6278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Pada kesempatan kali ini saya akan mempresentasikan hasil bedah paper berjudul Analisis Komparatif Model ARIMA, LSTM, dan GRU dalam Forecasting Harga Bitcoin Berbasis Streamlit. Paper ini membahas perbandingan tiga metode forecasting, yaitu ARIMA, LSTM, dan GRU, untuk memprediksi harga Bitcoin.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Secara umum, paper ini merupakan penelitian forecasting pada bidang cryptocurrency, khususnya harga Bitcoin. Peneliti membandingkan model statistik klasik ARIMA dengan dua model deep learning, yaitu LSTM dan GRU. Selain membandingkan performanya, peneliti juga mengimplementasikan model terbaik ke dalam dashboard Streamlit.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Latar belakang utama penelitian ini adalah karakteristik Bitcoin yang sangat volatil dan memiliki pola pergerakan non-linear. Karena harga dapat berubah secara signifikan dalam waktu singkat, forecasting menjadi cukup sulit. Peneliti kemudian melihat bahwa metode statistik seperti ARIMA memiliki keterbatasan ketika menghadapi pola non-linear tersebut, sehingga dilakukan perbandingan dengan LSTM dan GRU.</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Research gap yang diangkat penulis ada dua. Pertama, penelitian sebelumnya banyak berhenti pada evaluasi metrik performa. Kedua, hasil forecasting belum selalu dibuat menjadi aplikasi yang dapat digunakan pengguna. Karena itu, novelty paper ini adalah melakukan perbandingan ARIMA, LSTM, dan GRU sekaligus mengimplementasikan model terbaik ke dashboard Streamlit.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Berdasarkan latar belakang dan research gap tersebut, tujuan penelitian ini adalah membandingkan ketiga model, menentukan model dengan performa forecasting terbaik, dan mengimplementasikan model terbaik ke dashboard Streamlit.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yang digunakan merupakan data sekunder dari CoinMarketCap dengan frekuensi harian. Periode pengamatan dimulai dari Januari 2020 sampai Mei 2026 dan menghasilkan 2.320 observasi. Target yang diprediksi adalah harga penutupan atau Close. Untuk model deep learning, variabel input yang digunakan adalah Open, High, dan Low. Data kemudian dibagi secara kronologis menjadi 80 persen training dan 20 persen testing.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Alur penelitian dimulai dari pengumpulan dan pemahaman data, kemudian preprocessing dan normalisasi. Data selanjutnya diubah menjadi data sekuensial menggunakan sliding window selama 30 hari. Setelah itu dilakukan pembagian training dan testing, kemudian ketiga model dilatih dan dibandingkan menggunakan beberapa metrik evaluasi. Model terbaik kemudian diimplementasikan ke dashboard Streamlit.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Untuk ARIMA, peneliti menggunakan orde 1,1,1. Sementara LSTM dan GRU memiliki konfigurasi yang relatif serupa, yaitu dua layer dengan masing-masing 50 neuron dan dropout 0,2. Kedua model deep learning menggunakan MSE sebagai loss function, Adam sebagai optimizer, learning rate 0,001, batch size 32, dan 50 epoch.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Pada hasil penelitian, GRU memiliki MAPE sebesar 2,26 persen dan R-squared sebesar 0,9661. LSTM memiliki MAPE 2,86 persen, sedangkan ARIMA memiliki MAPE 14,93 persen dan R-squared negatif. Berdasarkan metrik yang digunakan oleh penulis, GRU merupakan model dengan performa yang dilaporkan paling baik pada data pengujian penelitian ini.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Kalau kita lihat dari hasilnya, GRU memiliki error yang lebih kecil dibandingkan LSTM dan ARIMA. LSTM juga dapat mengikuti pola aktual dengan cukup baik, sedangkan prediksi ARIMA terlihat lebih datar dibandingkan pergerakan harga aktual. Penulis mengaitkan hasil GRU dengan arsitekturnya yang lebih ringkas serta kemampuannya dalam menangkap pola temporal.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Selain melihat hasil yang diperoleh penulis, saya juga melakukan evaluasi kritis terhadap desain penelitiannya. Kelebihannya adalah penelitian membandingkan beberapa model, menggunakan chronological split, beberapa metrik, serta menghasilkan implementasi aplikasi. Namun terdapat keterbatasan seperti hanya satu kali train-test split, tidak adanya rolling-origin validation, tuning yang belum rinci, pemilihan ARIMA yang belum dijelaskan detail, tidak ada prediction interval, dan definisi Accuracy 97,74 persen yang perlu diperjelas.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Kesimpulannya, paper ini melaporkan bahwa model deep learning LSTM dan GRU memiliki performa yang lebih baik dibandingkan ARIMA pada data yang digunakan. GRU menghasilkan metrik error terendah dan kemudian digunakan sebagai model dalam dashboard Streamlit. Untuk penelitian berikutnya, penulis menyarankan penambahan variabel eksternal seperti sentimen publik, indikator teknikal, faktor makroekonomi, serta penggunaan NLP.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Demikian bedah paper yang dapat saya sampaikan. Terima kasih atas perhatian teman-teman dan Bapak/Ibu. Saya persilakan jika ada pertanyaan.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sp>
        <p:nvSpPr>
          <p:cNvPr id="2" name="Rounded Rectangle 1"/>
          <p:cNvSpPr/>
          <p:nvPr/>
        </p:nvSpPr>
        <p:spPr>
          <a:xfrm>
            <a:off x="658368" y="566928"/>
            <a:ext cx="1877798" cy="310896"/>
          </a:xfrm>
          <a:prstGeom prst="roundRect">
            <a:avLst/>
          </a:prstGeom>
          <a:solidFill>
            <a:srgbClr val="3DD6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72543" y="567577"/>
            <a:ext cx="1767452" cy="301621"/>
          </a:xfrm>
          <a:prstGeom prst="rect">
            <a:avLst/>
          </a:prstGeom>
          <a:noFill/>
        </p:spPr>
        <p:txBody>
          <a:bodyPr wrap="square" lIns="27432" tIns="27432" rIns="27432" bIns="27432" anchor="ctr">
            <a:spAutoFit/>
          </a:bodyPr>
          <a:lstStyle/>
          <a:p>
            <a:pPr algn="ctr"/>
            <a:r>
              <a:rPr sz="1600" b="1" dirty="0">
                <a:solidFill>
                  <a:srgbClr val="070D1B"/>
                </a:solidFill>
                <a:latin typeface="Aptos"/>
              </a:rPr>
              <a:t>BEDAH PAPER</a:t>
            </a:r>
          </a:p>
        </p:txBody>
      </p:sp>
      <p:sp>
        <p:nvSpPr>
          <p:cNvPr id="4" name="TextBox 3"/>
          <p:cNvSpPr txBox="1"/>
          <p:nvPr/>
        </p:nvSpPr>
        <p:spPr>
          <a:xfrm>
            <a:off x="658368" y="1024128"/>
            <a:ext cx="5303520" cy="365760"/>
          </a:xfrm>
          <a:prstGeom prst="rect">
            <a:avLst/>
          </a:prstGeom>
          <a:noFill/>
        </p:spPr>
        <p:txBody>
          <a:bodyPr wrap="none" lIns="27432" tIns="27432" rIns="27432" bIns="27432" anchor="t">
            <a:spAutoFit/>
          </a:bodyPr>
          <a:lstStyle/>
          <a:p>
            <a:pPr algn="l"/>
            <a:r>
              <a:rPr sz="1500" b="1" dirty="0">
                <a:solidFill>
                  <a:srgbClr val="A4B3C9"/>
                </a:solidFill>
                <a:latin typeface="Aptos"/>
              </a:rPr>
              <a:t>Metode </a:t>
            </a:r>
            <a:r>
              <a:rPr sz="1500" b="1" dirty="0" err="1">
                <a:solidFill>
                  <a:srgbClr val="A4B3C9"/>
                </a:solidFill>
                <a:latin typeface="Aptos"/>
              </a:rPr>
              <a:t>Peramalan</a:t>
            </a:r>
            <a:r>
              <a:rPr sz="1500" b="1" dirty="0">
                <a:solidFill>
                  <a:srgbClr val="A4B3C9"/>
                </a:solidFill>
                <a:latin typeface="Aptos"/>
              </a:rPr>
              <a:t> </a:t>
            </a:r>
            <a:r>
              <a:rPr sz="1500" b="1" dirty="0" err="1">
                <a:solidFill>
                  <a:srgbClr val="A4B3C9"/>
                </a:solidFill>
                <a:latin typeface="Aptos"/>
              </a:rPr>
              <a:t>Deret</a:t>
            </a:r>
            <a:r>
              <a:rPr sz="1500" b="1" dirty="0">
                <a:solidFill>
                  <a:srgbClr val="A4B3C9"/>
                </a:solidFill>
                <a:latin typeface="Aptos"/>
              </a:rPr>
              <a:t> Waktu</a:t>
            </a:r>
          </a:p>
        </p:txBody>
      </p:sp>
      <p:sp>
        <p:nvSpPr>
          <p:cNvPr id="5" name="TextBox 4"/>
          <p:cNvSpPr txBox="1"/>
          <p:nvPr/>
        </p:nvSpPr>
        <p:spPr>
          <a:xfrm>
            <a:off x="658368" y="1572768"/>
            <a:ext cx="6159891" cy="1286506"/>
          </a:xfrm>
          <a:prstGeom prst="rect">
            <a:avLst/>
          </a:prstGeom>
          <a:noFill/>
        </p:spPr>
        <p:txBody>
          <a:bodyPr wrap="none" lIns="27432" tIns="27432" rIns="27432" bIns="27432" anchor="t">
            <a:spAutoFit/>
          </a:bodyPr>
          <a:lstStyle/>
          <a:p>
            <a:pPr algn="l"/>
            <a:r>
              <a:rPr sz="4000" b="1" dirty="0" err="1">
                <a:solidFill>
                  <a:srgbClr val="F5F8FC"/>
                </a:solidFill>
                <a:latin typeface="Aptos"/>
              </a:rPr>
              <a:t>Analisis</a:t>
            </a:r>
            <a:r>
              <a:rPr sz="4000" b="1" dirty="0">
                <a:solidFill>
                  <a:srgbClr val="F5F8FC"/>
                </a:solidFill>
                <a:latin typeface="Aptos"/>
              </a:rPr>
              <a:t> </a:t>
            </a:r>
            <a:r>
              <a:rPr sz="4000" b="1" dirty="0" err="1">
                <a:solidFill>
                  <a:srgbClr val="F5F8FC"/>
                </a:solidFill>
                <a:latin typeface="Aptos"/>
              </a:rPr>
              <a:t>Komparatif</a:t>
            </a:r>
            <a:r>
              <a:rPr sz="4000" b="1" dirty="0">
                <a:solidFill>
                  <a:srgbClr val="F5F8FC"/>
                </a:solidFill>
                <a:latin typeface="Aptos"/>
              </a:rPr>
              <a:t> Model
ARIMA, LSTM, dan GRU</a:t>
            </a:r>
          </a:p>
        </p:txBody>
      </p:sp>
      <p:sp>
        <p:nvSpPr>
          <p:cNvPr id="6" name="TextBox 5"/>
          <p:cNvSpPr txBox="1"/>
          <p:nvPr/>
        </p:nvSpPr>
        <p:spPr>
          <a:xfrm>
            <a:off x="658368" y="2907792"/>
            <a:ext cx="6750170" cy="424732"/>
          </a:xfrm>
          <a:prstGeom prst="rect">
            <a:avLst/>
          </a:prstGeom>
          <a:noFill/>
        </p:spPr>
        <p:txBody>
          <a:bodyPr wrap="square" lIns="27432" tIns="27432" rIns="27432" bIns="27432" anchor="t">
            <a:spAutoFit/>
          </a:bodyPr>
          <a:lstStyle/>
          <a:p>
            <a:pPr algn="l"/>
            <a:r>
              <a:rPr sz="2400" b="1" dirty="0">
                <a:solidFill>
                  <a:srgbClr val="3DD6E2"/>
                </a:solidFill>
                <a:latin typeface="Aptos"/>
              </a:rPr>
              <a:t>Forecasting Harga Bitcoin </a:t>
            </a:r>
            <a:r>
              <a:rPr sz="2400" b="1" dirty="0" err="1">
                <a:solidFill>
                  <a:srgbClr val="3DD6E2"/>
                </a:solidFill>
                <a:latin typeface="Aptos"/>
              </a:rPr>
              <a:t>Berbasis</a:t>
            </a:r>
            <a:r>
              <a:rPr sz="2400" b="1" dirty="0">
                <a:solidFill>
                  <a:srgbClr val="3DD6E2"/>
                </a:solidFill>
                <a:latin typeface="Aptos"/>
              </a:rPr>
              <a:t> </a:t>
            </a:r>
            <a:r>
              <a:rPr sz="2400" b="1" dirty="0" err="1">
                <a:solidFill>
                  <a:srgbClr val="3DD6E2"/>
                </a:solidFill>
                <a:latin typeface="Aptos"/>
              </a:rPr>
              <a:t>Streamlit</a:t>
            </a:r>
            <a:endParaRPr sz="2400" b="1" dirty="0">
              <a:solidFill>
                <a:srgbClr val="3DD6E2"/>
              </a:solidFill>
              <a:latin typeface="Aptos"/>
            </a:endParaRPr>
          </a:p>
        </p:txBody>
      </p:sp>
      <p:sp>
        <p:nvSpPr>
          <p:cNvPr id="7" name="TextBox 6"/>
          <p:cNvSpPr txBox="1"/>
          <p:nvPr/>
        </p:nvSpPr>
        <p:spPr>
          <a:xfrm>
            <a:off x="658368" y="3703320"/>
            <a:ext cx="5029200" cy="332399"/>
          </a:xfrm>
          <a:prstGeom prst="rect">
            <a:avLst/>
          </a:prstGeom>
          <a:noFill/>
        </p:spPr>
        <p:txBody>
          <a:bodyPr wrap="square" lIns="27432" tIns="27432" rIns="27432" bIns="27432" anchor="t">
            <a:spAutoFit/>
          </a:bodyPr>
          <a:lstStyle/>
          <a:p>
            <a:pPr algn="l"/>
            <a:r>
              <a:rPr b="1" dirty="0">
                <a:solidFill>
                  <a:srgbClr val="F5F8FC"/>
                </a:solidFill>
                <a:latin typeface="Aptos"/>
              </a:rPr>
              <a:t>Ridwana </a:t>
            </a:r>
            <a:r>
              <a:rPr b="1" dirty="0" err="1">
                <a:solidFill>
                  <a:srgbClr val="F5F8FC"/>
                </a:solidFill>
                <a:latin typeface="Aptos"/>
              </a:rPr>
              <a:t>Septian</a:t>
            </a:r>
            <a:r>
              <a:rPr b="1" dirty="0">
                <a:solidFill>
                  <a:srgbClr val="F5F8FC"/>
                </a:solidFill>
                <a:latin typeface="Aptos"/>
              </a:rPr>
              <a:t> </a:t>
            </a:r>
            <a:r>
              <a:rPr b="1" dirty="0" err="1">
                <a:solidFill>
                  <a:srgbClr val="F5F8FC"/>
                </a:solidFill>
                <a:latin typeface="Aptos"/>
              </a:rPr>
              <a:t>Nurardian</a:t>
            </a:r>
            <a:r>
              <a:rPr b="1" dirty="0">
                <a:solidFill>
                  <a:srgbClr val="F5F8FC"/>
                </a:solidFill>
                <a:latin typeface="Aptos"/>
              </a:rPr>
              <a:t> &amp; Albert </a:t>
            </a:r>
            <a:r>
              <a:rPr b="1" dirty="0" err="1">
                <a:solidFill>
                  <a:srgbClr val="F5F8FC"/>
                </a:solidFill>
                <a:latin typeface="Aptos"/>
              </a:rPr>
              <a:t>Riyandi</a:t>
            </a:r>
            <a:endParaRPr b="1" dirty="0">
              <a:solidFill>
                <a:srgbClr val="F5F8FC"/>
              </a:solidFill>
              <a:latin typeface="Aptos"/>
            </a:endParaRPr>
          </a:p>
        </p:txBody>
      </p:sp>
      <p:sp>
        <p:nvSpPr>
          <p:cNvPr id="8" name="TextBox 7"/>
          <p:cNvSpPr txBox="1"/>
          <p:nvPr/>
        </p:nvSpPr>
        <p:spPr>
          <a:xfrm>
            <a:off x="646665" y="4050943"/>
            <a:ext cx="4308894" cy="301621"/>
          </a:xfrm>
          <a:prstGeom prst="rect">
            <a:avLst/>
          </a:prstGeom>
          <a:noFill/>
        </p:spPr>
        <p:txBody>
          <a:bodyPr wrap="square" lIns="27432" tIns="27432" rIns="27432" bIns="27432" anchor="t">
            <a:spAutoFit/>
          </a:bodyPr>
          <a:lstStyle/>
          <a:p>
            <a:pPr algn="l"/>
            <a:r>
              <a:rPr sz="1600" b="0" dirty="0" err="1">
                <a:solidFill>
                  <a:srgbClr val="A4B3C9"/>
                </a:solidFill>
                <a:latin typeface="Aptos"/>
              </a:rPr>
              <a:t>Jurnal</a:t>
            </a:r>
            <a:r>
              <a:rPr sz="1600" b="0" dirty="0">
                <a:solidFill>
                  <a:srgbClr val="A4B3C9"/>
                </a:solidFill>
                <a:latin typeface="Aptos"/>
              </a:rPr>
              <a:t> FASILKOM • Vol. 16 No. 2 • 2026</a:t>
            </a:r>
          </a:p>
        </p:txBody>
      </p:sp>
      <p:sp>
        <p:nvSpPr>
          <p:cNvPr id="9" name="TextBox 8"/>
          <p:cNvSpPr txBox="1"/>
          <p:nvPr/>
        </p:nvSpPr>
        <p:spPr>
          <a:xfrm>
            <a:off x="685800" y="5806440"/>
            <a:ext cx="3636034" cy="270843"/>
          </a:xfrm>
          <a:prstGeom prst="rect">
            <a:avLst/>
          </a:prstGeom>
          <a:noFill/>
        </p:spPr>
        <p:txBody>
          <a:bodyPr wrap="square" lIns="27432" tIns="27432" rIns="27432" bIns="27432" anchor="t">
            <a:spAutoFit/>
          </a:bodyPr>
          <a:lstStyle/>
          <a:p>
            <a:pPr algn="l"/>
            <a:r>
              <a:rPr sz="1400" b="0" dirty="0" err="1">
                <a:solidFill>
                  <a:srgbClr val="A4B3C9"/>
                </a:solidFill>
                <a:latin typeface="Aptos"/>
              </a:rPr>
              <a:t>Disusun</a:t>
            </a:r>
            <a:r>
              <a:rPr sz="1400" b="0" dirty="0">
                <a:solidFill>
                  <a:srgbClr val="A4B3C9"/>
                </a:solidFill>
                <a:latin typeface="Aptos"/>
              </a:rPr>
              <a:t> oleh: </a:t>
            </a:r>
            <a:r>
              <a:rPr lang="en-US" sz="1400" dirty="0" err="1">
                <a:solidFill>
                  <a:srgbClr val="A4B3C9"/>
                </a:solidFill>
                <a:latin typeface="Aptos"/>
              </a:rPr>
              <a:t>Dzulfikar</a:t>
            </a:r>
            <a:r>
              <a:rPr lang="en-US" sz="1400" dirty="0">
                <a:solidFill>
                  <a:srgbClr val="A4B3C9"/>
                </a:solidFill>
                <a:latin typeface="Aptos"/>
              </a:rPr>
              <a:t> Najib – M0401241043</a:t>
            </a:r>
            <a:endParaRPr sz="1400" b="0" dirty="0">
              <a:solidFill>
                <a:srgbClr val="A4B3C9"/>
              </a:solidFill>
              <a:latin typeface="Aptos"/>
            </a:endParaRPr>
          </a:p>
        </p:txBody>
      </p:sp>
      <p:grpSp>
        <p:nvGrpSpPr>
          <p:cNvPr id="19" name="Group 18">
            <a:extLst>
              <a:ext uri="{FF2B5EF4-FFF2-40B4-BE49-F238E27FC236}">
                <a16:creationId xmlns:a16="http://schemas.microsoft.com/office/drawing/2014/main" id="{BC2E31F7-3D05-3317-23BC-7F5409D29647}"/>
              </a:ext>
            </a:extLst>
          </p:cNvPr>
          <p:cNvGrpSpPr/>
          <p:nvPr/>
        </p:nvGrpSpPr>
        <p:grpSpPr>
          <a:xfrm>
            <a:off x="7236443" y="1819656"/>
            <a:ext cx="2331720" cy="960120"/>
            <a:chOff x="7018019" y="1572768"/>
            <a:chExt cx="2331720" cy="960120"/>
          </a:xfrm>
        </p:grpSpPr>
        <p:sp>
          <p:nvSpPr>
            <p:cNvPr id="10" name="Rounded Rectangle 9"/>
            <p:cNvSpPr/>
            <p:nvPr/>
          </p:nvSpPr>
          <p:spPr>
            <a:xfrm>
              <a:off x="7018019" y="1572768"/>
              <a:ext cx="2331720" cy="960120"/>
            </a:xfrm>
            <a:prstGeom prst="roundRect">
              <a:avLst/>
            </a:prstGeom>
            <a:solidFill>
              <a:srgbClr val="152138"/>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00899" y="1819656"/>
              <a:ext cx="1965960" cy="320040"/>
            </a:xfrm>
            <a:prstGeom prst="rect">
              <a:avLst/>
            </a:prstGeom>
            <a:noFill/>
          </p:spPr>
          <p:txBody>
            <a:bodyPr wrap="none" lIns="27432" tIns="27432" rIns="27432" bIns="27432" anchor="t">
              <a:spAutoFit/>
            </a:bodyPr>
            <a:lstStyle/>
            <a:p>
              <a:pPr algn="ctr"/>
              <a:r>
                <a:rPr sz="1900" b="1">
                  <a:solidFill>
                    <a:srgbClr val="FFB24B"/>
                  </a:solidFill>
                  <a:latin typeface="Aptos"/>
                </a:rPr>
                <a:t>ARIMA</a:t>
              </a:r>
            </a:p>
          </p:txBody>
        </p:sp>
        <p:sp>
          <p:nvSpPr>
            <p:cNvPr id="12" name="TextBox 11"/>
            <p:cNvSpPr txBox="1"/>
            <p:nvPr/>
          </p:nvSpPr>
          <p:spPr>
            <a:xfrm>
              <a:off x="7200899" y="2185416"/>
              <a:ext cx="1965960" cy="182880"/>
            </a:xfrm>
            <a:prstGeom prst="rect">
              <a:avLst/>
            </a:prstGeom>
            <a:noFill/>
          </p:spPr>
          <p:txBody>
            <a:bodyPr wrap="none" lIns="27432" tIns="27432" rIns="27432" bIns="27432" anchor="t">
              <a:spAutoFit/>
            </a:bodyPr>
            <a:lstStyle/>
            <a:p>
              <a:pPr algn="ctr"/>
              <a:r>
                <a:rPr sz="750" b="1">
                  <a:solidFill>
                    <a:srgbClr val="A4B3C9"/>
                  </a:solidFill>
                  <a:latin typeface="Aptos"/>
                </a:rPr>
                <a:t>FORECASTING</a:t>
              </a:r>
            </a:p>
          </p:txBody>
        </p:sp>
      </p:grpSp>
      <p:grpSp>
        <p:nvGrpSpPr>
          <p:cNvPr id="20" name="Group 19">
            <a:extLst>
              <a:ext uri="{FF2B5EF4-FFF2-40B4-BE49-F238E27FC236}">
                <a16:creationId xmlns:a16="http://schemas.microsoft.com/office/drawing/2014/main" id="{77225F75-E7F8-6CE9-9F1B-488E42E1F6E7}"/>
              </a:ext>
            </a:extLst>
          </p:cNvPr>
          <p:cNvGrpSpPr/>
          <p:nvPr/>
        </p:nvGrpSpPr>
        <p:grpSpPr>
          <a:xfrm>
            <a:off x="9025131" y="3003804"/>
            <a:ext cx="2331720" cy="960120"/>
            <a:chOff x="8806707" y="2756916"/>
            <a:chExt cx="2331720" cy="960120"/>
          </a:xfrm>
        </p:grpSpPr>
        <p:sp>
          <p:nvSpPr>
            <p:cNvPr id="13" name="Rounded Rectangle 12"/>
            <p:cNvSpPr/>
            <p:nvPr/>
          </p:nvSpPr>
          <p:spPr>
            <a:xfrm>
              <a:off x="8806707" y="2756916"/>
              <a:ext cx="2331720" cy="960120"/>
            </a:xfrm>
            <a:prstGeom prst="roundRect">
              <a:avLst/>
            </a:prstGeom>
            <a:solidFill>
              <a:srgbClr val="152138"/>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8989587" y="3003804"/>
              <a:ext cx="1965960" cy="320040"/>
            </a:xfrm>
            <a:prstGeom prst="rect">
              <a:avLst/>
            </a:prstGeom>
            <a:noFill/>
          </p:spPr>
          <p:txBody>
            <a:bodyPr wrap="none" lIns="27432" tIns="27432" rIns="27432" bIns="27432" anchor="t">
              <a:spAutoFit/>
            </a:bodyPr>
            <a:lstStyle/>
            <a:p>
              <a:pPr algn="ctr"/>
              <a:r>
                <a:rPr sz="1900" b="1" dirty="0">
                  <a:solidFill>
                    <a:srgbClr val="8F6FFF"/>
                  </a:solidFill>
                  <a:latin typeface="Aptos"/>
                </a:rPr>
                <a:t>LSTM</a:t>
              </a:r>
            </a:p>
          </p:txBody>
        </p:sp>
        <p:sp>
          <p:nvSpPr>
            <p:cNvPr id="15" name="TextBox 14"/>
            <p:cNvSpPr txBox="1"/>
            <p:nvPr/>
          </p:nvSpPr>
          <p:spPr>
            <a:xfrm>
              <a:off x="8989587" y="3369564"/>
              <a:ext cx="1965960" cy="182880"/>
            </a:xfrm>
            <a:prstGeom prst="rect">
              <a:avLst/>
            </a:prstGeom>
            <a:noFill/>
          </p:spPr>
          <p:txBody>
            <a:bodyPr wrap="none" lIns="27432" tIns="27432" rIns="27432" bIns="27432" anchor="t">
              <a:spAutoFit/>
            </a:bodyPr>
            <a:lstStyle/>
            <a:p>
              <a:pPr algn="ctr"/>
              <a:r>
                <a:rPr sz="750" b="1">
                  <a:solidFill>
                    <a:srgbClr val="A4B3C9"/>
                  </a:solidFill>
                  <a:latin typeface="Aptos"/>
                </a:rPr>
                <a:t>FORECASTING</a:t>
              </a:r>
            </a:p>
          </p:txBody>
        </p:sp>
      </p:grpSp>
      <p:grpSp>
        <p:nvGrpSpPr>
          <p:cNvPr id="21" name="Group 20">
            <a:extLst>
              <a:ext uri="{FF2B5EF4-FFF2-40B4-BE49-F238E27FC236}">
                <a16:creationId xmlns:a16="http://schemas.microsoft.com/office/drawing/2014/main" id="{1933BA8F-AEF5-58B2-E63A-7B3C9A896F7B}"/>
              </a:ext>
            </a:extLst>
          </p:cNvPr>
          <p:cNvGrpSpPr/>
          <p:nvPr/>
        </p:nvGrpSpPr>
        <p:grpSpPr>
          <a:xfrm>
            <a:off x="7277592" y="4210812"/>
            <a:ext cx="2331720" cy="960120"/>
            <a:chOff x="7059168" y="3963924"/>
            <a:chExt cx="2331720" cy="960120"/>
          </a:xfrm>
        </p:grpSpPr>
        <p:sp>
          <p:nvSpPr>
            <p:cNvPr id="16" name="Rounded Rectangle 15"/>
            <p:cNvSpPr/>
            <p:nvPr/>
          </p:nvSpPr>
          <p:spPr>
            <a:xfrm>
              <a:off x="7059168" y="3963924"/>
              <a:ext cx="2331720" cy="960120"/>
            </a:xfrm>
            <a:prstGeom prst="roundRect">
              <a:avLst/>
            </a:prstGeom>
            <a:solidFill>
              <a:srgbClr val="152138"/>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TextBox 16"/>
            <p:cNvSpPr txBox="1"/>
            <p:nvPr/>
          </p:nvSpPr>
          <p:spPr>
            <a:xfrm>
              <a:off x="7242047" y="4210812"/>
              <a:ext cx="1965960" cy="320040"/>
            </a:xfrm>
            <a:prstGeom prst="rect">
              <a:avLst/>
            </a:prstGeom>
            <a:noFill/>
          </p:spPr>
          <p:txBody>
            <a:bodyPr wrap="none" lIns="27432" tIns="27432" rIns="27432" bIns="27432" anchor="t">
              <a:spAutoFit/>
            </a:bodyPr>
            <a:lstStyle/>
            <a:p>
              <a:pPr algn="ctr"/>
              <a:r>
                <a:rPr sz="1900" b="1" dirty="0">
                  <a:solidFill>
                    <a:srgbClr val="43DA99"/>
                  </a:solidFill>
                  <a:latin typeface="Aptos"/>
                </a:rPr>
                <a:t>GRU</a:t>
              </a:r>
            </a:p>
          </p:txBody>
        </p:sp>
        <p:sp>
          <p:nvSpPr>
            <p:cNvPr id="18" name="TextBox 17"/>
            <p:cNvSpPr txBox="1"/>
            <p:nvPr/>
          </p:nvSpPr>
          <p:spPr>
            <a:xfrm>
              <a:off x="7242047" y="4576572"/>
              <a:ext cx="1965960" cy="182880"/>
            </a:xfrm>
            <a:prstGeom prst="rect">
              <a:avLst/>
            </a:prstGeom>
            <a:noFill/>
          </p:spPr>
          <p:txBody>
            <a:bodyPr wrap="none" lIns="27432" tIns="27432" rIns="27432" bIns="27432" anchor="t">
              <a:spAutoFit/>
            </a:bodyPr>
            <a:lstStyle/>
            <a:p>
              <a:pPr algn="ctr"/>
              <a:r>
                <a:rPr sz="750" b="1">
                  <a:solidFill>
                    <a:srgbClr val="A4B3C9"/>
                  </a:solidFill>
                  <a:latin typeface="Aptos"/>
                </a:rPr>
                <a:t>FORECASTING</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4572000" cy="274320"/>
          </a:xfrm>
          <a:prstGeom prst="rect">
            <a:avLst/>
          </a:prstGeom>
          <a:noFill/>
        </p:spPr>
        <p:txBody>
          <a:bodyPr wrap="none" lIns="27432" tIns="27432" rIns="27432" bIns="27432" anchor="t">
            <a:spAutoFit/>
          </a:bodyPr>
          <a:lstStyle/>
          <a:p>
            <a:pPr algn="l"/>
            <a:r>
              <a:rPr sz="1000" b="1">
                <a:solidFill>
                  <a:srgbClr val="3DD6E2"/>
                </a:solidFill>
                <a:latin typeface="Aptos"/>
              </a:rPr>
              <a:t>02  •  IDENTITAS</a:t>
            </a:r>
          </a:p>
        </p:txBody>
      </p:sp>
      <p:sp>
        <p:nvSpPr>
          <p:cNvPr id="3" name="TextBox 2"/>
          <p:cNvSpPr txBox="1"/>
          <p:nvPr/>
        </p:nvSpPr>
        <p:spPr>
          <a:xfrm>
            <a:off x="621792" y="667512"/>
            <a:ext cx="10698480" cy="502920"/>
          </a:xfrm>
          <a:prstGeom prst="rect">
            <a:avLst/>
          </a:prstGeom>
          <a:noFill/>
        </p:spPr>
        <p:txBody>
          <a:bodyPr wrap="none" lIns="27432" tIns="27432" rIns="27432" bIns="27432" anchor="t">
            <a:spAutoFit/>
          </a:bodyPr>
          <a:lstStyle/>
          <a:p>
            <a:pPr algn="l"/>
            <a:r>
              <a:rPr sz="2800" b="1">
                <a:solidFill>
                  <a:srgbClr val="F5F8FC"/>
                </a:solidFill>
                <a:latin typeface="Aptos"/>
              </a:rPr>
              <a:t>Paper &amp; gambaran umum</a:t>
            </a:r>
          </a:p>
        </p:txBody>
      </p:sp>
      <p:sp>
        <p:nvSpPr>
          <p:cNvPr id="4" name="TextBox 3"/>
          <p:cNvSpPr txBox="1"/>
          <p:nvPr/>
        </p:nvSpPr>
        <p:spPr>
          <a:xfrm>
            <a:off x="640080" y="1197864"/>
            <a:ext cx="10607040" cy="365760"/>
          </a:xfrm>
          <a:prstGeom prst="rect">
            <a:avLst/>
          </a:prstGeom>
          <a:noFill/>
        </p:spPr>
        <p:txBody>
          <a:bodyPr wrap="none" lIns="27432" tIns="27432" rIns="27432" bIns="27432" anchor="t">
            <a:spAutoFit/>
          </a:bodyPr>
          <a:lstStyle/>
          <a:p>
            <a:pPr algn="l"/>
            <a:r>
              <a:rPr sz="1150" b="0">
                <a:solidFill>
                  <a:srgbClr val="A4B3C9"/>
                </a:solidFill>
                <a:latin typeface="Aptos"/>
              </a:rPr>
              <a:t>Informasi bibliografis + posisi penelitian</a:t>
            </a:r>
          </a:p>
        </p:txBody>
      </p:sp>
      <p:sp>
        <p:nvSpPr>
          <p:cNvPr id="5" name="TextBox 4"/>
          <p:cNvSpPr txBox="1"/>
          <p:nvPr/>
        </p:nvSpPr>
        <p:spPr>
          <a:xfrm>
            <a:off x="11018520" y="320040"/>
            <a:ext cx="548640" cy="274320"/>
          </a:xfrm>
          <a:prstGeom prst="rect">
            <a:avLst/>
          </a:prstGeom>
          <a:noFill/>
        </p:spPr>
        <p:txBody>
          <a:bodyPr wrap="none" lIns="27432" tIns="27432" rIns="27432" bIns="27432" anchor="t">
            <a:spAutoFit/>
          </a:bodyPr>
          <a:lstStyle/>
          <a:p>
            <a:pPr algn="r"/>
            <a:r>
              <a:rPr sz="1000" b="1">
                <a:solidFill>
                  <a:srgbClr val="A4B3C9"/>
                </a:solidFill>
                <a:latin typeface="Aptos"/>
              </a:rPr>
              <a:t>02</a:t>
            </a:r>
          </a:p>
        </p:txBody>
      </p:sp>
      <p:sp>
        <p:nvSpPr>
          <p:cNvPr id="6" name="Rounded Rectangle 5"/>
          <p:cNvSpPr/>
          <p:nvPr/>
        </p:nvSpPr>
        <p:spPr>
          <a:xfrm>
            <a:off x="658368" y="1737360"/>
            <a:ext cx="5166360" cy="612648"/>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1856231"/>
            <a:ext cx="425694" cy="240066"/>
          </a:xfrm>
          <a:prstGeom prst="rect">
            <a:avLst/>
          </a:prstGeom>
          <a:noFill/>
        </p:spPr>
        <p:txBody>
          <a:bodyPr wrap="none" lIns="27432" tIns="27432" rIns="27432" bIns="27432" anchor="t">
            <a:spAutoFit/>
          </a:bodyPr>
          <a:lstStyle/>
          <a:p>
            <a:pPr algn="l"/>
            <a:r>
              <a:rPr sz="1200" b="1">
                <a:solidFill>
                  <a:srgbClr val="3DD6E2"/>
                </a:solidFill>
                <a:latin typeface="Aptos"/>
              </a:rPr>
              <a:t>Judul</a:t>
            </a:r>
          </a:p>
        </p:txBody>
      </p:sp>
      <p:sp>
        <p:nvSpPr>
          <p:cNvPr id="8" name="TextBox 7"/>
          <p:cNvSpPr txBox="1"/>
          <p:nvPr/>
        </p:nvSpPr>
        <p:spPr>
          <a:xfrm>
            <a:off x="1865376" y="1828800"/>
            <a:ext cx="3703320" cy="424732"/>
          </a:xfrm>
          <a:prstGeom prst="rect">
            <a:avLst/>
          </a:prstGeom>
          <a:noFill/>
        </p:spPr>
        <p:txBody>
          <a:bodyPr wrap="square" lIns="27432" tIns="27432" rIns="27432" bIns="27432" anchor="t">
            <a:spAutoFit/>
          </a:bodyPr>
          <a:lstStyle/>
          <a:p>
            <a:pPr algn="l"/>
            <a:r>
              <a:rPr sz="1200" b="0">
                <a:solidFill>
                  <a:srgbClr val="F5F8FC"/>
                </a:solidFill>
                <a:latin typeface="Aptos"/>
              </a:rPr>
              <a:t>Analisis Komparatif Model ARIMA, LSTM, dan GRU dalam Forecasting Harga Bitcoin Berbasis Streamlit</a:t>
            </a:r>
          </a:p>
        </p:txBody>
      </p:sp>
      <p:sp>
        <p:nvSpPr>
          <p:cNvPr id="9" name="Rounded Rectangle 8"/>
          <p:cNvSpPr/>
          <p:nvPr/>
        </p:nvSpPr>
        <p:spPr>
          <a:xfrm>
            <a:off x="6190488" y="1737360"/>
            <a:ext cx="5166360" cy="612648"/>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79" y="1856231"/>
            <a:ext cx="574516" cy="240066"/>
          </a:xfrm>
          <a:prstGeom prst="rect">
            <a:avLst/>
          </a:prstGeom>
          <a:noFill/>
        </p:spPr>
        <p:txBody>
          <a:bodyPr wrap="none" lIns="27432" tIns="27432" rIns="27432" bIns="27432" anchor="t">
            <a:spAutoFit/>
          </a:bodyPr>
          <a:lstStyle/>
          <a:p>
            <a:pPr algn="l"/>
            <a:r>
              <a:rPr sz="1200" b="1">
                <a:solidFill>
                  <a:srgbClr val="3DD6E2"/>
                </a:solidFill>
                <a:latin typeface="Aptos"/>
              </a:rPr>
              <a:t>Penulis</a:t>
            </a:r>
          </a:p>
        </p:txBody>
      </p:sp>
      <p:sp>
        <p:nvSpPr>
          <p:cNvPr id="11" name="TextBox 10"/>
          <p:cNvSpPr txBox="1"/>
          <p:nvPr/>
        </p:nvSpPr>
        <p:spPr>
          <a:xfrm>
            <a:off x="7397496" y="1828800"/>
            <a:ext cx="3435108" cy="270843"/>
          </a:xfrm>
          <a:prstGeom prst="rect">
            <a:avLst/>
          </a:prstGeom>
          <a:noFill/>
        </p:spPr>
        <p:txBody>
          <a:bodyPr wrap="none" lIns="27432" tIns="27432" rIns="27432" bIns="27432" anchor="t">
            <a:spAutoFit/>
          </a:bodyPr>
          <a:lstStyle/>
          <a:p>
            <a:pPr algn="l"/>
            <a:r>
              <a:rPr sz="1400" b="0">
                <a:solidFill>
                  <a:srgbClr val="F5F8FC"/>
                </a:solidFill>
                <a:latin typeface="Aptos"/>
              </a:rPr>
              <a:t>Ridwana Septian Nurardian &amp; Albert Riyandi</a:t>
            </a:r>
          </a:p>
        </p:txBody>
      </p:sp>
      <p:sp>
        <p:nvSpPr>
          <p:cNvPr id="12" name="Rounded Rectangle 11"/>
          <p:cNvSpPr/>
          <p:nvPr/>
        </p:nvSpPr>
        <p:spPr>
          <a:xfrm>
            <a:off x="658368" y="2496312"/>
            <a:ext cx="5166360" cy="612648"/>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59" y="2615184"/>
            <a:ext cx="476669" cy="240066"/>
          </a:xfrm>
          <a:prstGeom prst="rect">
            <a:avLst/>
          </a:prstGeom>
          <a:noFill/>
        </p:spPr>
        <p:txBody>
          <a:bodyPr wrap="none" lIns="27432" tIns="27432" rIns="27432" bIns="27432" anchor="t">
            <a:spAutoFit/>
          </a:bodyPr>
          <a:lstStyle/>
          <a:p>
            <a:pPr algn="l"/>
            <a:r>
              <a:rPr sz="1200" b="1" dirty="0" err="1">
                <a:solidFill>
                  <a:srgbClr val="3DD6E2"/>
                </a:solidFill>
                <a:latin typeface="Aptos"/>
              </a:rPr>
              <a:t>Tahun</a:t>
            </a:r>
            <a:endParaRPr sz="1200" b="1" dirty="0">
              <a:solidFill>
                <a:srgbClr val="3DD6E2"/>
              </a:solidFill>
              <a:latin typeface="Aptos"/>
            </a:endParaRPr>
          </a:p>
        </p:txBody>
      </p:sp>
      <p:sp>
        <p:nvSpPr>
          <p:cNvPr id="14" name="TextBox 13"/>
          <p:cNvSpPr txBox="1"/>
          <p:nvPr/>
        </p:nvSpPr>
        <p:spPr>
          <a:xfrm>
            <a:off x="1865376" y="2587752"/>
            <a:ext cx="1490299" cy="240066"/>
          </a:xfrm>
          <a:prstGeom prst="rect">
            <a:avLst/>
          </a:prstGeom>
          <a:noFill/>
        </p:spPr>
        <p:txBody>
          <a:bodyPr wrap="square" lIns="27432" tIns="27432" rIns="27432" bIns="27432" anchor="t">
            <a:spAutoFit/>
          </a:bodyPr>
          <a:lstStyle/>
          <a:p>
            <a:pPr algn="l"/>
            <a:r>
              <a:rPr sz="1200" b="0" dirty="0">
                <a:solidFill>
                  <a:srgbClr val="F5F8FC"/>
                </a:solidFill>
                <a:latin typeface="Aptos"/>
              </a:rPr>
              <a:t>2026</a:t>
            </a:r>
          </a:p>
        </p:txBody>
      </p:sp>
      <p:sp>
        <p:nvSpPr>
          <p:cNvPr id="15" name="Rounded Rectangle 14"/>
          <p:cNvSpPr/>
          <p:nvPr/>
        </p:nvSpPr>
        <p:spPr>
          <a:xfrm>
            <a:off x="6190488" y="2496312"/>
            <a:ext cx="5166360" cy="612648"/>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79" y="2615184"/>
            <a:ext cx="476990" cy="240066"/>
          </a:xfrm>
          <a:prstGeom prst="rect">
            <a:avLst/>
          </a:prstGeom>
          <a:noFill/>
        </p:spPr>
        <p:txBody>
          <a:bodyPr wrap="none" lIns="27432" tIns="27432" rIns="27432" bIns="27432" anchor="t">
            <a:spAutoFit/>
          </a:bodyPr>
          <a:lstStyle/>
          <a:p>
            <a:pPr algn="l"/>
            <a:r>
              <a:rPr sz="1200" b="1">
                <a:solidFill>
                  <a:srgbClr val="3DD6E2"/>
                </a:solidFill>
                <a:latin typeface="Aptos"/>
              </a:rPr>
              <a:t>Jurnal</a:t>
            </a:r>
          </a:p>
        </p:txBody>
      </p:sp>
      <p:sp>
        <p:nvSpPr>
          <p:cNvPr id="17" name="TextBox 16"/>
          <p:cNvSpPr txBox="1"/>
          <p:nvPr/>
        </p:nvSpPr>
        <p:spPr>
          <a:xfrm>
            <a:off x="7397496" y="2587752"/>
            <a:ext cx="1353832" cy="270843"/>
          </a:xfrm>
          <a:prstGeom prst="rect">
            <a:avLst/>
          </a:prstGeom>
          <a:noFill/>
        </p:spPr>
        <p:txBody>
          <a:bodyPr wrap="none" lIns="27432" tIns="27432" rIns="27432" bIns="27432" anchor="t">
            <a:spAutoFit/>
          </a:bodyPr>
          <a:lstStyle/>
          <a:p>
            <a:pPr algn="l"/>
            <a:r>
              <a:rPr sz="1400" b="0">
                <a:solidFill>
                  <a:srgbClr val="F5F8FC"/>
                </a:solidFill>
                <a:latin typeface="Aptos"/>
              </a:rPr>
              <a:t>Jurnal FASILKOM</a:t>
            </a:r>
          </a:p>
        </p:txBody>
      </p:sp>
      <p:sp>
        <p:nvSpPr>
          <p:cNvPr id="18" name="Rounded Rectangle 17"/>
          <p:cNvSpPr/>
          <p:nvPr/>
        </p:nvSpPr>
        <p:spPr>
          <a:xfrm>
            <a:off x="658368" y="3255263"/>
            <a:ext cx="5166360" cy="612648"/>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59" y="3374135"/>
            <a:ext cx="586764" cy="240066"/>
          </a:xfrm>
          <a:prstGeom prst="rect">
            <a:avLst/>
          </a:prstGeom>
          <a:noFill/>
        </p:spPr>
        <p:txBody>
          <a:bodyPr wrap="none" lIns="27432" tIns="27432" rIns="27432" bIns="27432" anchor="t">
            <a:spAutoFit/>
          </a:bodyPr>
          <a:lstStyle/>
          <a:p>
            <a:pPr algn="l"/>
            <a:r>
              <a:rPr sz="1200" b="1">
                <a:solidFill>
                  <a:srgbClr val="3DD6E2"/>
                </a:solidFill>
                <a:latin typeface="Aptos"/>
              </a:rPr>
              <a:t>Volume</a:t>
            </a:r>
          </a:p>
        </p:txBody>
      </p:sp>
      <p:sp>
        <p:nvSpPr>
          <p:cNvPr id="20" name="TextBox 19"/>
          <p:cNvSpPr txBox="1"/>
          <p:nvPr/>
        </p:nvSpPr>
        <p:spPr>
          <a:xfrm>
            <a:off x="1865376" y="3346703"/>
            <a:ext cx="1021755" cy="270843"/>
          </a:xfrm>
          <a:prstGeom prst="rect">
            <a:avLst/>
          </a:prstGeom>
          <a:noFill/>
        </p:spPr>
        <p:txBody>
          <a:bodyPr wrap="none" lIns="27432" tIns="27432" rIns="27432" bIns="27432" anchor="t">
            <a:spAutoFit/>
          </a:bodyPr>
          <a:lstStyle/>
          <a:p>
            <a:pPr algn="l"/>
            <a:r>
              <a:rPr sz="1400" b="0">
                <a:solidFill>
                  <a:srgbClr val="F5F8FC"/>
                </a:solidFill>
                <a:latin typeface="Aptos"/>
              </a:rPr>
              <a:t>Vol. 16 No. 2</a:t>
            </a:r>
          </a:p>
        </p:txBody>
      </p:sp>
      <p:sp>
        <p:nvSpPr>
          <p:cNvPr id="21" name="Rounded Rectangle 20"/>
          <p:cNvSpPr/>
          <p:nvPr/>
        </p:nvSpPr>
        <p:spPr>
          <a:xfrm>
            <a:off x="6190488" y="3255263"/>
            <a:ext cx="5166360" cy="612648"/>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79" y="3374135"/>
            <a:ext cx="693395" cy="240066"/>
          </a:xfrm>
          <a:prstGeom prst="rect">
            <a:avLst/>
          </a:prstGeom>
          <a:noFill/>
        </p:spPr>
        <p:txBody>
          <a:bodyPr wrap="none" lIns="27432" tIns="27432" rIns="27432" bIns="27432" anchor="t">
            <a:spAutoFit/>
          </a:bodyPr>
          <a:lstStyle/>
          <a:p>
            <a:pPr algn="l"/>
            <a:r>
              <a:rPr sz="1200" b="1">
                <a:solidFill>
                  <a:srgbClr val="3DD6E2"/>
                </a:solidFill>
                <a:latin typeface="Aptos"/>
              </a:rPr>
              <a:t>Halaman</a:t>
            </a:r>
          </a:p>
        </p:txBody>
      </p:sp>
      <p:sp>
        <p:nvSpPr>
          <p:cNvPr id="23" name="TextBox 22"/>
          <p:cNvSpPr txBox="1"/>
          <p:nvPr/>
        </p:nvSpPr>
        <p:spPr>
          <a:xfrm>
            <a:off x="7397496" y="3346703"/>
            <a:ext cx="715837" cy="270843"/>
          </a:xfrm>
          <a:prstGeom prst="rect">
            <a:avLst/>
          </a:prstGeom>
          <a:noFill/>
        </p:spPr>
        <p:txBody>
          <a:bodyPr wrap="none" lIns="27432" tIns="27432" rIns="27432" bIns="27432" anchor="t">
            <a:spAutoFit/>
          </a:bodyPr>
          <a:lstStyle/>
          <a:p>
            <a:pPr algn="l"/>
            <a:r>
              <a:rPr sz="1400" b="0">
                <a:solidFill>
                  <a:srgbClr val="F5F8FC"/>
                </a:solidFill>
                <a:latin typeface="Aptos"/>
              </a:rPr>
              <a:t>395–401</a:t>
            </a:r>
          </a:p>
        </p:txBody>
      </p:sp>
      <p:sp>
        <p:nvSpPr>
          <p:cNvPr id="24" name="Rounded Rectangle 23"/>
          <p:cNvSpPr/>
          <p:nvPr/>
        </p:nvSpPr>
        <p:spPr>
          <a:xfrm>
            <a:off x="658368" y="4014215"/>
            <a:ext cx="5166360" cy="612648"/>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59" y="4133087"/>
            <a:ext cx="534698" cy="240066"/>
          </a:xfrm>
          <a:prstGeom prst="rect">
            <a:avLst/>
          </a:prstGeom>
          <a:noFill/>
        </p:spPr>
        <p:txBody>
          <a:bodyPr wrap="none" lIns="27432" tIns="27432" rIns="27432" bIns="27432" anchor="t">
            <a:spAutoFit/>
          </a:bodyPr>
          <a:lstStyle/>
          <a:p>
            <a:pPr algn="l"/>
            <a:r>
              <a:rPr sz="1200" b="1">
                <a:solidFill>
                  <a:srgbClr val="3DD6E2"/>
                </a:solidFill>
                <a:latin typeface="Aptos"/>
              </a:rPr>
              <a:t>Bidang</a:t>
            </a:r>
          </a:p>
        </p:txBody>
      </p:sp>
      <p:sp>
        <p:nvSpPr>
          <p:cNvPr id="26" name="TextBox 25"/>
          <p:cNvSpPr txBox="1"/>
          <p:nvPr/>
        </p:nvSpPr>
        <p:spPr>
          <a:xfrm>
            <a:off x="1865376" y="4105655"/>
            <a:ext cx="2644698" cy="270843"/>
          </a:xfrm>
          <a:prstGeom prst="rect">
            <a:avLst/>
          </a:prstGeom>
          <a:noFill/>
        </p:spPr>
        <p:txBody>
          <a:bodyPr wrap="none" lIns="27432" tIns="27432" rIns="27432" bIns="27432" anchor="t">
            <a:spAutoFit/>
          </a:bodyPr>
          <a:lstStyle/>
          <a:p>
            <a:pPr algn="l"/>
            <a:r>
              <a:rPr sz="1400" b="0" dirty="0">
                <a:solidFill>
                  <a:srgbClr val="F5F8FC"/>
                </a:solidFill>
                <a:latin typeface="Aptos"/>
              </a:rPr>
              <a:t>Forecasting </a:t>
            </a:r>
            <a:r>
              <a:rPr sz="1400" b="0" dirty="0" err="1">
                <a:solidFill>
                  <a:srgbClr val="F5F8FC"/>
                </a:solidFill>
                <a:latin typeface="Aptos"/>
              </a:rPr>
              <a:t>harga</a:t>
            </a:r>
            <a:r>
              <a:rPr sz="1400" b="0" dirty="0">
                <a:solidFill>
                  <a:srgbClr val="F5F8FC"/>
                </a:solidFill>
                <a:latin typeface="Aptos"/>
              </a:rPr>
              <a:t> cryptocurrency</a:t>
            </a:r>
          </a:p>
        </p:txBody>
      </p:sp>
      <p:sp>
        <p:nvSpPr>
          <p:cNvPr id="27" name="Rounded Rectangle 26"/>
          <p:cNvSpPr/>
          <p:nvPr/>
        </p:nvSpPr>
        <p:spPr>
          <a:xfrm>
            <a:off x="6190488" y="4014215"/>
            <a:ext cx="5166360" cy="612648"/>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55079" y="4133087"/>
            <a:ext cx="467372" cy="240066"/>
          </a:xfrm>
          <a:prstGeom prst="rect">
            <a:avLst/>
          </a:prstGeom>
          <a:noFill/>
        </p:spPr>
        <p:txBody>
          <a:bodyPr wrap="none" lIns="27432" tIns="27432" rIns="27432" bIns="27432" anchor="t">
            <a:spAutoFit/>
          </a:bodyPr>
          <a:lstStyle/>
          <a:p>
            <a:pPr algn="l"/>
            <a:r>
              <a:rPr sz="1200" b="1">
                <a:solidFill>
                  <a:srgbClr val="3DD6E2"/>
                </a:solidFill>
                <a:latin typeface="Aptos"/>
              </a:rPr>
              <a:t>Objek</a:t>
            </a:r>
          </a:p>
        </p:txBody>
      </p:sp>
      <p:sp>
        <p:nvSpPr>
          <p:cNvPr id="29" name="TextBox 28"/>
          <p:cNvSpPr txBox="1"/>
          <p:nvPr/>
        </p:nvSpPr>
        <p:spPr>
          <a:xfrm>
            <a:off x="7397496" y="4105655"/>
            <a:ext cx="1098378" cy="270843"/>
          </a:xfrm>
          <a:prstGeom prst="rect">
            <a:avLst/>
          </a:prstGeom>
          <a:noFill/>
        </p:spPr>
        <p:txBody>
          <a:bodyPr wrap="none" lIns="27432" tIns="27432" rIns="27432" bIns="27432" anchor="t">
            <a:spAutoFit/>
          </a:bodyPr>
          <a:lstStyle/>
          <a:p>
            <a:pPr algn="l"/>
            <a:r>
              <a:rPr sz="1400" b="0">
                <a:solidFill>
                  <a:srgbClr val="F5F8FC"/>
                </a:solidFill>
                <a:latin typeface="Aptos"/>
              </a:rPr>
              <a:t>Harga Bitcoin</a:t>
            </a:r>
          </a:p>
        </p:txBody>
      </p:sp>
      <p:sp>
        <p:nvSpPr>
          <p:cNvPr id="30" name="Rounded Rectangle 29"/>
          <p:cNvSpPr/>
          <p:nvPr/>
        </p:nvSpPr>
        <p:spPr>
          <a:xfrm>
            <a:off x="658368" y="4773168"/>
            <a:ext cx="5166360" cy="612648"/>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59" y="4892040"/>
            <a:ext cx="583621" cy="240066"/>
          </a:xfrm>
          <a:prstGeom prst="rect">
            <a:avLst/>
          </a:prstGeom>
          <a:noFill/>
        </p:spPr>
        <p:txBody>
          <a:bodyPr wrap="none" lIns="27432" tIns="27432" rIns="27432" bIns="27432" anchor="t">
            <a:spAutoFit/>
          </a:bodyPr>
          <a:lstStyle/>
          <a:p>
            <a:pPr algn="l"/>
            <a:r>
              <a:rPr sz="1200" b="1">
                <a:solidFill>
                  <a:srgbClr val="3DD6E2"/>
                </a:solidFill>
                <a:latin typeface="Aptos"/>
              </a:rPr>
              <a:t>Metode</a:t>
            </a:r>
          </a:p>
        </p:txBody>
      </p:sp>
      <p:sp>
        <p:nvSpPr>
          <p:cNvPr id="32" name="TextBox 31"/>
          <p:cNvSpPr txBox="1"/>
          <p:nvPr/>
        </p:nvSpPr>
        <p:spPr>
          <a:xfrm>
            <a:off x="1865376" y="4864607"/>
            <a:ext cx="1515736" cy="270843"/>
          </a:xfrm>
          <a:prstGeom prst="rect">
            <a:avLst/>
          </a:prstGeom>
          <a:noFill/>
        </p:spPr>
        <p:txBody>
          <a:bodyPr wrap="none" lIns="27432" tIns="27432" rIns="27432" bIns="27432" anchor="t">
            <a:spAutoFit/>
          </a:bodyPr>
          <a:lstStyle/>
          <a:p>
            <a:pPr algn="l"/>
            <a:r>
              <a:rPr sz="1400" b="0">
                <a:solidFill>
                  <a:srgbClr val="F5F8FC"/>
                </a:solidFill>
                <a:latin typeface="Aptos"/>
              </a:rPr>
              <a:t>ARIMA, LSTM, GRU</a:t>
            </a:r>
          </a:p>
        </p:txBody>
      </p:sp>
      <p:sp>
        <p:nvSpPr>
          <p:cNvPr id="33" name="Rounded Rectangle 32"/>
          <p:cNvSpPr/>
          <p:nvPr/>
        </p:nvSpPr>
        <p:spPr>
          <a:xfrm>
            <a:off x="6190488" y="4773168"/>
            <a:ext cx="5166360" cy="612648"/>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55079" y="4892040"/>
            <a:ext cx="547522" cy="240066"/>
          </a:xfrm>
          <a:prstGeom prst="rect">
            <a:avLst/>
          </a:prstGeom>
          <a:noFill/>
        </p:spPr>
        <p:txBody>
          <a:bodyPr wrap="none" lIns="27432" tIns="27432" rIns="27432" bIns="27432" anchor="t">
            <a:spAutoFit/>
          </a:bodyPr>
          <a:lstStyle/>
          <a:p>
            <a:pPr algn="l"/>
            <a:r>
              <a:rPr sz="1200" b="1">
                <a:solidFill>
                  <a:srgbClr val="3DD6E2"/>
                </a:solidFill>
                <a:latin typeface="Aptos"/>
              </a:rPr>
              <a:t>Output</a:t>
            </a:r>
          </a:p>
        </p:txBody>
      </p:sp>
      <p:sp>
        <p:nvSpPr>
          <p:cNvPr id="35" name="TextBox 34"/>
          <p:cNvSpPr txBox="1"/>
          <p:nvPr/>
        </p:nvSpPr>
        <p:spPr>
          <a:xfrm>
            <a:off x="7397496" y="4864607"/>
            <a:ext cx="3192028" cy="270843"/>
          </a:xfrm>
          <a:prstGeom prst="rect">
            <a:avLst/>
          </a:prstGeom>
          <a:noFill/>
        </p:spPr>
        <p:txBody>
          <a:bodyPr wrap="none" lIns="27432" tIns="27432" rIns="27432" bIns="27432" anchor="t">
            <a:spAutoFit/>
          </a:bodyPr>
          <a:lstStyle/>
          <a:p>
            <a:pPr algn="l"/>
            <a:r>
              <a:rPr sz="1400" b="0">
                <a:solidFill>
                  <a:srgbClr val="F5F8FC"/>
                </a:solidFill>
                <a:latin typeface="Aptos"/>
              </a:rPr>
              <a:t>Model forecasting + dashboard Streamlit</a:t>
            </a:r>
          </a:p>
        </p:txBody>
      </p:sp>
      <p:sp>
        <p:nvSpPr>
          <p:cNvPr id="36" name="Rounded Rectangle 35"/>
          <p:cNvSpPr/>
          <p:nvPr/>
        </p:nvSpPr>
        <p:spPr>
          <a:xfrm>
            <a:off x="658368" y="5650992"/>
            <a:ext cx="10744200" cy="566928"/>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Rectangle 36"/>
          <p:cNvSpPr/>
          <p:nvPr/>
        </p:nvSpPr>
        <p:spPr>
          <a:xfrm>
            <a:off x="658368" y="5650992"/>
            <a:ext cx="50292" cy="566928"/>
          </a:xfrm>
          <a:prstGeom prst="rect">
            <a:avLst/>
          </a:prstGeom>
          <a:solidFill>
            <a:srgbClr val="43D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9918" y="5717369"/>
            <a:ext cx="1668004" cy="224677"/>
          </a:xfrm>
          <a:prstGeom prst="rect">
            <a:avLst/>
          </a:prstGeom>
          <a:noFill/>
        </p:spPr>
        <p:txBody>
          <a:bodyPr wrap="square" lIns="27432" tIns="27432" rIns="27432" bIns="27432" anchor="t">
            <a:spAutoFit/>
          </a:bodyPr>
          <a:lstStyle/>
          <a:p>
            <a:pPr algn="l"/>
            <a:r>
              <a:rPr sz="1100" b="1" dirty="0">
                <a:solidFill>
                  <a:srgbClr val="F5F8FC"/>
                </a:solidFill>
                <a:latin typeface="Aptos"/>
              </a:rPr>
              <a:t>GAMBARAN UMUM</a:t>
            </a:r>
          </a:p>
        </p:txBody>
      </p:sp>
      <p:sp>
        <p:nvSpPr>
          <p:cNvPr id="39" name="TextBox 38"/>
          <p:cNvSpPr txBox="1"/>
          <p:nvPr/>
        </p:nvSpPr>
        <p:spPr>
          <a:xfrm>
            <a:off x="884896" y="5925830"/>
            <a:ext cx="8707676" cy="240066"/>
          </a:xfrm>
          <a:prstGeom prst="rect">
            <a:avLst/>
          </a:prstGeom>
          <a:noFill/>
        </p:spPr>
        <p:txBody>
          <a:bodyPr wrap="square" lIns="27432" tIns="27432" rIns="27432" bIns="27432" anchor="t">
            <a:spAutoFit/>
          </a:bodyPr>
          <a:lstStyle/>
          <a:p>
            <a:pPr algn="l"/>
            <a:r>
              <a:rPr sz="1200" b="0" dirty="0">
                <a:solidFill>
                  <a:srgbClr val="A4B3C9"/>
                </a:solidFill>
                <a:latin typeface="Aptos"/>
              </a:rPr>
              <a:t>ARIMA </a:t>
            </a:r>
            <a:r>
              <a:rPr sz="1200" b="0" dirty="0" err="1">
                <a:solidFill>
                  <a:srgbClr val="A4B3C9"/>
                </a:solidFill>
                <a:latin typeface="Aptos"/>
              </a:rPr>
              <a:t>dibandingkan</a:t>
            </a:r>
            <a:r>
              <a:rPr sz="1200" b="0" dirty="0">
                <a:solidFill>
                  <a:srgbClr val="A4B3C9"/>
                </a:solidFill>
                <a:latin typeface="Aptos"/>
              </a:rPr>
              <a:t> </a:t>
            </a:r>
            <a:r>
              <a:rPr sz="1200" b="0" dirty="0" err="1">
                <a:solidFill>
                  <a:srgbClr val="A4B3C9"/>
                </a:solidFill>
                <a:latin typeface="Aptos"/>
              </a:rPr>
              <a:t>dengan</a:t>
            </a:r>
            <a:r>
              <a:rPr sz="1200" b="0" dirty="0">
                <a:solidFill>
                  <a:srgbClr val="A4B3C9"/>
                </a:solidFill>
                <a:latin typeface="Aptos"/>
              </a:rPr>
              <a:t> LSTM &amp; GRU; model </a:t>
            </a:r>
            <a:r>
              <a:rPr sz="1200" b="0" dirty="0" err="1">
                <a:solidFill>
                  <a:srgbClr val="A4B3C9"/>
                </a:solidFill>
                <a:latin typeface="Aptos"/>
              </a:rPr>
              <a:t>terbaik</a:t>
            </a:r>
            <a:r>
              <a:rPr sz="1200" b="0" dirty="0">
                <a:solidFill>
                  <a:srgbClr val="A4B3C9"/>
                </a:solidFill>
                <a:latin typeface="Aptos"/>
              </a:rPr>
              <a:t> </a:t>
            </a:r>
            <a:r>
              <a:rPr sz="1200" b="0" dirty="0" err="1">
                <a:solidFill>
                  <a:srgbClr val="A4B3C9"/>
                </a:solidFill>
                <a:latin typeface="Aptos"/>
              </a:rPr>
              <a:t>kemudian</a:t>
            </a:r>
            <a:r>
              <a:rPr sz="1200" b="0" dirty="0">
                <a:solidFill>
                  <a:srgbClr val="A4B3C9"/>
                </a:solidFill>
                <a:latin typeface="Aptos"/>
              </a:rPr>
              <a:t> </a:t>
            </a:r>
            <a:r>
              <a:rPr sz="1200" b="0" dirty="0" err="1">
                <a:solidFill>
                  <a:srgbClr val="A4B3C9"/>
                </a:solidFill>
                <a:latin typeface="Aptos"/>
              </a:rPr>
              <a:t>diimplementasikan</a:t>
            </a:r>
            <a:r>
              <a:rPr sz="1200" b="0" dirty="0">
                <a:solidFill>
                  <a:srgbClr val="A4B3C9"/>
                </a:solidFill>
                <a:latin typeface="Aptos"/>
              </a:rPr>
              <a:t> </a:t>
            </a:r>
            <a:r>
              <a:rPr sz="1200" b="0" dirty="0" err="1">
                <a:solidFill>
                  <a:srgbClr val="A4B3C9"/>
                </a:solidFill>
                <a:latin typeface="Aptos"/>
              </a:rPr>
              <a:t>ke</a:t>
            </a:r>
            <a:r>
              <a:rPr sz="1200" b="0" dirty="0">
                <a:solidFill>
                  <a:srgbClr val="A4B3C9"/>
                </a:solidFill>
                <a:latin typeface="Aptos"/>
              </a:rPr>
              <a:t> dashboard </a:t>
            </a:r>
            <a:r>
              <a:rPr sz="1200" b="0" dirty="0" err="1">
                <a:solidFill>
                  <a:srgbClr val="A4B3C9"/>
                </a:solidFill>
                <a:latin typeface="Aptos"/>
              </a:rPr>
              <a:t>interaktif</a:t>
            </a:r>
            <a:r>
              <a:rPr sz="1200" b="0" dirty="0">
                <a:solidFill>
                  <a:srgbClr val="A4B3C9"/>
                </a:solidFill>
                <a:latin typeface="Aptos"/>
              </a:rPr>
              <a:t> </a:t>
            </a:r>
            <a:r>
              <a:rPr sz="1200" b="0" dirty="0" err="1">
                <a:solidFill>
                  <a:srgbClr val="A4B3C9"/>
                </a:solidFill>
                <a:latin typeface="Aptos"/>
              </a:rPr>
              <a:t>Streamlit</a:t>
            </a:r>
            <a:r>
              <a:rPr sz="1200" b="0" dirty="0">
                <a:solidFill>
                  <a:srgbClr val="A4B3C9"/>
                </a:solidFill>
                <a:latin typeface="Aptos"/>
              </a:rPr>
              <a:t>.</a:t>
            </a:r>
          </a:p>
        </p:txBody>
      </p:sp>
      <p:sp>
        <p:nvSpPr>
          <p:cNvPr id="40" name="TextBox 39"/>
          <p:cNvSpPr txBox="1"/>
          <p:nvPr/>
        </p:nvSpPr>
        <p:spPr>
          <a:xfrm>
            <a:off x="640080" y="6510528"/>
            <a:ext cx="4572000" cy="164592"/>
          </a:xfrm>
          <a:prstGeom prst="rect">
            <a:avLst/>
          </a:prstGeom>
          <a:noFill/>
        </p:spPr>
        <p:txBody>
          <a:bodyPr wrap="none" lIns="27432" tIns="27432" rIns="27432" bIns="27432" anchor="t">
            <a:spAutoFit/>
          </a:bodyPr>
          <a:lstStyle/>
          <a:p>
            <a:pPr algn="l"/>
            <a:r>
              <a:rPr sz="800" b="0">
                <a:solidFill>
                  <a:srgbClr val="A4B3C9"/>
                </a:solidFill>
                <a:latin typeface="Aptos"/>
              </a:rPr>
              <a:t>Bedah Paper • Metode Peramalan Deret Waktu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4572000" cy="274320"/>
          </a:xfrm>
          <a:prstGeom prst="rect">
            <a:avLst/>
          </a:prstGeom>
          <a:noFill/>
        </p:spPr>
        <p:txBody>
          <a:bodyPr wrap="none" lIns="27432" tIns="27432" rIns="27432" bIns="27432" anchor="t">
            <a:spAutoFit/>
          </a:bodyPr>
          <a:lstStyle/>
          <a:p>
            <a:pPr algn="l"/>
            <a:r>
              <a:rPr sz="1000" b="1">
                <a:solidFill>
                  <a:srgbClr val="3DD6E2"/>
                </a:solidFill>
                <a:latin typeface="Aptos"/>
              </a:rPr>
              <a:t>03  •  LATAR BELAKANG</a:t>
            </a:r>
          </a:p>
        </p:txBody>
      </p:sp>
      <p:sp>
        <p:nvSpPr>
          <p:cNvPr id="3" name="TextBox 2"/>
          <p:cNvSpPr txBox="1"/>
          <p:nvPr/>
        </p:nvSpPr>
        <p:spPr>
          <a:xfrm>
            <a:off x="621792" y="667512"/>
            <a:ext cx="5202936" cy="502920"/>
          </a:xfrm>
          <a:prstGeom prst="rect">
            <a:avLst/>
          </a:prstGeom>
          <a:noFill/>
        </p:spPr>
        <p:txBody>
          <a:bodyPr wrap="square" lIns="27432" tIns="27432" rIns="27432" bIns="27432" anchor="t">
            <a:spAutoFit/>
          </a:bodyPr>
          <a:lstStyle/>
          <a:p>
            <a:pPr algn="l"/>
            <a:r>
              <a:rPr sz="2800" b="1" dirty="0" err="1">
                <a:solidFill>
                  <a:srgbClr val="F5F8FC"/>
                </a:solidFill>
                <a:latin typeface="Aptos"/>
              </a:rPr>
              <a:t>Mengapa</a:t>
            </a:r>
            <a:r>
              <a:rPr sz="2800" b="1" dirty="0">
                <a:solidFill>
                  <a:srgbClr val="F5F8FC"/>
                </a:solidFill>
                <a:latin typeface="Aptos"/>
              </a:rPr>
              <a:t> forecasting Bitcoin?</a:t>
            </a:r>
          </a:p>
        </p:txBody>
      </p:sp>
      <p:sp>
        <p:nvSpPr>
          <p:cNvPr id="4" name="TextBox 3"/>
          <p:cNvSpPr txBox="1"/>
          <p:nvPr/>
        </p:nvSpPr>
        <p:spPr>
          <a:xfrm>
            <a:off x="640079" y="1197864"/>
            <a:ext cx="6528472" cy="270843"/>
          </a:xfrm>
          <a:prstGeom prst="rect">
            <a:avLst/>
          </a:prstGeom>
          <a:noFill/>
        </p:spPr>
        <p:txBody>
          <a:bodyPr wrap="square" lIns="27432" tIns="27432" rIns="27432" bIns="27432" anchor="t">
            <a:spAutoFit/>
          </a:bodyPr>
          <a:lstStyle/>
          <a:p>
            <a:pPr algn="l"/>
            <a:r>
              <a:rPr sz="1400" b="0" dirty="0" err="1">
                <a:solidFill>
                  <a:srgbClr val="A4B3C9"/>
                </a:solidFill>
                <a:latin typeface="Aptos"/>
              </a:rPr>
              <a:t>Permasalahan</a:t>
            </a:r>
            <a:r>
              <a:rPr sz="1400" b="0" dirty="0">
                <a:solidFill>
                  <a:srgbClr val="A4B3C9"/>
                </a:solidFill>
                <a:latin typeface="Aptos"/>
              </a:rPr>
              <a:t> → </a:t>
            </a:r>
            <a:r>
              <a:rPr sz="1400" b="0" dirty="0" err="1">
                <a:solidFill>
                  <a:srgbClr val="A4B3C9"/>
                </a:solidFill>
                <a:latin typeface="Aptos"/>
              </a:rPr>
              <a:t>kebutuhan</a:t>
            </a:r>
            <a:r>
              <a:rPr sz="1400" b="0" dirty="0">
                <a:solidFill>
                  <a:srgbClr val="A4B3C9"/>
                </a:solidFill>
                <a:latin typeface="Aptos"/>
              </a:rPr>
              <a:t> forecasting → </a:t>
            </a:r>
            <a:r>
              <a:rPr sz="1400" b="0" dirty="0" err="1">
                <a:solidFill>
                  <a:srgbClr val="A4B3C9"/>
                </a:solidFill>
                <a:latin typeface="Aptos"/>
              </a:rPr>
              <a:t>keterbatasan</a:t>
            </a:r>
            <a:r>
              <a:rPr sz="1400" b="0" dirty="0">
                <a:solidFill>
                  <a:srgbClr val="A4B3C9"/>
                </a:solidFill>
                <a:latin typeface="Aptos"/>
              </a:rPr>
              <a:t> </a:t>
            </a:r>
            <a:r>
              <a:rPr sz="1400" b="0" dirty="0" err="1">
                <a:solidFill>
                  <a:srgbClr val="A4B3C9"/>
                </a:solidFill>
                <a:latin typeface="Aptos"/>
              </a:rPr>
              <a:t>metode</a:t>
            </a:r>
            <a:r>
              <a:rPr sz="1400" b="0" dirty="0">
                <a:solidFill>
                  <a:srgbClr val="A4B3C9"/>
                </a:solidFill>
                <a:latin typeface="Aptos"/>
              </a:rPr>
              <a:t> </a:t>
            </a:r>
            <a:r>
              <a:rPr sz="1400" b="0" dirty="0" err="1">
                <a:solidFill>
                  <a:srgbClr val="A4B3C9"/>
                </a:solidFill>
                <a:latin typeface="Aptos"/>
              </a:rPr>
              <a:t>konvensional</a:t>
            </a:r>
            <a:endParaRPr sz="1400" b="0" dirty="0">
              <a:solidFill>
                <a:srgbClr val="A4B3C9"/>
              </a:solidFill>
              <a:latin typeface="Aptos"/>
            </a:endParaRPr>
          </a:p>
        </p:txBody>
      </p:sp>
      <p:sp>
        <p:nvSpPr>
          <p:cNvPr id="5" name="TextBox 4"/>
          <p:cNvSpPr txBox="1"/>
          <p:nvPr/>
        </p:nvSpPr>
        <p:spPr>
          <a:xfrm>
            <a:off x="11018520" y="320040"/>
            <a:ext cx="548640" cy="274320"/>
          </a:xfrm>
          <a:prstGeom prst="rect">
            <a:avLst/>
          </a:prstGeom>
          <a:noFill/>
        </p:spPr>
        <p:txBody>
          <a:bodyPr wrap="none" lIns="27432" tIns="27432" rIns="27432" bIns="27432" anchor="t">
            <a:spAutoFit/>
          </a:bodyPr>
          <a:lstStyle/>
          <a:p>
            <a:pPr algn="r"/>
            <a:r>
              <a:rPr sz="1000" b="1">
                <a:solidFill>
                  <a:srgbClr val="A4B3C9"/>
                </a:solidFill>
                <a:latin typeface="Aptos"/>
              </a:rPr>
              <a:t>03</a:t>
            </a:r>
          </a:p>
        </p:txBody>
      </p:sp>
      <p:sp>
        <p:nvSpPr>
          <p:cNvPr id="6" name="Rounded Rectangle 5"/>
          <p:cNvSpPr/>
          <p:nvPr/>
        </p:nvSpPr>
        <p:spPr>
          <a:xfrm>
            <a:off x="658368" y="1755648"/>
            <a:ext cx="5166360" cy="199339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55648"/>
            <a:ext cx="50292" cy="1993392"/>
          </a:xfrm>
          <a:prstGeom prst="rect">
            <a:avLst/>
          </a:prstGeom>
          <a:solidFill>
            <a:srgbClr val="FF6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901952"/>
            <a:ext cx="4818888" cy="320040"/>
          </a:xfrm>
          <a:prstGeom prst="rect">
            <a:avLst/>
          </a:prstGeom>
          <a:noFill/>
        </p:spPr>
        <p:txBody>
          <a:bodyPr wrap="none" lIns="27432" tIns="27432" rIns="27432" bIns="27432" anchor="t">
            <a:spAutoFit/>
          </a:bodyPr>
          <a:lstStyle/>
          <a:p>
            <a:pPr algn="l"/>
            <a:r>
              <a:rPr sz="1500" b="1">
                <a:solidFill>
                  <a:srgbClr val="F5F8FC"/>
                </a:solidFill>
                <a:latin typeface="Aptos"/>
              </a:rPr>
              <a:t>Permasalahan</a:t>
            </a:r>
          </a:p>
        </p:txBody>
      </p:sp>
      <p:sp>
        <p:nvSpPr>
          <p:cNvPr id="9" name="TextBox 8"/>
          <p:cNvSpPr txBox="1"/>
          <p:nvPr/>
        </p:nvSpPr>
        <p:spPr>
          <a:xfrm>
            <a:off x="859536" y="2286000"/>
            <a:ext cx="4818888" cy="917174"/>
          </a:xfrm>
          <a:prstGeom prst="rect">
            <a:avLst/>
          </a:prstGeom>
          <a:noFill/>
        </p:spPr>
        <p:txBody>
          <a:bodyPr wrap="square" lIns="27432" tIns="27432" rIns="27432" bIns="27432" anchor="t">
            <a:spAutoFit/>
          </a:bodyPr>
          <a:lstStyle/>
          <a:p>
            <a:pPr algn="l"/>
            <a:r>
              <a:rPr sz="1400" b="0" dirty="0">
                <a:solidFill>
                  <a:srgbClr val="A4B3C9"/>
                </a:solidFill>
                <a:latin typeface="Aptos"/>
              </a:rPr>
              <a:t>• Bitcoin </a:t>
            </a:r>
            <a:r>
              <a:rPr sz="1400" b="0" dirty="0" err="1">
                <a:solidFill>
                  <a:srgbClr val="A4B3C9"/>
                </a:solidFill>
                <a:latin typeface="Aptos"/>
              </a:rPr>
              <a:t>memiliki</a:t>
            </a:r>
            <a:r>
              <a:rPr sz="1400" b="0" dirty="0">
                <a:solidFill>
                  <a:srgbClr val="A4B3C9"/>
                </a:solidFill>
                <a:latin typeface="Aptos"/>
              </a:rPr>
              <a:t> </a:t>
            </a:r>
            <a:r>
              <a:rPr sz="1400" b="0" dirty="0" err="1">
                <a:solidFill>
                  <a:srgbClr val="A4B3C9"/>
                </a:solidFill>
                <a:latin typeface="Aptos"/>
              </a:rPr>
              <a:t>volatilitas</a:t>
            </a:r>
            <a:r>
              <a:rPr sz="1400" b="0" dirty="0">
                <a:solidFill>
                  <a:srgbClr val="A4B3C9"/>
                </a:solidFill>
                <a:latin typeface="Aptos"/>
              </a:rPr>
              <a:t> </a:t>
            </a:r>
            <a:r>
              <a:rPr sz="1400" b="0" dirty="0" err="1">
                <a:solidFill>
                  <a:srgbClr val="A4B3C9"/>
                </a:solidFill>
                <a:latin typeface="Aptos"/>
              </a:rPr>
              <a:t>harga</a:t>
            </a:r>
            <a:r>
              <a:rPr sz="1400" b="0" dirty="0">
                <a:solidFill>
                  <a:srgbClr val="A4B3C9"/>
                </a:solidFill>
                <a:latin typeface="Aptos"/>
              </a:rPr>
              <a:t> yang </a:t>
            </a:r>
            <a:r>
              <a:rPr sz="1400" b="0" dirty="0" err="1">
                <a:solidFill>
                  <a:srgbClr val="A4B3C9"/>
                </a:solidFill>
                <a:latin typeface="Aptos"/>
              </a:rPr>
              <a:t>tinggi</a:t>
            </a:r>
            <a:r>
              <a:rPr sz="1400" b="0" dirty="0">
                <a:solidFill>
                  <a:srgbClr val="A4B3C9"/>
                </a:solidFill>
                <a:latin typeface="Aptos"/>
              </a:rPr>
              <a:t>.
• </a:t>
            </a:r>
            <a:r>
              <a:rPr sz="1400" b="0" dirty="0" err="1">
                <a:solidFill>
                  <a:srgbClr val="A4B3C9"/>
                </a:solidFill>
                <a:latin typeface="Aptos"/>
              </a:rPr>
              <a:t>Perubahan</a:t>
            </a:r>
            <a:r>
              <a:rPr sz="1400" b="0" dirty="0">
                <a:solidFill>
                  <a:srgbClr val="A4B3C9"/>
                </a:solidFill>
                <a:latin typeface="Aptos"/>
              </a:rPr>
              <a:t> </a:t>
            </a:r>
            <a:r>
              <a:rPr sz="1400" b="0" dirty="0" err="1">
                <a:solidFill>
                  <a:srgbClr val="A4B3C9"/>
                </a:solidFill>
                <a:latin typeface="Aptos"/>
              </a:rPr>
              <a:t>harga</a:t>
            </a:r>
            <a:r>
              <a:rPr sz="1400" b="0" dirty="0">
                <a:solidFill>
                  <a:srgbClr val="A4B3C9"/>
                </a:solidFill>
                <a:latin typeface="Aptos"/>
              </a:rPr>
              <a:t> </a:t>
            </a:r>
            <a:r>
              <a:rPr sz="1400" b="0" dirty="0" err="1">
                <a:solidFill>
                  <a:srgbClr val="A4B3C9"/>
                </a:solidFill>
                <a:latin typeface="Aptos"/>
              </a:rPr>
              <a:t>dapat</a:t>
            </a:r>
            <a:r>
              <a:rPr sz="1400" b="0" dirty="0">
                <a:solidFill>
                  <a:srgbClr val="A4B3C9"/>
                </a:solidFill>
                <a:latin typeface="Aptos"/>
              </a:rPr>
              <a:t> </a:t>
            </a:r>
            <a:r>
              <a:rPr sz="1400" b="0" dirty="0" err="1">
                <a:solidFill>
                  <a:srgbClr val="A4B3C9"/>
                </a:solidFill>
                <a:latin typeface="Aptos"/>
              </a:rPr>
              <a:t>terjadi</a:t>
            </a:r>
            <a:r>
              <a:rPr sz="1400" b="0" dirty="0">
                <a:solidFill>
                  <a:srgbClr val="A4B3C9"/>
                </a:solidFill>
                <a:latin typeface="Aptos"/>
              </a:rPr>
              <a:t> </a:t>
            </a:r>
            <a:r>
              <a:rPr sz="1400" b="0" dirty="0" err="1">
                <a:solidFill>
                  <a:srgbClr val="A4B3C9"/>
                </a:solidFill>
                <a:latin typeface="Aptos"/>
              </a:rPr>
              <a:t>dalam</a:t>
            </a:r>
            <a:r>
              <a:rPr sz="1400" b="0" dirty="0">
                <a:solidFill>
                  <a:srgbClr val="A4B3C9"/>
                </a:solidFill>
                <a:latin typeface="Aptos"/>
              </a:rPr>
              <a:t> </a:t>
            </a:r>
            <a:r>
              <a:rPr sz="1400" b="0" dirty="0" err="1">
                <a:solidFill>
                  <a:srgbClr val="A4B3C9"/>
                </a:solidFill>
                <a:latin typeface="Aptos"/>
              </a:rPr>
              <a:t>waktu</a:t>
            </a:r>
            <a:r>
              <a:rPr sz="1400" b="0" dirty="0">
                <a:solidFill>
                  <a:srgbClr val="A4B3C9"/>
                </a:solidFill>
                <a:latin typeface="Aptos"/>
              </a:rPr>
              <a:t> </a:t>
            </a:r>
            <a:r>
              <a:rPr sz="1400" b="0" dirty="0" err="1">
                <a:solidFill>
                  <a:srgbClr val="A4B3C9"/>
                </a:solidFill>
                <a:latin typeface="Aptos"/>
              </a:rPr>
              <a:t>singkat</a:t>
            </a:r>
            <a:r>
              <a:rPr sz="1400" b="0" dirty="0">
                <a:solidFill>
                  <a:srgbClr val="A4B3C9"/>
                </a:solidFill>
                <a:latin typeface="Aptos"/>
              </a:rPr>
              <a:t>.
• </a:t>
            </a:r>
            <a:r>
              <a:rPr sz="1400" b="0" dirty="0" err="1">
                <a:solidFill>
                  <a:srgbClr val="A4B3C9"/>
                </a:solidFill>
                <a:latin typeface="Aptos"/>
              </a:rPr>
              <a:t>Pergerakan</a:t>
            </a:r>
            <a:r>
              <a:rPr sz="1400" b="0" dirty="0">
                <a:solidFill>
                  <a:srgbClr val="A4B3C9"/>
                </a:solidFill>
                <a:latin typeface="Aptos"/>
              </a:rPr>
              <a:t> </a:t>
            </a:r>
            <a:r>
              <a:rPr sz="1400" b="0" dirty="0" err="1">
                <a:solidFill>
                  <a:srgbClr val="A4B3C9"/>
                </a:solidFill>
                <a:latin typeface="Aptos"/>
              </a:rPr>
              <a:t>harga</a:t>
            </a:r>
            <a:r>
              <a:rPr sz="1400" b="0" dirty="0">
                <a:solidFill>
                  <a:srgbClr val="A4B3C9"/>
                </a:solidFill>
                <a:latin typeface="Aptos"/>
              </a:rPr>
              <a:t> </a:t>
            </a:r>
            <a:r>
              <a:rPr sz="1400" b="0" dirty="0" err="1">
                <a:solidFill>
                  <a:srgbClr val="A4B3C9"/>
                </a:solidFill>
                <a:latin typeface="Aptos"/>
              </a:rPr>
              <a:t>memiliki</a:t>
            </a:r>
            <a:r>
              <a:rPr sz="1400" b="0" dirty="0">
                <a:solidFill>
                  <a:srgbClr val="A4B3C9"/>
                </a:solidFill>
                <a:latin typeface="Aptos"/>
              </a:rPr>
              <a:t> </a:t>
            </a:r>
            <a:r>
              <a:rPr sz="1400" b="0" dirty="0" err="1">
                <a:solidFill>
                  <a:srgbClr val="A4B3C9"/>
                </a:solidFill>
                <a:latin typeface="Aptos"/>
              </a:rPr>
              <a:t>karakteristik</a:t>
            </a:r>
            <a:r>
              <a:rPr sz="1400" b="0" dirty="0">
                <a:solidFill>
                  <a:srgbClr val="A4B3C9"/>
                </a:solidFill>
                <a:latin typeface="Aptos"/>
              </a:rPr>
              <a:t> non-linear.
• Forecasting </a:t>
            </a:r>
            <a:r>
              <a:rPr sz="1400" b="0" dirty="0" err="1">
                <a:solidFill>
                  <a:srgbClr val="A4B3C9"/>
                </a:solidFill>
                <a:latin typeface="Aptos"/>
              </a:rPr>
              <a:t>menjadi</a:t>
            </a:r>
            <a:r>
              <a:rPr sz="1400" b="0" dirty="0">
                <a:solidFill>
                  <a:srgbClr val="A4B3C9"/>
                </a:solidFill>
                <a:latin typeface="Aptos"/>
              </a:rPr>
              <a:t> </a:t>
            </a:r>
            <a:r>
              <a:rPr sz="1400" b="0" dirty="0" err="1">
                <a:solidFill>
                  <a:srgbClr val="A4B3C9"/>
                </a:solidFill>
                <a:latin typeface="Aptos"/>
              </a:rPr>
              <a:t>sulit</a:t>
            </a:r>
            <a:r>
              <a:rPr sz="1400" b="0" dirty="0">
                <a:solidFill>
                  <a:srgbClr val="A4B3C9"/>
                </a:solidFill>
                <a:latin typeface="Aptos"/>
              </a:rPr>
              <a:t>.</a:t>
            </a:r>
          </a:p>
        </p:txBody>
      </p:sp>
      <p:sp>
        <p:nvSpPr>
          <p:cNvPr id="10" name="Rounded Rectangle 9"/>
          <p:cNvSpPr/>
          <p:nvPr/>
        </p:nvSpPr>
        <p:spPr>
          <a:xfrm>
            <a:off x="6080760" y="1755648"/>
            <a:ext cx="5303520" cy="199339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80760" y="1755648"/>
            <a:ext cx="50292" cy="1993392"/>
          </a:xfrm>
          <a:prstGeom prst="rect">
            <a:avLst/>
          </a:prstGeom>
          <a:solidFill>
            <a:srgbClr val="3DD6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81928" y="1901952"/>
            <a:ext cx="4956048" cy="320040"/>
          </a:xfrm>
          <a:prstGeom prst="rect">
            <a:avLst/>
          </a:prstGeom>
          <a:noFill/>
        </p:spPr>
        <p:txBody>
          <a:bodyPr wrap="none" lIns="27432" tIns="27432" rIns="27432" bIns="27432" anchor="t">
            <a:spAutoFit/>
          </a:bodyPr>
          <a:lstStyle/>
          <a:p>
            <a:pPr algn="l"/>
            <a:r>
              <a:rPr sz="1500" b="1">
                <a:solidFill>
                  <a:srgbClr val="F5F8FC"/>
                </a:solidFill>
                <a:latin typeface="Aptos"/>
              </a:rPr>
              <a:t>Mengapa forecasting diperlukan?</a:t>
            </a:r>
          </a:p>
        </p:txBody>
      </p:sp>
      <p:sp>
        <p:nvSpPr>
          <p:cNvPr id="13" name="TextBox 12"/>
          <p:cNvSpPr txBox="1"/>
          <p:nvPr/>
        </p:nvSpPr>
        <p:spPr>
          <a:xfrm>
            <a:off x="6281928" y="2286000"/>
            <a:ext cx="4956048" cy="917174"/>
          </a:xfrm>
          <a:prstGeom prst="rect">
            <a:avLst/>
          </a:prstGeom>
          <a:noFill/>
        </p:spPr>
        <p:txBody>
          <a:bodyPr wrap="square" lIns="27432" tIns="27432" rIns="27432" bIns="27432" anchor="t">
            <a:spAutoFit/>
          </a:bodyPr>
          <a:lstStyle/>
          <a:p>
            <a:pPr algn="l"/>
            <a:r>
              <a:rPr sz="1400" b="0">
                <a:solidFill>
                  <a:srgbClr val="A4B3C9"/>
                </a:solidFill>
                <a:latin typeface="Aptos"/>
              </a:rPr>
              <a:t>Forecasting berbasis data historis dapat digunakan untuk:
• mempelajari pola pergerakan harga,
• menghasilkan estimasi harga di masa mendatang,
• membantu pengguna memahami pergerakan harga.</a:t>
            </a:r>
          </a:p>
        </p:txBody>
      </p:sp>
      <p:sp>
        <p:nvSpPr>
          <p:cNvPr id="14" name="Rounded Rectangle 13"/>
          <p:cNvSpPr/>
          <p:nvPr/>
        </p:nvSpPr>
        <p:spPr>
          <a:xfrm>
            <a:off x="658368" y="4041648"/>
            <a:ext cx="10725912" cy="1298448"/>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8368" y="4041648"/>
            <a:ext cx="50292" cy="1298448"/>
          </a:xfrm>
          <a:prstGeom prst="rect">
            <a:avLst/>
          </a:prstGeom>
          <a:solidFill>
            <a:srgbClr val="FFB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4187952"/>
            <a:ext cx="3688051" cy="286232"/>
          </a:xfrm>
          <a:prstGeom prst="rect">
            <a:avLst/>
          </a:prstGeom>
          <a:noFill/>
        </p:spPr>
        <p:txBody>
          <a:bodyPr wrap="square" lIns="27432" tIns="27432" rIns="27432" bIns="27432" anchor="t">
            <a:spAutoFit/>
          </a:bodyPr>
          <a:lstStyle/>
          <a:p>
            <a:pPr algn="l"/>
            <a:r>
              <a:rPr sz="1500" b="1" dirty="0" err="1">
                <a:solidFill>
                  <a:srgbClr val="F5F8FC"/>
                </a:solidFill>
                <a:latin typeface="Aptos"/>
              </a:rPr>
              <a:t>Permasalahan</a:t>
            </a:r>
            <a:r>
              <a:rPr sz="1500" b="1" dirty="0">
                <a:solidFill>
                  <a:srgbClr val="F5F8FC"/>
                </a:solidFill>
                <a:latin typeface="Aptos"/>
              </a:rPr>
              <a:t> </a:t>
            </a:r>
            <a:r>
              <a:rPr sz="1500" b="1" dirty="0" err="1">
                <a:solidFill>
                  <a:srgbClr val="F5F8FC"/>
                </a:solidFill>
                <a:latin typeface="Aptos"/>
              </a:rPr>
              <a:t>metode</a:t>
            </a:r>
            <a:r>
              <a:rPr sz="1500" b="1" dirty="0">
                <a:solidFill>
                  <a:srgbClr val="F5F8FC"/>
                </a:solidFill>
                <a:latin typeface="Aptos"/>
              </a:rPr>
              <a:t> </a:t>
            </a:r>
            <a:r>
              <a:rPr sz="1500" b="1" dirty="0" err="1">
                <a:solidFill>
                  <a:srgbClr val="F5F8FC"/>
                </a:solidFill>
                <a:latin typeface="Aptos"/>
              </a:rPr>
              <a:t>konvensional</a:t>
            </a:r>
            <a:endParaRPr sz="1500" b="1" dirty="0">
              <a:solidFill>
                <a:srgbClr val="F5F8FC"/>
              </a:solidFill>
              <a:latin typeface="Aptos"/>
            </a:endParaRPr>
          </a:p>
        </p:txBody>
      </p:sp>
      <p:sp>
        <p:nvSpPr>
          <p:cNvPr id="17" name="TextBox 16"/>
          <p:cNvSpPr txBox="1"/>
          <p:nvPr/>
        </p:nvSpPr>
        <p:spPr>
          <a:xfrm>
            <a:off x="859536" y="4572000"/>
            <a:ext cx="10158984" cy="547842"/>
          </a:xfrm>
          <a:prstGeom prst="rect">
            <a:avLst/>
          </a:prstGeom>
          <a:noFill/>
        </p:spPr>
        <p:txBody>
          <a:bodyPr wrap="square" lIns="27432" tIns="27432" rIns="27432" bIns="27432" anchor="t">
            <a:spAutoFit/>
          </a:bodyPr>
          <a:lstStyle/>
          <a:p>
            <a:pPr algn="l"/>
            <a:r>
              <a:rPr sz="1600" b="0" dirty="0">
                <a:solidFill>
                  <a:srgbClr val="A4B3C9"/>
                </a:solidFill>
                <a:latin typeface="Aptos"/>
              </a:rPr>
              <a:t>ARIMA </a:t>
            </a:r>
            <a:r>
              <a:rPr sz="1600" b="0" dirty="0" err="1">
                <a:solidFill>
                  <a:srgbClr val="A4B3C9"/>
                </a:solidFill>
                <a:latin typeface="Aptos"/>
              </a:rPr>
              <a:t>memiliki</a:t>
            </a:r>
            <a:r>
              <a:rPr sz="1600" b="0" dirty="0">
                <a:solidFill>
                  <a:srgbClr val="A4B3C9"/>
                </a:solidFill>
                <a:latin typeface="Aptos"/>
              </a:rPr>
              <a:t> </a:t>
            </a:r>
            <a:r>
              <a:rPr sz="1600" b="0" dirty="0" err="1">
                <a:solidFill>
                  <a:srgbClr val="A4B3C9"/>
                </a:solidFill>
                <a:latin typeface="Aptos"/>
              </a:rPr>
              <a:t>keterbatasan</a:t>
            </a:r>
            <a:r>
              <a:rPr sz="1600" b="0" dirty="0">
                <a:solidFill>
                  <a:srgbClr val="A4B3C9"/>
                </a:solidFill>
                <a:latin typeface="Aptos"/>
              </a:rPr>
              <a:t> </a:t>
            </a:r>
            <a:r>
              <a:rPr sz="1600" b="0" dirty="0" err="1">
                <a:solidFill>
                  <a:srgbClr val="A4B3C9"/>
                </a:solidFill>
                <a:latin typeface="Aptos"/>
              </a:rPr>
              <a:t>ketika</a:t>
            </a:r>
            <a:r>
              <a:rPr sz="1600" b="0" dirty="0">
                <a:solidFill>
                  <a:srgbClr val="A4B3C9"/>
                </a:solidFill>
                <a:latin typeface="Aptos"/>
              </a:rPr>
              <a:t> </a:t>
            </a:r>
            <a:r>
              <a:rPr sz="1600" b="0" dirty="0" err="1">
                <a:solidFill>
                  <a:srgbClr val="A4B3C9"/>
                </a:solidFill>
                <a:latin typeface="Aptos"/>
              </a:rPr>
              <a:t>digunakan</a:t>
            </a:r>
            <a:r>
              <a:rPr sz="1600" b="0" dirty="0">
                <a:solidFill>
                  <a:srgbClr val="A4B3C9"/>
                </a:solidFill>
                <a:latin typeface="Aptos"/>
              </a:rPr>
              <a:t> pada data yang sangat non-linear dan </a:t>
            </a:r>
            <a:r>
              <a:rPr sz="1600" b="0" dirty="0" err="1">
                <a:solidFill>
                  <a:srgbClr val="A4B3C9"/>
                </a:solidFill>
                <a:latin typeface="Aptos"/>
              </a:rPr>
              <a:t>volatil</a:t>
            </a:r>
            <a:r>
              <a:rPr sz="1600" b="0" dirty="0">
                <a:solidFill>
                  <a:srgbClr val="A4B3C9"/>
                </a:solidFill>
                <a:latin typeface="Aptos"/>
              </a:rPr>
              <a:t> </a:t>
            </a:r>
            <a:r>
              <a:rPr sz="1600" b="0" dirty="0" err="1">
                <a:solidFill>
                  <a:srgbClr val="A4B3C9"/>
                </a:solidFill>
                <a:latin typeface="Aptos"/>
              </a:rPr>
              <a:t>karena</a:t>
            </a:r>
            <a:r>
              <a:rPr sz="1600" b="0" dirty="0">
                <a:solidFill>
                  <a:srgbClr val="A4B3C9"/>
                </a:solidFill>
                <a:latin typeface="Aptos"/>
              </a:rPr>
              <a:t> </a:t>
            </a:r>
            <a:r>
              <a:rPr sz="1600" b="0" dirty="0" err="1">
                <a:solidFill>
                  <a:srgbClr val="A4B3C9"/>
                </a:solidFill>
                <a:latin typeface="Aptos"/>
              </a:rPr>
              <a:t>menggunakan</a:t>
            </a:r>
            <a:r>
              <a:rPr sz="1600" b="0" dirty="0">
                <a:solidFill>
                  <a:srgbClr val="A4B3C9"/>
                </a:solidFill>
                <a:latin typeface="Aptos"/>
              </a:rPr>
              <a:t> </a:t>
            </a:r>
            <a:r>
              <a:rPr sz="1600" b="0" dirty="0" err="1">
                <a:solidFill>
                  <a:srgbClr val="A4B3C9"/>
                </a:solidFill>
                <a:latin typeface="Aptos"/>
              </a:rPr>
              <a:t>asumsi</a:t>
            </a:r>
            <a:r>
              <a:rPr sz="1600" b="0" dirty="0">
                <a:solidFill>
                  <a:srgbClr val="A4B3C9"/>
                </a:solidFill>
                <a:latin typeface="Aptos"/>
              </a:rPr>
              <a:t> </a:t>
            </a:r>
            <a:r>
              <a:rPr sz="1600" b="0" dirty="0" err="1">
                <a:solidFill>
                  <a:srgbClr val="A4B3C9"/>
                </a:solidFill>
                <a:latin typeface="Aptos"/>
              </a:rPr>
              <a:t>stasioneritas</a:t>
            </a:r>
            <a:r>
              <a:rPr sz="1600" b="0" dirty="0">
                <a:solidFill>
                  <a:srgbClr val="A4B3C9"/>
                </a:solidFill>
                <a:latin typeface="Aptos"/>
              </a:rPr>
              <a:t> dan </a:t>
            </a:r>
            <a:r>
              <a:rPr sz="1600" b="0" dirty="0" err="1">
                <a:solidFill>
                  <a:srgbClr val="A4B3C9"/>
                </a:solidFill>
                <a:latin typeface="Aptos"/>
              </a:rPr>
              <a:t>hubungan</a:t>
            </a:r>
            <a:r>
              <a:rPr sz="1600" b="0" dirty="0">
                <a:solidFill>
                  <a:srgbClr val="A4B3C9"/>
                </a:solidFill>
                <a:latin typeface="Aptos"/>
              </a:rPr>
              <a:t> linear.</a:t>
            </a:r>
          </a:p>
        </p:txBody>
      </p:sp>
      <p:sp>
        <p:nvSpPr>
          <p:cNvPr id="18" name="TextBox 17"/>
          <p:cNvSpPr txBox="1"/>
          <p:nvPr/>
        </p:nvSpPr>
        <p:spPr>
          <a:xfrm>
            <a:off x="640080" y="6510528"/>
            <a:ext cx="4572000" cy="164592"/>
          </a:xfrm>
          <a:prstGeom prst="rect">
            <a:avLst/>
          </a:prstGeom>
          <a:noFill/>
        </p:spPr>
        <p:txBody>
          <a:bodyPr wrap="none" lIns="27432" tIns="27432" rIns="27432" bIns="27432" anchor="t">
            <a:spAutoFit/>
          </a:bodyPr>
          <a:lstStyle/>
          <a:p>
            <a:pPr algn="l"/>
            <a:r>
              <a:rPr sz="800" b="0">
                <a:solidFill>
                  <a:srgbClr val="A4B3C9"/>
                </a:solidFill>
                <a:latin typeface="Aptos"/>
              </a:rPr>
              <a:t>Bedah Paper • Metode Peramalan Deret Waktu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4572000" cy="274320"/>
          </a:xfrm>
          <a:prstGeom prst="rect">
            <a:avLst/>
          </a:prstGeom>
          <a:noFill/>
        </p:spPr>
        <p:txBody>
          <a:bodyPr wrap="none" lIns="27432" tIns="27432" rIns="27432" bIns="27432" anchor="t">
            <a:spAutoFit/>
          </a:bodyPr>
          <a:lstStyle/>
          <a:p>
            <a:pPr algn="l"/>
            <a:r>
              <a:rPr sz="1000" b="1">
                <a:solidFill>
                  <a:srgbClr val="3DD6E2"/>
                </a:solidFill>
                <a:latin typeface="Aptos"/>
              </a:rPr>
              <a:t>04  •  RESEARCH GAP &amp; NOVELTY</a:t>
            </a:r>
          </a:p>
        </p:txBody>
      </p:sp>
      <p:sp>
        <p:nvSpPr>
          <p:cNvPr id="3" name="TextBox 2"/>
          <p:cNvSpPr txBox="1"/>
          <p:nvPr/>
        </p:nvSpPr>
        <p:spPr>
          <a:xfrm>
            <a:off x="621792" y="667512"/>
            <a:ext cx="10698480" cy="502920"/>
          </a:xfrm>
          <a:prstGeom prst="rect">
            <a:avLst/>
          </a:prstGeom>
          <a:noFill/>
        </p:spPr>
        <p:txBody>
          <a:bodyPr wrap="none" lIns="27432" tIns="27432" rIns="27432" bIns="27432" anchor="t">
            <a:spAutoFit/>
          </a:bodyPr>
          <a:lstStyle/>
          <a:p>
            <a:pPr algn="l"/>
            <a:r>
              <a:rPr sz="2800" b="1" dirty="0">
                <a:solidFill>
                  <a:srgbClr val="F5F8FC"/>
                </a:solidFill>
                <a:latin typeface="Aptos"/>
              </a:rPr>
              <a:t>Apa yang </a:t>
            </a:r>
            <a:r>
              <a:rPr sz="2800" b="1" dirty="0" err="1">
                <a:solidFill>
                  <a:srgbClr val="F5F8FC"/>
                </a:solidFill>
                <a:latin typeface="Aptos"/>
              </a:rPr>
              <a:t>ingin</a:t>
            </a:r>
            <a:r>
              <a:rPr sz="2800" b="1" dirty="0">
                <a:solidFill>
                  <a:srgbClr val="F5F8FC"/>
                </a:solidFill>
                <a:latin typeface="Aptos"/>
              </a:rPr>
              <a:t> </a:t>
            </a:r>
            <a:r>
              <a:rPr sz="2800" b="1" dirty="0" err="1">
                <a:solidFill>
                  <a:srgbClr val="F5F8FC"/>
                </a:solidFill>
                <a:latin typeface="Aptos"/>
              </a:rPr>
              <a:t>diisi</a:t>
            </a:r>
            <a:r>
              <a:rPr sz="2800" b="1" dirty="0">
                <a:solidFill>
                  <a:srgbClr val="F5F8FC"/>
                </a:solidFill>
                <a:latin typeface="Aptos"/>
              </a:rPr>
              <a:t> paper?</a:t>
            </a:r>
          </a:p>
        </p:txBody>
      </p:sp>
      <p:sp>
        <p:nvSpPr>
          <p:cNvPr id="4" name="TextBox 3"/>
          <p:cNvSpPr txBox="1"/>
          <p:nvPr/>
        </p:nvSpPr>
        <p:spPr>
          <a:xfrm>
            <a:off x="640080" y="1197864"/>
            <a:ext cx="4577150" cy="270843"/>
          </a:xfrm>
          <a:prstGeom prst="rect">
            <a:avLst/>
          </a:prstGeom>
          <a:noFill/>
        </p:spPr>
        <p:txBody>
          <a:bodyPr wrap="none" lIns="27432" tIns="27432" rIns="27432" bIns="27432" anchor="t">
            <a:spAutoFit/>
          </a:bodyPr>
          <a:lstStyle/>
          <a:p>
            <a:pPr algn="l"/>
            <a:r>
              <a:rPr sz="1400" b="0">
                <a:solidFill>
                  <a:srgbClr val="A4B3C9"/>
                </a:solidFill>
                <a:latin typeface="Aptos"/>
              </a:rPr>
              <a:t>Pisahkan jelas: klaim penulis vs kontribusi yang dilaporkan</a:t>
            </a:r>
          </a:p>
        </p:txBody>
      </p:sp>
      <p:sp>
        <p:nvSpPr>
          <p:cNvPr id="5" name="TextBox 4"/>
          <p:cNvSpPr txBox="1"/>
          <p:nvPr/>
        </p:nvSpPr>
        <p:spPr>
          <a:xfrm>
            <a:off x="11018520" y="320040"/>
            <a:ext cx="548640" cy="274320"/>
          </a:xfrm>
          <a:prstGeom prst="rect">
            <a:avLst/>
          </a:prstGeom>
          <a:noFill/>
        </p:spPr>
        <p:txBody>
          <a:bodyPr wrap="none" lIns="27432" tIns="27432" rIns="27432" bIns="27432" anchor="t">
            <a:spAutoFit/>
          </a:bodyPr>
          <a:lstStyle/>
          <a:p>
            <a:pPr algn="r"/>
            <a:r>
              <a:rPr sz="1000" b="1">
                <a:solidFill>
                  <a:srgbClr val="A4B3C9"/>
                </a:solidFill>
                <a:latin typeface="Aptos"/>
              </a:rPr>
              <a:t>04</a:t>
            </a:r>
          </a:p>
        </p:txBody>
      </p:sp>
      <p:sp>
        <p:nvSpPr>
          <p:cNvPr id="6" name="Rounded Rectangle 5"/>
          <p:cNvSpPr/>
          <p:nvPr/>
        </p:nvSpPr>
        <p:spPr>
          <a:xfrm>
            <a:off x="658368" y="1737360"/>
            <a:ext cx="5212080" cy="224028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37360"/>
            <a:ext cx="50292" cy="2240280"/>
          </a:xfrm>
          <a:prstGeom prst="rect">
            <a:avLst/>
          </a:prstGeom>
          <a:solidFill>
            <a:srgbClr val="8F6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883664"/>
            <a:ext cx="4864608" cy="320040"/>
          </a:xfrm>
          <a:prstGeom prst="rect">
            <a:avLst/>
          </a:prstGeom>
          <a:noFill/>
        </p:spPr>
        <p:txBody>
          <a:bodyPr wrap="none" lIns="27432" tIns="27432" rIns="27432" bIns="27432" anchor="t">
            <a:spAutoFit/>
          </a:bodyPr>
          <a:lstStyle/>
          <a:p>
            <a:pPr algn="l"/>
            <a:r>
              <a:rPr sz="1500" b="1">
                <a:solidFill>
                  <a:srgbClr val="F5F8FC"/>
                </a:solidFill>
                <a:latin typeface="Aptos"/>
              </a:rPr>
              <a:t>Research Gap</a:t>
            </a:r>
          </a:p>
        </p:txBody>
      </p:sp>
      <p:sp>
        <p:nvSpPr>
          <p:cNvPr id="9" name="TextBox 8"/>
          <p:cNvSpPr txBox="1"/>
          <p:nvPr/>
        </p:nvSpPr>
        <p:spPr>
          <a:xfrm>
            <a:off x="859537" y="2267712"/>
            <a:ext cx="4864608" cy="1132618"/>
          </a:xfrm>
          <a:prstGeom prst="rect">
            <a:avLst/>
          </a:prstGeom>
          <a:noFill/>
        </p:spPr>
        <p:txBody>
          <a:bodyPr wrap="square" lIns="27432" tIns="27432" rIns="27432" bIns="27432" anchor="t">
            <a:spAutoFit/>
          </a:bodyPr>
          <a:lstStyle/>
          <a:p>
            <a:pPr algn="l"/>
            <a:r>
              <a:rPr sz="1400" b="0" dirty="0" err="1">
                <a:solidFill>
                  <a:srgbClr val="A4B3C9"/>
                </a:solidFill>
                <a:latin typeface="Aptos"/>
              </a:rPr>
              <a:t>Penelitian</a:t>
            </a:r>
            <a:r>
              <a:rPr sz="1400" b="0" dirty="0">
                <a:solidFill>
                  <a:srgbClr val="A4B3C9"/>
                </a:solidFill>
                <a:latin typeface="Aptos"/>
              </a:rPr>
              <a:t> </a:t>
            </a:r>
            <a:r>
              <a:rPr sz="1400" b="0" dirty="0" err="1">
                <a:solidFill>
                  <a:srgbClr val="A4B3C9"/>
                </a:solidFill>
                <a:latin typeface="Aptos"/>
              </a:rPr>
              <a:t>terdahulu</a:t>
            </a:r>
            <a:r>
              <a:rPr sz="1400" b="0" dirty="0">
                <a:solidFill>
                  <a:srgbClr val="A4B3C9"/>
                </a:solidFill>
                <a:latin typeface="Aptos"/>
              </a:rPr>
              <a:t> </a:t>
            </a:r>
            <a:r>
              <a:rPr sz="1400" b="0" dirty="0" err="1">
                <a:solidFill>
                  <a:srgbClr val="A4B3C9"/>
                </a:solidFill>
                <a:latin typeface="Aptos"/>
              </a:rPr>
              <a:t>menurut</a:t>
            </a:r>
            <a:r>
              <a:rPr sz="1400" b="0" dirty="0">
                <a:solidFill>
                  <a:srgbClr val="A4B3C9"/>
                </a:solidFill>
                <a:latin typeface="Aptos"/>
              </a:rPr>
              <a:t> </a:t>
            </a:r>
            <a:r>
              <a:rPr sz="1400" b="0" dirty="0" err="1">
                <a:solidFill>
                  <a:srgbClr val="A4B3C9"/>
                </a:solidFill>
                <a:latin typeface="Aptos"/>
              </a:rPr>
              <a:t>penulis</a:t>
            </a:r>
            <a:r>
              <a:rPr sz="1400" b="0" dirty="0">
                <a:solidFill>
                  <a:srgbClr val="A4B3C9"/>
                </a:solidFill>
                <a:latin typeface="Aptos"/>
              </a:rPr>
              <a:t>:
• Banyak </a:t>
            </a:r>
            <a:r>
              <a:rPr sz="1400" b="0" dirty="0" err="1">
                <a:solidFill>
                  <a:srgbClr val="A4B3C9"/>
                </a:solidFill>
                <a:latin typeface="Aptos"/>
              </a:rPr>
              <a:t>berfokus</a:t>
            </a:r>
            <a:r>
              <a:rPr sz="1400" b="0" dirty="0">
                <a:solidFill>
                  <a:srgbClr val="A4B3C9"/>
                </a:solidFill>
                <a:latin typeface="Aptos"/>
              </a:rPr>
              <a:t> pada </a:t>
            </a:r>
            <a:r>
              <a:rPr sz="1400" b="0" dirty="0" err="1">
                <a:solidFill>
                  <a:srgbClr val="A4B3C9"/>
                </a:solidFill>
                <a:latin typeface="Aptos"/>
              </a:rPr>
              <a:t>evaluasi</a:t>
            </a:r>
            <a:r>
              <a:rPr sz="1400" b="0" dirty="0">
                <a:solidFill>
                  <a:srgbClr val="A4B3C9"/>
                </a:solidFill>
                <a:latin typeface="Aptos"/>
              </a:rPr>
              <a:t> </a:t>
            </a:r>
            <a:r>
              <a:rPr sz="1400" b="0" dirty="0" err="1">
                <a:solidFill>
                  <a:srgbClr val="A4B3C9"/>
                </a:solidFill>
                <a:latin typeface="Aptos"/>
              </a:rPr>
              <a:t>metrik</a:t>
            </a:r>
            <a:r>
              <a:rPr sz="1400" b="0" dirty="0">
                <a:solidFill>
                  <a:srgbClr val="A4B3C9"/>
                </a:solidFill>
                <a:latin typeface="Aptos"/>
              </a:rPr>
              <a:t> </a:t>
            </a:r>
            <a:r>
              <a:rPr sz="1400" b="0" dirty="0" err="1">
                <a:solidFill>
                  <a:srgbClr val="A4B3C9"/>
                </a:solidFill>
                <a:latin typeface="Aptos"/>
              </a:rPr>
              <a:t>matematis</a:t>
            </a:r>
            <a:r>
              <a:rPr sz="1400" b="0" dirty="0">
                <a:solidFill>
                  <a:srgbClr val="A4B3C9"/>
                </a:solidFill>
                <a:latin typeface="Aptos"/>
              </a:rPr>
              <a:t>.
• Sebagian </a:t>
            </a:r>
            <a:r>
              <a:rPr sz="1400" b="0" dirty="0" err="1">
                <a:solidFill>
                  <a:srgbClr val="A4B3C9"/>
                </a:solidFill>
                <a:latin typeface="Aptos"/>
              </a:rPr>
              <a:t>melakukan</a:t>
            </a:r>
            <a:r>
              <a:rPr sz="1400" b="0" dirty="0">
                <a:solidFill>
                  <a:srgbClr val="A4B3C9"/>
                </a:solidFill>
                <a:latin typeface="Aptos"/>
              </a:rPr>
              <a:t> </a:t>
            </a:r>
            <a:r>
              <a:rPr sz="1400" b="0" dirty="0" err="1">
                <a:solidFill>
                  <a:srgbClr val="A4B3C9"/>
                </a:solidFill>
                <a:latin typeface="Aptos"/>
              </a:rPr>
              <a:t>komparasi</a:t>
            </a:r>
            <a:r>
              <a:rPr sz="1400" b="0" dirty="0">
                <a:solidFill>
                  <a:srgbClr val="A4B3C9"/>
                </a:solidFill>
                <a:latin typeface="Aptos"/>
              </a:rPr>
              <a:t> model </a:t>
            </a:r>
            <a:r>
              <a:rPr sz="1400" b="0" dirty="0" err="1">
                <a:solidFill>
                  <a:srgbClr val="A4B3C9"/>
                </a:solidFill>
                <a:latin typeface="Aptos"/>
              </a:rPr>
              <a:t>secara</a:t>
            </a:r>
            <a:r>
              <a:rPr sz="1400" b="0" dirty="0">
                <a:solidFill>
                  <a:srgbClr val="A4B3C9"/>
                </a:solidFill>
                <a:latin typeface="Aptos"/>
              </a:rPr>
              <a:t> </a:t>
            </a:r>
            <a:r>
              <a:rPr sz="1400" b="0" dirty="0" err="1">
                <a:solidFill>
                  <a:srgbClr val="A4B3C9"/>
                </a:solidFill>
                <a:latin typeface="Aptos"/>
              </a:rPr>
              <a:t>terpisah</a:t>
            </a:r>
            <a:r>
              <a:rPr sz="1400" b="0" dirty="0">
                <a:solidFill>
                  <a:srgbClr val="A4B3C9"/>
                </a:solidFill>
                <a:latin typeface="Aptos"/>
              </a:rPr>
              <a:t>.
• Hasil forecasting </a:t>
            </a:r>
            <a:r>
              <a:rPr sz="1400" b="0" dirty="0" err="1">
                <a:solidFill>
                  <a:srgbClr val="A4B3C9"/>
                </a:solidFill>
                <a:latin typeface="Aptos"/>
              </a:rPr>
              <a:t>belum</a:t>
            </a:r>
            <a:r>
              <a:rPr sz="1400" b="0" dirty="0">
                <a:solidFill>
                  <a:srgbClr val="A4B3C9"/>
                </a:solidFill>
                <a:latin typeface="Aptos"/>
              </a:rPr>
              <a:t> </a:t>
            </a:r>
            <a:r>
              <a:rPr sz="1400" b="0" dirty="0" err="1">
                <a:solidFill>
                  <a:srgbClr val="A4B3C9"/>
                </a:solidFill>
                <a:latin typeface="Aptos"/>
              </a:rPr>
              <a:t>selalu</a:t>
            </a:r>
            <a:r>
              <a:rPr sz="1400" b="0" dirty="0">
                <a:solidFill>
                  <a:srgbClr val="A4B3C9"/>
                </a:solidFill>
                <a:latin typeface="Aptos"/>
              </a:rPr>
              <a:t> </a:t>
            </a:r>
            <a:r>
              <a:rPr sz="1400" b="0" dirty="0" err="1">
                <a:solidFill>
                  <a:srgbClr val="A4B3C9"/>
                </a:solidFill>
                <a:latin typeface="Aptos"/>
              </a:rPr>
              <a:t>diwujudkan</a:t>
            </a:r>
            <a:r>
              <a:rPr sz="1400" b="0" dirty="0">
                <a:solidFill>
                  <a:srgbClr val="A4B3C9"/>
                </a:solidFill>
                <a:latin typeface="Aptos"/>
              </a:rPr>
              <a:t> </a:t>
            </a:r>
            <a:r>
              <a:rPr sz="1400" b="0" dirty="0" err="1">
                <a:solidFill>
                  <a:srgbClr val="A4B3C9"/>
                </a:solidFill>
                <a:latin typeface="Aptos"/>
              </a:rPr>
              <a:t>dalam</a:t>
            </a:r>
            <a:r>
              <a:rPr sz="1400" b="0" dirty="0">
                <a:solidFill>
                  <a:srgbClr val="A4B3C9"/>
                </a:solidFill>
                <a:latin typeface="Aptos"/>
              </a:rPr>
              <a:t> </a:t>
            </a:r>
            <a:r>
              <a:rPr sz="1400" b="0" dirty="0" err="1">
                <a:solidFill>
                  <a:srgbClr val="A4B3C9"/>
                </a:solidFill>
                <a:latin typeface="Aptos"/>
              </a:rPr>
              <a:t>bentuk</a:t>
            </a:r>
            <a:r>
              <a:rPr sz="1400" b="0" dirty="0">
                <a:solidFill>
                  <a:srgbClr val="A4B3C9"/>
                </a:solidFill>
                <a:latin typeface="Aptos"/>
              </a:rPr>
              <a:t> </a:t>
            </a:r>
            <a:r>
              <a:rPr sz="1400" b="0" dirty="0" err="1">
                <a:solidFill>
                  <a:srgbClr val="A4B3C9"/>
                </a:solidFill>
                <a:latin typeface="Aptos"/>
              </a:rPr>
              <a:t>aplikasi</a:t>
            </a:r>
            <a:r>
              <a:rPr sz="1400" b="0" dirty="0">
                <a:solidFill>
                  <a:srgbClr val="A4B3C9"/>
                </a:solidFill>
                <a:latin typeface="Aptos"/>
              </a:rPr>
              <a:t> yang </a:t>
            </a:r>
            <a:r>
              <a:rPr sz="1400" b="0" dirty="0" err="1">
                <a:solidFill>
                  <a:srgbClr val="A4B3C9"/>
                </a:solidFill>
                <a:latin typeface="Aptos"/>
              </a:rPr>
              <a:t>mudah</a:t>
            </a:r>
            <a:r>
              <a:rPr sz="1400" b="0" dirty="0">
                <a:solidFill>
                  <a:srgbClr val="A4B3C9"/>
                </a:solidFill>
                <a:latin typeface="Aptos"/>
              </a:rPr>
              <a:t> </a:t>
            </a:r>
            <a:r>
              <a:rPr sz="1400" b="0" dirty="0" err="1">
                <a:solidFill>
                  <a:srgbClr val="A4B3C9"/>
                </a:solidFill>
                <a:latin typeface="Aptos"/>
              </a:rPr>
              <a:t>digunakan</a:t>
            </a:r>
            <a:r>
              <a:rPr sz="1400" b="0" dirty="0">
                <a:solidFill>
                  <a:srgbClr val="A4B3C9"/>
                </a:solidFill>
                <a:latin typeface="Aptos"/>
              </a:rPr>
              <a:t>.</a:t>
            </a:r>
          </a:p>
        </p:txBody>
      </p:sp>
      <p:sp>
        <p:nvSpPr>
          <p:cNvPr id="10" name="Rounded Rectangle 9"/>
          <p:cNvSpPr/>
          <p:nvPr/>
        </p:nvSpPr>
        <p:spPr>
          <a:xfrm>
            <a:off x="6126480" y="1737360"/>
            <a:ext cx="5257800" cy="224028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737360"/>
            <a:ext cx="50292" cy="2240280"/>
          </a:xfrm>
          <a:prstGeom prst="rect">
            <a:avLst/>
          </a:prstGeom>
          <a:solidFill>
            <a:srgbClr val="43D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27648" y="1883664"/>
            <a:ext cx="4910328" cy="320040"/>
          </a:xfrm>
          <a:prstGeom prst="rect">
            <a:avLst/>
          </a:prstGeom>
          <a:noFill/>
        </p:spPr>
        <p:txBody>
          <a:bodyPr wrap="none" lIns="27432" tIns="27432" rIns="27432" bIns="27432" anchor="t">
            <a:spAutoFit/>
          </a:bodyPr>
          <a:lstStyle/>
          <a:p>
            <a:pPr algn="l"/>
            <a:r>
              <a:rPr sz="1500" b="1">
                <a:solidFill>
                  <a:srgbClr val="F5F8FC"/>
                </a:solidFill>
                <a:latin typeface="Aptos"/>
              </a:rPr>
              <a:t>Novelty / Kontribusi</a:t>
            </a:r>
          </a:p>
        </p:txBody>
      </p:sp>
      <p:sp>
        <p:nvSpPr>
          <p:cNvPr id="13" name="TextBox 12"/>
          <p:cNvSpPr txBox="1"/>
          <p:nvPr/>
        </p:nvSpPr>
        <p:spPr>
          <a:xfrm>
            <a:off x="6327649" y="2267712"/>
            <a:ext cx="4574130" cy="917174"/>
          </a:xfrm>
          <a:prstGeom prst="rect">
            <a:avLst/>
          </a:prstGeom>
          <a:noFill/>
        </p:spPr>
        <p:txBody>
          <a:bodyPr wrap="square" lIns="27432" tIns="27432" rIns="27432" bIns="27432" anchor="t">
            <a:spAutoFit/>
          </a:bodyPr>
          <a:lstStyle/>
          <a:p>
            <a:pPr algn="l"/>
            <a:r>
              <a:rPr sz="1400" b="0" dirty="0">
                <a:solidFill>
                  <a:srgbClr val="A4B3C9"/>
                </a:solidFill>
                <a:latin typeface="Aptos"/>
              </a:rPr>
              <a:t>1. </a:t>
            </a:r>
            <a:r>
              <a:rPr sz="1400" b="0" dirty="0" err="1">
                <a:solidFill>
                  <a:srgbClr val="A4B3C9"/>
                </a:solidFill>
                <a:latin typeface="Aptos"/>
              </a:rPr>
              <a:t>Komparasi</a:t>
            </a:r>
            <a:r>
              <a:rPr sz="1400" b="0" dirty="0">
                <a:solidFill>
                  <a:srgbClr val="A4B3C9"/>
                </a:solidFill>
                <a:latin typeface="Aptos"/>
              </a:rPr>
              <a:t> </a:t>
            </a:r>
            <a:r>
              <a:rPr sz="1400" b="0" dirty="0" err="1">
                <a:solidFill>
                  <a:srgbClr val="A4B3C9"/>
                </a:solidFill>
                <a:latin typeface="Aptos"/>
              </a:rPr>
              <a:t>langsung</a:t>
            </a:r>
            <a:r>
              <a:rPr sz="1400" b="0" dirty="0">
                <a:solidFill>
                  <a:srgbClr val="A4B3C9"/>
                </a:solidFill>
                <a:latin typeface="Aptos"/>
              </a:rPr>
              <a:t> ARIMA vs LSTM vs GRU pada data </a:t>
            </a:r>
            <a:r>
              <a:rPr sz="1400" b="0" dirty="0" err="1">
                <a:solidFill>
                  <a:srgbClr val="A4B3C9"/>
                </a:solidFill>
                <a:latin typeface="Aptos"/>
              </a:rPr>
              <a:t>harga</a:t>
            </a:r>
            <a:r>
              <a:rPr sz="1400" b="0" dirty="0">
                <a:solidFill>
                  <a:srgbClr val="A4B3C9"/>
                </a:solidFill>
                <a:latin typeface="Aptos"/>
              </a:rPr>
              <a:t> Bitcoin.
2. Model </a:t>
            </a:r>
            <a:r>
              <a:rPr sz="1400" b="0" dirty="0" err="1">
                <a:solidFill>
                  <a:srgbClr val="A4B3C9"/>
                </a:solidFill>
                <a:latin typeface="Aptos"/>
              </a:rPr>
              <a:t>dengan</a:t>
            </a:r>
            <a:r>
              <a:rPr sz="1400" b="0" dirty="0">
                <a:solidFill>
                  <a:srgbClr val="A4B3C9"/>
                </a:solidFill>
                <a:latin typeface="Aptos"/>
              </a:rPr>
              <a:t> </a:t>
            </a:r>
            <a:r>
              <a:rPr sz="1400" b="0" dirty="0" err="1">
                <a:solidFill>
                  <a:srgbClr val="A4B3C9"/>
                </a:solidFill>
                <a:latin typeface="Aptos"/>
              </a:rPr>
              <a:t>performa</a:t>
            </a:r>
            <a:r>
              <a:rPr sz="1400" b="0" dirty="0">
                <a:solidFill>
                  <a:srgbClr val="A4B3C9"/>
                </a:solidFill>
                <a:latin typeface="Aptos"/>
              </a:rPr>
              <a:t> </a:t>
            </a:r>
            <a:r>
              <a:rPr sz="1400" b="0" dirty="0" err="1">
                <a:solidFill>
                  <a:srgbClr val="A4B3C9"/>
                </a:solidFill>
                <a:latin typeface="Aptos"/>
              </a:rPr>
              <a:t>terbaik</a:t>
            </a:r>
            <a:r>
              <a:rPr sz="1400" b="0" dirty="0">
                <a:solidFill>
                  <a:srgbClr val="A4B3C9"/>
                </a:solidFill>
                <a:latin typeface="Aptos"/>
              </a:rPr>
              <a:t> </a:t>
            </a:r>
            <a:r>
              <a:rPr sz="1400" b="0" dirty="0" err="1">
                <a:solidFill>
                  <a:srgbClr val="A4B3C9"/>
                </a:solidFill>
                <a:latin typeface="Aptos"/>
              </a:rPr>
              <a:t>diimplementasikan</a:t>
            </a:r>
            <a:r>
              <a:rPr sz="1400" b="0" dirty="0">
                <a:solidFill>
                  <a:srgbClr val="A4B3C9"/>
                </a:solidFill>
                <a:latin typeface="Aptos"/>
              </a:rPr>
              <a:t> </a:t>
            </a:r>
            <a:r>
              <a:rPr sz="1400" b="0" dirty="0" err="1">
                <a:solidFill>
                  <a:srgbClr val="A4B3C9"/>
                </a:solidFill>
                <a:latin typeface="Aptos"/>
              </a:rPr>
              <a:t>ke</a:t>
            </a:r>
            <a:r>
              <a:rPr sz="1400" b="0" dirty="0">
                <a:solidFill>
                  <a:srgbClr val="A4B3C9"/>
                </a:solidFill>
                <a:latin typeface="Aptos"/>
              </a:rPr>
              <a:t> dashboard </a:t>
            </a:r>
            <a:r>
              <a:rPr sz="1400" b="0" dirty="0" err="1">
                <a:solidFill>
                  <a:srgbClr val="A4B3C9"/>
                </a:solidFill>
                <a:latin typeface="Aptos"/>
              </a:rPr>
              <a:t>interaktif</a:t>
            </a:r>
            <a:r>
              <a:rPr sz="1400" b="0" dirty="0">
                <a:solidFill>
                  <a:srgbClr val="A4B3C9"/>
                </a:solidFill>
                <a:latin typeface="Aptos"/>
              </a:rPr>
              <a:t> </a:t>
            </a:r>
            <a:r>
              <a:rPr sz="1400" b="0" dirty="0" err="1">
                <a:solidFill>
                  <a:srgbClr val="A4B3C9"/>
                </a:solidFill>
                <a:latin typeface="Aptos"/>
              </a:rPr>
              <a:t>berbasis</a:t>
            </a:r>
            <a:r>
              <a:rPr sz="1400" b="0" dirty="0">
                <a:solidFill>
                  <a:srgbClr val="A4B3C9"/>
                </a:solidFill>
                <a:latin typeface="Aptos"/>
              </a:rPr>
              <a:t> </a:t>
            </a:r>
            <a:r>
              <a:rPr sz="1400" b="0" dirty="0" err="1">
                <a:solidFill>
                  <a:srgbClr val="A4B3C9"/>
                </a:solidFill>
                <a:latin typeface="Aptos"/>
              </a:rPr>
              <a:t>Streamlit</a:t>
            </a:r>
            <a:r>
              <a:rPr sz="1400" b="0" dirty="0">
                <a:solidFill>
                  <a:srgbClr val="A4B3C9"/>
                </a:solidFill>
                <a:latin typeface="Aptos"/>
              </a:rPr>
              <a:t>.</a:t>
            </a:r>
          </a:p>
        </p:txBody>
      </p:sp>
      <p:sp>
        <p:nvSpPr>
          <p:cNvPr id="14" name="TextBox 13"/>
          <p:cNvSpPr txBox="1"/>
          <p:nvPr/>
        </p:nvSpPr>
        <p:spPr>
          <a:xfrm>
            <a:off x="685800" y="4467687"/>
            <a:ext cx="790345" cy="270843"/>
          </a:xfrm>
          <a:prstGeom prst="rect">
            <a:avLst/>
          </a:prstGeom>
          <a:noFill/>
        </p:spPr>
        <p:txBody>
          <a:bodyPr wrap="none" lIns="27432" tIns="27432" rIns="27432" bIns="27432" anchor="t">
            <a:spAutoFit/>
          </a:bodyPr>
          <a:lstStyle/>
          <a:p>
            <a:pPr algn="l"/>
            <a:r>
              <a:rPr sz="1400" b="1" dirty="0">
                <a:solidFill>
                  <a:srgbClr val="FFB24B"/>
                </a:solidFill>
                <a:latin typeface="Aptos"/>
              </a:rPr>
              <a:t>CATATAN</a:t>
            </a:r>
          </a:p>
        </p:txBody>
      </p:sp>
      <p:sp>
        <p:nvSpPr>
          <p:cNvPr id="15" name="TextBox 14"/>
          <p:cNvSpPr txBox="1"/>
          <p:nvPr/>
        </p:nvSpPr>
        <p:spPr>
          <a:xfrm>
            <a:off x="685800" y="4698420"/>
            <a:ext cx="6389703" cy="547842"/>
          </a:xfrm>
          <a:prstGeom prst="rect">
            <a:avLst/>
          </a:prstGeom>
          <a:noFill/>
        </p:spPr>
        <p:txBody>
          <a:bodyPr wrap="square" lIns="27432" tIns="27432" rIns="27432" bIns="27432" anchor="t">
            <a:spAutoFit/>
          </a:bodyPr>
          <a:lstStyle/>
          <a:p>
            <a:pPr algn="l"/>
            <a:r>
              <a:rPr sz="1600" b="0" dirty="0">
                <a:solidFill>
                  <a:srgbClr val="A4B3C9"/>
                </a:solidFill>
                <a:latin typeface="Aptos"/>
              </a:rPr>
              <a:t>Research gap &amp; novelty di </a:t>
            </a:r>
            <a:r>
              <a:rPr sz="1600" b="0" dirty="0" err="1">
                <a:solidFill>
                  <a:srgbClr val="A4B3C9"/>
                </a:solidFill>
                <a:latin typeface="Aptos"/>
              </a:rPr>
              <a:t>atas</a:t>
            </a:r>
            <a:r>
              <a:rPr sz="1600" b="0" dirty="0">
                <a:solidFill>
                  <a:srgbClr val="A4B3C9"/>
                </a:solidFill>
                <a:latin typeface="Aptos"/>
              </a:rPr>
              <a:t> </a:t>
            </a:r>
            <a:r>
              <a:rPr sz="1600" b="0" dirty="0" err="1">
                <a:solidFill>
                  <a:srgbClr val="A4B3C9"/>
                </a:solidFill>
                <a:latin typeface="Aptos"/>
              </a:rPr>
              <a:t>adalah</a:t>
            </a:r>
            <a:r>
              <a:rPr sz="1600" b="0" dirty="0">
                <a:solidFill>
                  <a:srgbClr val="A4B3C9"/>
                </a:solidFill>
                <a:latin typeface="Aptos"/>
              </a:rPr>
              <a:t> </a:t>
            </a:r>
            <a:r>
              <a:rPr sz="1600" b="0" dirty="0" err="1">
                <a:solidFill>
                  <a:srgbClr val="A4B3C9"/>
                </a:solidFill>
                <a:latin typeface="Aptos"/>
              </a:rPr>
              <a:t>klaim</a:t>
            </a:r>
            <a:r>
              <a:rPr sz="1600" b="0" dirty="0">
                <a:solidFill>
                  <a:srgbClr val="A4B3C9"/>
                </a:solidFill>
                <a:latin typeface="Aptos"/>
              </a:rPr>
              <a:t> yang </a:t>
            </a:r>
            <a:r>
              <a:rPr sz="1600" b="0" dirty="0" err="1">
                <a:solidFill>
                  <a:srgbClr val="A4B3C9"/>
                </a:solidFill>
                <a:latin typeface="Aptos"/>
              </a:rPr>
              <a:t>dibuat</a:t>
            </a:r>
            <a:r>
              <a:rPr sz="1600" b="0" dirty="0">
                <a:solidFill>
                  <a:srgbClr val="A4B3C9"/>
                </a:solidFill>
                <a:latin typeface="Aptos"/>
              </a:rPr>
              <a:t> oleh </a:t>
            </a:r>
            <a:r>
              <a:rPr sz="1600" b="0" dirty="0" err="1">
                <a:solidFill>
                  <a:srgbClr val="A4B3C9"/>
                </a:solidFill>
                <a:latin typeface="Aptos"/>
              </a:rPr>
              <a:t>penulis</a:t>
            </a:r>
            <a:r>
              <a:rPr sz="1600" b="0" dirty="0">
                <a:solidFill>
                  <a:srgbClr val="A4B3C9"/>
                </a:solidFill>
                <a:latin typeface="Aptos"/>
              </a:rPr>
              <a:t> paper; </a:t>
            </a:r>
            <a:r>
              <a:rPr sz="1600" b="0" dirty="0" err="1">
                <a:solidFill>
                  <a:srgbClr val="A4B3C9"/>
                </a:solidFill>
                <a:latin typeface="Aptos"/>
              </a:rPr>
              <a:t>bukan</a:t>
            </a:r>
            <a:r>
              <a:rPr sz="1600" b="0" dirty="0">
                <a:solidFill>
                  <a:srgbClr val="A4B3C9"/>
                </a:solidFill>
                <a:latin typeface="Aptos"/>
              </a:rPr>
              <a:t> </a:t>
            </a:r>
            <a:r>
              <a:rPr lang="en-ID" sz="1600" b="0" dirty="0">
                <a:solidFill>
                  <a:srgbClr val="A4B3C9"/>
                </a:solidFill>
                <a:latin typeface="Aptos"/>
              </a:rPr>
              <a:t>K</a:t>
            </a:r>
            <a:r>
              <a:rPr sz="1600" b="0" dirty="0" err="1">
                <a:solidFill>
                  <a:srgbClr val="A4B3C9"/>
                </a:solidFill>
                <a:latin typeface="Aptos"/>
              </a:rPr>
              <a:t>esimpulan</a:t>
            </a:r>
            <a:r>
              <a:rPr lang="en-US" sz="1600" b="0" dirty="0">
                <a:solidFill>
                  <a:srgbClr val="A4B3C9"/>
                </a:solidFill>
                <a:latin typeface="Aptos"/>
              </a:rPr>
              <a:t> </a:t>
            </a:r>
            <a:r>
              <a:rPr lang="en-US" sz="1600" b="0" dirty="0" err="1">
                <a:solidFill>
                  <a:srgbClr val="A4B3C9"/>
                </a:solidFill>
                <a:latin typeface="Aptos"/>
              </a:rPr>
              <a:t>diri</a:t>
            </a:r>
            <a:r>
              <a:rPr lang="en-US" sz="1600" b="0" dirty="0">
                <a:solidFill>
                  <a:srgbClr val="A4B3C9"/>
                </a:solidFill>
                <a:latin typeface="Aptos"/>
              </a:rPr>
              <a:t> </a:t>
            </a:r>
            <a:r>
              <a:rPr lang="en-US" sz="1600" b="0" dirty="0" err="1">
                <a:solidFill>
                  <a:srgbClr val="A4B3C9"/>
                </a:solidFill>
                <a:latin typeface="Aptos"/>
              </a:rPr>
              <a:t>sendiri</a:t>
            </a:r>
            <a:r>
              <a:rPr sz="1600" b="0" dirty="0">
                <a:solidFill>
                  <a:srgbClr val="A4B3C9"/>
                </a:solidFill>
                <a:latin typeface="Aptos"/>
              </a:rPr>
              <a:t> </a:t>
            </a:r>
            <a:r>
              <a:rPr sz="1600" b="0" dirty="0" err="1">
                <a:solidFill>
                  <a:srgbClr val="A4B3C9"/>
                </a:solidFill>
                <a:latin typeface="Aptos"/>
              </a:rPr>
              <a:t>bahwa</a:t>
            </a:r>
            <a:r>
              <a:rPr sz="1600" b="0" dirty="0">
                <a:solidFill>
                  <a:srgbClr val="A4B3C9"/>
                </a:solidFill>
                <a:latin typeface="Aptos"/>
              </a:rPr>
              <a:t> </a:t>
            </a:r>
            <a:r>
              <a:rPr sz="1600" b="0" dirty="0" err="1">
                <a:solidFill>
                  <a:srgbClr val="A4B3C9"/>
                </a:solidFill>
                <a:latin typeface="Aptos"/>
              </a:rPr>
              <a:t>tidak</a:t>
            </a:r>
            <a:r>
              <a:rPr sz="1600" b="0" dirty="0">
                <a:solidFill>
                  <a:srgbClr val="A4B3C9"/>
                </a:solidFill>
                <a:latin typeface="Aptos"/>
              </a:rPr>
              <a:t> </a:t>
            </a:r>
            <a:r>
              <a:rPr sz="1600" b="0" dirty="0" err="1">
                <a:solidFill>
                  <a:srgbClr val="A4B3C9"/>
                </a:solidFill>
                <a:latin typeface="Aptos"/>
              </a:rPr>
              <a:t>ada</a:t>
            </a:r>
            <a:r>
              <a:rPr sz="1600" b="0" dirty="0">
                <a:solidFill>
                  <a:srgbClr val="A4B3C9"/>
                </a:solidFill>
                <a:latin typeface="Aptos"/>
              </a:rPr>
              <a:t> </a:t>
            </a:r>
            <a:r>
              <a:rPr sz="1600" b="0" dirty="0" err="1">
                <a:solidFill>
                  <a:srgbClr val="A4B3C9"/>
                </a:solidFill>
                <a:latin typeface="Aptos"/>
              </a:rPr>
              <a:t>studi</a:t>
            </a:r>
            <a:r>
              <a:rPr sz="1600" b="0" dirty="0">
                <a:solidFill>
                  <a:srgbClr val="A4B3C9"/>
                </a:solidFill>
                <a:latin typeface="Aptos"/>
              </a:rPr>
              <a:t> </a:t>
            </a:r>
            <a:r>
              <a:rPr sz="1600" b="0" dirty="0" err="1">
                <a:solidFill>
                  <a:srgbClr val="A4B3C9"/>
                </a:solidFill>
                <a:latin typeface="Aptos"/>
              </a:rPr>
              <a:t>serupa</a:t>
            </a:r>
            <a:r>
              <a:rPr sz="1600" b="0" dirty="0">
                <a:solidFill>
                  <a:srgbClr val="A4B3C9"/>
                </a:solidFill>
                <a:latin typeface="Aptos"/>
              </a:rPr>
              <a:t>.</a:t>
            </a:r>
          </a:p>
        </p:txBody>
      </p:sp>
      <p:sp>
        <p:nvSpPr>
          <p:cNvPr id="16" name="TextBox 15"/>
          <p:cNvSpPr txBox="1"/>
          <p:nvPr/>
        </p:nvSpPr>
        <p:spPr>
          <a:xfrm>
            <a:off x="640080" y="6510528"/>
            <a:ext cx="4572000" cy="164592"/>
          </a:xfrm>
          <a:prstGeom prst="rect">
            <a:avLst/>
          </a:prstGeom>
          <a:noFill/>
        </p:spPr>
        <p:txBody>
          <a:bodyPr wrap="none" lIns="27432" tIns="27432" rIns="27432" bIns="27432" anchor="t">
            <a:spAutoFit/>
          </a:bodyPr>
          <a:lstStyle/>
          <a:p>
            <a:pPr algn="l"/>
            <a:r>
              <a:rPr sz="800" b="0">
                <a:solidFill>
                  <a:srgbClr val="A4B3C9"/>
                </a:solidFill>
                <a:latin typeface="Aptos"/>
              </a:rPr>
              <a:t>Bedah Paper • Metode Peramalan Deret Waktu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4572000" cy="274320"/>
          </a:xfrm>
          <a:prstGeom prst="rect">
            <a:avLst/>
          </a:prstGeom>
          <a:noFill/>
        </p:spPr>
        <p:txBody>
          <a:bodyPr wrap="none" lIns="27432" tIns="27432" rIns="27432" bIns="27432" anchor="t">
            <a:spAutoFit/>
          </a:bodyPr>
          <a:lstStyle/>
          <a:p>
            <a:pPr algn="l"/>
            <a:r>
              <a:rPr sz="1000" b="1">
                <a:solidFill>
                  <a:srgbClr val="3DD6E2"/>
                </a:solidFill>
                <a:latin typeface="Aptos"/>
              </a:rPr>
              <a:t>05  •  TUJUAN PENELITIAN</a:t>
            </a:r>
          </a:p>
        </p:txBody>
      </p:sp>
      <p:sp>
        <p:nvSpPr>
          <p:cNvPr id="3" name="TextBox 2"/>
          <p:cNvSpPr txBox="1"/>
          <p:nvPr/>
        </p:nvSpPr>
        <p:spPr>
          <a:xfrm>
            <a:off x="621792" y="667512"/>
            <a:ext cx="10698480" cy="502920"/>
          </a:xfrm>
          <a:prstGeom prst="rect">
            <a:avLst/>
          </a:prstGeom>
          <a:noFill/>
        </p:spPr>
        <p:txBody>
          <a:bodyPr wrap="none" lIns="27432" tIns="27432" rIns="27432" bIns="27432" anchor="t">
            <a:spAutoFit/>
          </a:bodyPr>
          <a:lstStyle/>
          <a:p>
            <a:pPr algn="l"/>
            <a:r>
              <a:rPr sz="2800" b="1">
                <a:solidFill>
                  <a:srgbClr val="F5F8FC"/>
                </a:solidFill>
                <a:latin typeface="Aptos"/>
              </a:rPr>
              <a:t>Tiga tujuan utama</a:t>
            </a:r>
          </a:p>
        </p:txBody>
      </p:sp>
      <p:sp>
        <p:nvSpPr>
          <p:cNvPr id="4" name="TextBox 3"/>
          <p:cNvSpPr txBox="1"/>
          <p:nvPr/>
        </p:nvSpPr>
        <p:spPr>
          <a:xfrm>
            <a:off x="640080" y="1197864"/>
            <a:ext cx="10607040" cy="365760"/>
          </a:xfrm>
          <a:prstGeom prst="rect">
            <a:avLst/>
          </a:prstGeom>
          <a:noFill/>
        </p:spPr>
        <p:txBody>
          <a:bodyPr wrap="none" lIns="27432" tIns="27432" rIns="27432" bIns="27432" anchor="t">
            <a:spAutoFit/>
          </a:bodyPr>
          <a:lstStyle/>
          <a:p>
            <a:pPr algn="l"/>
            <a:r>
              <a:rPr sz="1150" b="0">
                <a:solidFill>
                  <a:srgbClr val="A4B3C9"/>
                </a:solidFill>
                <a:latin typeface="Aptos"/>
              </a:rPr>
              <a:t>Apa yang ingin dicapai penelitian</a:t>
            </a:r>
          </a:p>
        </p:txBody>
      </p:sp>
      <p:sp>
        <p:nvSpPr>
          <p:cNvPr id="5" name="TextBox 4"/>
          <p:cNvSpPr txBox="1"/>
          <p:nvPr/>
        </p:nvSpPr>
        <p:spPr>
          <a:xfrm>
            <a:off x="11018520" y="320040"/>
            <a:ext cx="548640" cy="274320"/>
          </a:xfrm>
          <a:prstGeom prst="rect">
            <a:avLst/>
          </a:prstGeom>
          <a:noFill/>
        </p:spPr>
        <p:txBody>
          <a:bodyPr wrap="none" lIns="27432" tIns="27432" rIns="27432" bIns="27432" anchor="t">
            <a:spAutoFit/>
          </a:bodyPr>
          <a:lstStyle/>
          <a:p>
            <a:pPr algn="r"/>
            <a:r>
              <a:rPr sz="1000" b="1">
                <a:solidFill>
                  <a:srgbClr val="A4B3C9"/>
                </a:solidFill>
                <a:latin typeface="Aptos"/>
              </a:rPr>
              <a:t>05</a:t>
            </a:r>
          </a:p>
        </p:txBody>
      </p:sp>
      <p:sp>
        <p:nvSpPr>
          <p:cNvPr id="6" name="Rounded Rectangle 5"/>
          <p:cNvSpPr/>
          <p:nvPr/>
        </p:nvSpPr>
        <p:spPr>
          <a:xfrm>
            <a:off x="685800" y="1874519"/>
            <a:ext cx="3401568" cy="278892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121408"/>
            <a:ext cx="494623" cy="547842"/>
          </a:xfrm>
          <a:prstGeom prst="rect">
            <a:avLst/>
          </a:prstGeom>
          <a:noFill/>
        </p:spPr>
        <p:txBody>
          <a:bodyPr wrap="none" lIns="27432" tIns="27432" rIns="27432" bIns="27432" anchor="t">
            <a:spAutoFit/>
          </a:bodyPr>
          <a:lstStyle/>
          <a:p>
            <a:pPr algn="l"/>
            <a:r>
              <a:rPr sz="3200" b="1" dirty="0">
                <a:solidFill>
                  <a:srgbClr val="3DD6E2"/>
                </a:solidFill>
                <a:latin typeface="Aptos"/>
              </a:rPr>
              <a:t>01</a:t>
            </a:r>
          </a:p>
        </p:txBody>
      </p:sp>
      <p:sp>
        <p:nvSpPr>
          <p:cNvPr id="8" name="TextBox 7"/>
          <p:cNvSpPr txBox="1"/>
          <p:nvPr/>
        </p:nvSpPr>
        <p:spPr>
          <a:xfrm>
            <a:off x="914400" y="2761488"/>
            <a:ext cx="2003112" cy="332399"/>
          </a:xfrm>
          <a:prstGeom prst="rect">
            <a:avLst/>
          </a:prstGeom>
          <a:noFill/>
        </p:spPr>
        <p:txBody>
          <a:bodyPr wrap="none" lIns="27432" tIns="27432" rIns="27432" bIns="27432" anchor="t">
            <a:spAutoFit/>
          </a:bodyPr>
          <a:lstStyle/>
          <a:p>
            <a:pPr algn="l"/>
            <a:r>
              <a:rPr b="1" dirty="0" err="1">
                <a:solidFill>
                  <a:srgbClr val="F5F8FC"/>
                </a:solidFill>
                <a:latin typeface="Aptos"/>
              </a:rPr>
              <a:t>Bandingkan</a:t>
            </a:r>
            <a:r>
              <a:rPr b="1" dirty="0">
                <a:solidFill>
                  <a:srgbClr val="F5F8FC"/>
                </a:solidFill>
                <a:latin typeface="Aptos"/>
              </a:rPr>
              <a:t> model</a:t>
            </a:r>
          </a:p>
        </p:txBody>
      </p:sp>
      <p:sp>
        <p:nvSpPr>
          <p:cNvPr id="9" name="TextBox 8"/>
          <p:cNvSpPr txBox="1"/>
          <p:nvPr/>
        </p:nvSpPr>
        <p:spPr>
          <a:xfrm>
            <a:off x="914400" y="3310128"/>
            <a:ext cx="2938509" cy="609398"/>
          </a:xfrm>
          <a:prstGeom prst="rect">
            <a:avLst/>
          </a:prstGeom>
          <a:noFill/>
        </p:spPr>
        <p:txBody>
          <a:bodyPr wrap="square" lIns="27432" tIns="27432" rIns="27432" bIns="27432" anchor="t">
            <a:spAutoFit/>
          </a:bodyPr>
          <a:lstStyle/>
          <a:p>
            <a:pPr algn="l"/>
            <a:r>
              <a:rPr b="0" dirty="0" err="1">
                <a:solidFill>
                  <a:srgbClr val="A4B3C9"/>
                </a:solidFill>
                <a:latin typeface="Aptos"/>
              </a:rPr>
              <a:t>Membandingkan</a:t>
            </a:r>
            <a:r>
              <a:rPr b="0" dirty="0">
                <a:solidFill>
                  <a:srgbClr val="A4B3C9"/>
                </a:solidFill>
                <a:latin typeface="Aptos"/>
              </a:rPr>
              <a:t> </a:t>
            </a:r>
            <a:r>
              <a:rPr b="0" dirty="0" err="1">
                <a:solidFill>
                  <a:srgbClr val="A4B3C9"/>
                </a:solidFill>
                <a:latin typeface="Aptos"/>
              </a:rPr>
              <a:t>performa</a:t>
            </a:r>
            <a:r>
              <a:rPr b="0" dirty="0">
                <a:solidFill>
                  <a:srgbClr val="A4B3C9"/>
                </a:solidFill>
                <a:latin typeface="Aptos"/>
              </a:rPr>
              <a:t> ARIMA, LSTM, dan GRU.</a:t>
            </a:r>
          </a:p>
        </p:txBody>
      </p:sp>
      <p:sp>
        <p:nvSpPr>
          <p:cNvPr id="10" name="Rounded Rectangle 9"/>
          <p:cNvSpPr/>
          <p:nvPr/>
        </p:nvSpPr>
        <p:spPr>
          <a:xfrm>
            <a:off x="4453128" y="1874519"/>
            <a:ext cx="3401568" cy="278892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81728" y="2121408"/>
            <a:ext cx="494623" cy="547842"/>
          </a:xfrm>
          <a:prstGeom prst="rect">
            <a:avLst/>
          </a:prstGeom>
          <a:noFill/>
        </p:spPr>
        <p:txBody>
          <a:bodyPr wrap="none" lIns="27432" tIns="27432" rIns="27432" bIns="27432" anchor="t">
            <a:spAutoFit/>
          </a:bodyPr>
          <a:lstStyle/>
          <a:p>
            <a:pPr algn="l"/>
            <a:r>
              <a:rPr sz="3200" b="1">
                <a:solidFill>
                  <a:srgbClr val="8F6FFF"/>
                </a:solidFill>
                <a:latin typeface="Aptos"/>
              </a:rPr>
              <a:t>02</a:t>
            </a:r>
          </a:p>
        </p:txBody>
      </p:sp>
      <p:sp>
        <p:nvSpPr>
          <p:cNvPr id="12" name="TextBox 11"/>
          <p:cNvSpPr txBox="1"/>
          <p:nvPr/>
        </p:nvSpPr>
        <p:spPr>
          <a:xfrm>
            <a:off x="4681728" y="2761488"/>
            <a:ext cx="1728165" cy="332399"/>
          </a:xfrm>
          <a:prstGeom prst="rect">
            <a:avLst/>
          </a:prstGeom>
          <a:noFill/>
        </p:spPr>
        <p:txBody>
          <a:bodyPr wrap="none" lIns="27432" tIns="27432" rIns="27432" bIns="27432" anchor="t">
            <a:spAutoFit/>
          </a:bodyPr>
          <a:lstStyle/>
          <a:p>
            <a:pPr algn="l"/>
            <a:r>
              <a:rPr b="1" dirty="0" err="1">
                <a:solidFill>
                  <a:srgbClr val="F5F8FC"/>
                </a:solidFill>
                <a:latin typeface="Aptos"/>
              </a:rPr>
              <a:t>Tentukan</a:t>
            </a:r>
            <a:r>
              <a:rPr b="1" dirty="0">
                <a:solidFill>
                  <a:srgbClr val="F5F8FC"/>
                </a:solidFill>
                <a:latin typeface="Aptos"/>
              </a:rPr>
              <a:t> model</a:t>
            </a:r>
          </a:p>
        </p:txBody>
      </p:sp>
      <p:sp>
        <p:nvSpPr>
          <p:cNvPr id="13" name="TextBox 12"/>
          <p:cNvSpPr txBox="1"/>
          <p:nvPr/>
        </p:nvSpPr>
        <p:spPr>
          <a:xfrm>
            <a:off x="4681729" y="3310128"/>
            <a:ext cx="2961946" cy="609398"/>
          </a:xfrm>
          <a:prstGeom prst="rect">
            <a:avLst/>
          </a:prstGeom>
          <a:noFill/>
        </p:spPr>
        <p:txBody>
          <a:bodyPr wrap="square" lIns="27432" tIns="27432" rIns="27432" bIns="27432" anchor="t">
            <a:spAutoFit/>
          </a:bodyPr>
          <a:lstStyle/>
          <a:p>
            <a:pPr algn="l"/>
            <a:r>
              <a:rPr b="0" dirty="0" err="1">
                <a:solidFill>
                  <a:srgbClr val="A4B3C9"/>
                </a:solidFill>
                <a:latin typeface="Aptos"/>
              </a:rPr>
              <a:t>Menentukan</a:t>
            </a:r>
            <a:r>
              <a:rPr b="0" dirty="0">
                <a:solidFill>
                  <a:srgbClr val="A4B3C9"/>
                </a:solidFill>
                <a:latin typeface="Aptos"/>
              </a:rPr>
              <a:t> model </a:t>
            </a:r>
            <a:r>
              <a:rPr b="0" dirty="0" err="1">
                <a:solidFill>
                  <a:srgbClr val="A4B3C9"/>
                </a:solidFill>
                <a:latin typeface="Aptos"/>
              </a:rPr>
              <a:t>dengan</a:t>
            </a:r>
            <a:r>
              <a:rPr b="0" dirty="0">
                <a:solidFill>
                  <a:srgbClr val="A4B3C9"/>
                </a:solidFill>
                <a:latin typeface="Aptos"/>
              </a:rPr>
              <a:t> </a:t>
            </a:r>
            <a:r>
              <a:rPr b="0" dirty="0" err="1">
                <a:solidFill>
                  <a:srgbClr val="A4B3C9"/>
                </a:solidFill>
                <a:latin typeface="Aptos"/>
              </a:rPr>
              <a:t>performa</a:t>
            </a:r>
            <a:r>
              <a:rPr b="0" dirty="0">
                <a:solidFill>
                  <a:srgbClr val="A4B3C9"/>
                </a:solidFill>
                <a:latin typeface="Aptos"/>
              </a:rPr>
              <a:t> forecasting </a:t>
            </a:r>
            <a:r>
              <a:rPr b="0" dirty="0" err="1">
                <a:solidFill>
                  <a:srgbClr val="A4B3C9"/>
                </a:solidFill>
                <a:latin typeface="Aptos"/>
              </a:rPr>
              <a:t>terbaik</a:t>
            </a:r>
            <a:r>
              <a:rPr b="0" dirty="0">
                <a:solidFill>
                  <a:srgbClr val="A4B3C9"/>
                </a:solidFill>
                <a:latin typeface="Aptos"/>
              </a:rPr>
              <a:t>.</a:t>
            </a:r>
          </a:p>
        </p:txBody>
      </p:sp>
      <p:sp>
        <p:nvSpPr>
          <p:cNvPr id="14" name="Rounded Rectangle 13"/>
          <p:cNvSpPr/>
          <p:nvPr/>
        </p:nvSpPr>
        <p:spPr>
          <a:xfrm>
            <a:off x="8220456" y="1874519"/>
            <a:ext cx="3401568" cy="278892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49056" y="2121408"/>
            <a:ext cx="494623" cy="547842"/>
          </a:xfrm>
          <a:prstGeom prst="rect">
            <a:avLst/>
          </a:prstGeom>
          <a:noFill/>
        </p:spPr>
        <p:txBody>
          <a:bodyPr wrap="none" lIns="27432" tIns="27432" rIns="27432" bIns="27432" anchor="t">
            <a:spAutoFit/>
          </a:bodyPr>
          <a:lstStyle/>
          <a:p>
            <a:pPr algn="l"/>
            <a:r>
              <a:rPr sz="3200" b="1" dirty="0">
                <a:solidFill>
                  <a:srgbClr val="43DA99"/>
                </a:solidFill>
                <a:latin typeface="Aptos"/>
              </a:rPr>
              <a:t>03</a:t>
            </a:r>
          </a:p>
        </p:txBody>
      </p:sp>
      <p:sp>
        <p:nvSpPr>
          <p:cNvPr id="16" name="TextBox 15"/>
          <p:cNvSpPr txBox="1"/>
          <p:nvPr/>
        </p:nvSpPr>
        <p:spPr>
          <a:xfrm>
            <a:off x="8449056" y="2761488"/>
            <a:ext cx="1895391" cy="332399"/>
          </a:xfrm>
          <a:prstGeom prst="rect">
            <a:avLst/>
          </a:prstGeom>
          <a:noFill/>
        </p:spPr>
        <p:txBody>
          <a:bodyPr wrap="none" lIns="27432" tIns="27432" rIns="27432" bIns="27432" anchor="t">
            <a:spAutoFit/>
          </a:bodyPr>
          <a:lstStyle/>
          <a:p>
            <a:pPr algn="l"/>
            <a:r>
              <a:rPr b="1">
                <a:solidFill>
                  <a:srgbClr val="F5F8FC"/>
                </a:solidFill>
                <a:latin typeface="Aptos"/>
              </a:rPr>
              <a:t>Implementasikan</a:t>
            </a:r>
          </a:p>
        </p:txBody>
      </p:sp>
      <p:sp>
        <p:nvSpPr>
          <p:cNvPr id="17" name="TextBox 16"/>
          <p:cNvSpPr txBox="1"/>
          <p:nvPr/>
        </p:nvSpPr>
        <p:spPr>
          <a:xfrm>
            <a:off x="8449056" y="3310128"/>
            <a:ext cx="2949872" cy="886397"/>
          </a:xfrm>
          <a:prstGeom prst="rect">
            <a:avLst/>
          </a:prstGeom>
          <a:noFill/>
        </p:spPr>
        <p:txBody>
          <a:bodyPr wrap="square" lIns="27432" tIns="27432" rIns="27432" bIns="27432" anchor="t">
            <a:spAutoFit/>
          </a:bodyPr>
          <a:lstStyle/>
          <a:p>
            <a:pPr algn="l"/>
            <a:r>
              <a:rPr b="0">
                <a:solidFill>
                  <a:srgbClr val="A4B3C9"/>
                </a:solidFill>
                <a:latin typeface="Aptos"/>
              </a:rPr>
              <a:t>Mengimplementasikan model terbaik ke dashboard interaktif Streamlit.</a:t>
            </a:r>
          </a:p>
        </p:txBody>
      </p:sp>
      <p:sp>
        <p:nvSpPr>
          <p:cNvPr id="18" name="TextBox 17"/>
          <p:cNvSpPr txBox="1"/>
          <p:nvPr/>
        </p:nvSpPr>
        <p:spPr>
          <a:xfrm>
            <a:off x="640080" y="6510528"/>
            <a:ext cx="4572000" cy="164592"/>
          </a:xfrm>
          <a:prstGeom prst="rect">
            <a:avLst/>
          </a:prstGeom>
          <a:noFill/>
        </p:spPr>
        <p:txBody>
          <a:bodyPr wrap="none" lIns="27432" tIns="27432" rIns="27432" bIns="27432" anchor="t">
            <a:spAutoFit/>
          </a:bodyPr>
          <a:lstStyle/>
          <a:p>
            <a:pPr algn="l"/>
            <a:r>
              <a:rPr sz="800" b="0">
                <a:solidFill>
                  <a:srgbClr val="A4B3C9"/>
                </a:solidFill>
                <a:latin typeface="Aptos"/>
              </a:rPr>
              <a:t>Bedah Paper • Metode Peramalan Deret Waktu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4572000" cy="274320"/>
          </a:xfrm>
          <a:prstGeom prst="rect">
            <a:avLst/>
          </a:prstGeom>
          <a:noFill/>
        </p:spPr>
        <p:txBody>
          <a:bodyPr wrap="none" lIns="27432" tIns="27432" rIns="27432" bIns="27432" anchor="t">
            <a:spAutoFit/>
          </a:bodyPr>
          <a:lstStyle/>
          <a:p>
            <a:pPr algn="l"/>
            <a:r>
              <a:rPr sz="1000" b="1">
                <a:solidFill>
                  <a:srgbClr val="3DD6E2"/>
                </a:solidFill>
                <a:latin typeface="Aptos"/>
              </a:rPr>
              <a:t>06  •  DATA</a:t>
            </a:r>
          </a:p>
        </p:txBody>
      </p:sp>
      <p:sp>
        <p:nvSpPr>
          <p:cNvPr id="3" name="TextBox 2"/>
          <p:cNvSpPr txBox="1"/>
          <p:nvPr/>
        </p:nvSpPr>
        <p:spPr>
          <a:xfrm>
            <a:off x="621792" y="667512"/>
            <a:ext cx="10698480" cy="502920"/>
          </a:xfrm>
          <a:prstGeom prst="rect">
            <a:avLst/>
          </a:prstGeom>
          <a:noFill/>
        </p:spPr>
        <p:txBody>
          <a:bodyPr wrap="none" lIns="27432" tIns="27432" rIns="27432" bIns="27432" anchor="t">
            <a:spAutoFit/>
          </a:bodyPr>
          <a:lstStyle/>
          <a:p>
            <a:pPr algn="l"/>
            <a:r>
              <a:rPr sz="2800" b="1">
                <a:solidFill>
                  <a:srgbClr val="F5F8FC"/>
                </a:solidFill>
                <a:latin typeface="Aptos"/>
              </a:rPr>
              <a:t>Dataset &amp; pembagian data</a:t>
            </a:r>
          </a:p>
        </p:txBody>
      </p:sp>
      <p:sp>
        <p:nvSpPr>
          <p:cNvPr id="4" name="TextBox 3"/>
          <p:cNvSpPr txBox="1"/>
          <p:nvPr/>
        </p:nvSpPr>
        <p:spPr>
          <a:xfrm>
            <a:off x="640080" y="1197864"/>
            <a:ext cx="10607040" cy="365760"/>
          </a:xfrm>
          <a:prstGeom prst="rect">
            <a:avLst/>
          </a:prstGeom>
          <a:noFill/>
        </p:spPr>
        <p:txBody>
          <a:bodyPr wrap="none" lIns="27432" tIns="27432" rIns="27432" bIns="27432" anchor="t">
            <a:spAutoFit/>
          </a:bodyPr>
          <a:lstStyle/>
          <a:p>
            <a:pPr algn="l"/>
            <a:r>
              <a:rPr sz="1150" b="0">
                <a:solidFill>
                  <a:srgbClr val="A4B3C9"/>
                </a:solidFill>
                <a:latin typeface="Aptos"/>
              </a:rPr>
              <a:t>Sumber, periode, variabel, dan train-test split</a:t>
            </a:r>
          </a:p>
        </p:txBody>
      </p:sp>
      <p:sp>
        <p:nvSpPr>
          <p:cNvPr id="5" name="TextBox 4"/>
          <p:cNvSpPr txBox="1"/>
          <p:nvPr/>
        </p:nvSpPr>
        <p:spPr>
          <a:xfrm>
            <a:off x="11018520" y="320040"/>
            <a:ext cx="548640" cy="274320"/>
          </a:xfrm>
          <a:prstGeom prst="rect">
            <a:avLst/>
          </a:prstGeom>
          <a:noFill/>
        </p:spPr>
        <p:txBody>
          <a:bodyPr wrap="none" lIns="27432" tIns="27432" rIns="27432" bIns="27432" anchor="t">
            <a:spAutoFit/>
          </a:bodyPr>
          <a:lstStyle/>
          <a:p>
            <a:pPr algn="r"/>
            <a:r>
              <a:rPr sz="1000" b="1">
                <a:solidFill>
                  <a:srgbClr val="A4B3C9"/>
                </a:solidFill>
                <a:latin typeface="Aptos"/>
              </a:rPr>
              <a:t>06</a:t>
            </a:r>
          </a:p>
        </p:txBody>
      </p:sp>
      <p:sp>
        <p:nvSpPr>
          <p:cNvPr id="6" name="Rounded Rectangle 5"/>
          <p:cNvSpPr/>
          <p:nvPr/>
        </p:nvSpPr>
        <p:spPr>
          <a:xfrm>
            <a:off x="658368" y="1719072"/>
            <a:ext cx="5138928" cy="71323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1837943"/>
            <a:ext cx="560346" cy="224677"/>
          </a:xfrm>
          <a:prstGeom prst="rect">
            <a:avLst/>
          </a:prstGeom>
          <a:noFill/>
        </p:spPr>
        <p:txBody>
          <a:bodyPr wrap="none" lIns="27432" tIns="27432" rIns="27432" bIns="27432" anchor="t">
            <a:spAutoFit/>
          </a:bodyPr>
          <a:lstStyle/>
          <a:p>
            <a:pPr algn="l"/>
            <a:r>
              <a:rPr sz="1100" b="1" dirty="0" err="1">
                <a:solidFill>
                  <a:srgbClr val="3DD6E2"/>
                </a:solidFill>
                <a:latin typeface="Aptos"/>
              </a:rPr>
              <a:t>Sumber</a:t>
            </a:r>
            <a:endParaRPr sz="1100" b="1" dirty="0">
              <a:solidFill>
                <a:srgbClr val="3DD6E2"/>
              </a:solidFill>
              <a:latin typeface="Aptos"/>
            </a:endParaRPr>
          </a:p>
        </p:txBody>
      </p:sp>
      <p:sp>
        <p:nvSpPr>
          <p:cNvPr id="8" name="TextBox 7"/>
          <p:cNvSpPr txBox="1"/>
          <p:nvPr/>
        </p:nvSpPr>
        <p:spPr>
          <a:xfrm>
            <a:off x="2322575" y="1810512"/>
            <a:ext cx="1688707" cy="301621"/>
          </a:xfrm>
          <a:prstGeom prst="rect">
            <a:avLst/>
          </a:prstGeom>
          <a:noFill/>
        </p:spPr>
        <p:txBody>
          <a:bodyPr wrap="square" lIns="27432" tIns="27432" rIns="27432" bIns="27432" anchor="t">
            <a:spAutoFit/>
          </a:bodyPr>
          <a:lstStyle/>
          <a:p>
            <a:pPr algn="l"/>
            <a:r>
              <a:rPr sz="1600" b="1" dirty="0" err="1">
                <a:solidFill>
                  <a:srgbClr val="F5F8FC"/>
                </a:solidFill>
                <a:latin typeface="Aptos"/>
              </a:rPr>
              <a:t>CoinMarketCap</a:t>
            </a:r>
            <a:endParaRPr sz="1600" b="1" dirty="0">
              <a:solidFill>
                <a:srgbClr val="F5F8FC"/>
              </a:solidFill>
              <a:latin typeface="Aptos"/>
            </a:endParaRPr>
          </a:p>
        </p:txBody>
      </p:sp>
      <p:sp>
        <p:nvSpPr>
          <p:cNvPr id="9" name="Rounded Rectangle 8"/>
          <p:cNvSpPr/>
          <p:nvPr/>
        </p:nvSpPr>
        <p:spPr>
          <a:xfrm>
            <a:off x="6163055" y="1719072"/>
            <a:ext cx="5138928" cy="71323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27647" y="1837943"/>
            <a:ext cx="550728" cy="224677"/>
          </a:xfrm>
          <a:prstGeom prst="rect">
            <a:avLst/>
          </a:prstGeom>
          <a:noFill/>
        </p:spPr>
        <p:txBody>
          <a:bodyPr wrap="none" lIns="27432" tIns="27432" rIns="27432" bIns="27432" anchor="t">
            <a:spAutoFit/>
          </a:bodyPr>
          <a:lstStyle/>
          <a:p>
            <a:pPr algn="l"/>
            <a:r>
              <a:rPr sz="1100" b="1">
                <a:solidFill>
                  <a:srgbClr val="3DD6E2"/>
                </a:solidFill>
                <a:latin typeface="Aptos"/>
              </a:rPr>
              <a:t>Periode</a:t>
            </a:r>
          </a:p>
        </p:txBody>
      </p:sp>
      <p:sp>
        <p:nvSpPr>
          <p:cNvPr id="11" name="TextBox 10"/>
          <p:cNvSpPr txBox="1"/>
          <p:nvPr/>
        </p:nvSpPr>
        <p:spPr>
          <a:xfrm>
            <a:off x="7827262" y="1810512"/>
            <a:ext cx="2602073" cy="301621"/>
          </a:xfrm>
          <a:prstGeom prst="rect">
            <a:avLst/>
          </a:prstGeom>
          <a:noFill/>
        </p:spPr>
        <p:txBody>
          <a:bodyPr wrap="square" lIns="27432" tIns="27432" rIns="27432" bIns="27432" anchor="t">
            <a:spAutoFit/>
          </a:bodyPr>
          <a:lstStyle/>
          <a:p>
            <a:pPr algn="l"/>
            <a:r>
              <a:rPr sz="1600" b="1" dirty="0">
                <a:solidFill>
                  <a:srgbClr val="F5F8FC"/>
                </a:solidFill>
                <a:latin typeface="Aptos"/>
              </a:rPr>
              <a:t>1 Jan 2020 – 8 Mei 2026</a:t>
            </a:r>
          </a:p>
        </p:txBody>
      </p:sp>
      <p:sp>
        <p:nvSpPr>
          <p:cNvPr id="12" name="Rounded Rectangle 11"/>
          <p:cNvSpPr/>
          <p:nvPr/>
        </p:nvSpPr>
        <p:spPr>
          <a:xfrm>
            <a:off x="658368" y="2587752"/>
            <a:ext cx="5138928" cy="71323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59" y="2706624"/>
            <a:ext cx="688586" cy="224677"/>
          </a:xfrm>
          <a:prstGeom prst="rect">
            <a:avLst/>
          </a:prstGeom>
          <a:noFill/>
        </p:spPr>
        <p:txBody>
          <a:bodyPr wrap="none" lIns="27432" tIns="27432" rIns="27432" bIns="27432" anchor="t">
            <a:spAutoFit/>
          </a:bodyPr>
          <a:lstStyle/>
          <a:p>
            <a:pPr algn="l"/>
            <a:r>
              <a:rPr sz="1100" b="1">
                <a:solidFill>
                  <a:srgbClr val="3DD6E2"/>
                </a:solidFill>
                <a:latin typeface="Aptos"/>
              </a:rPr>
              <a:t>Frekuensi</a:t>
            </a:r>
          </a:p>
        </p:txBody>
      </p:sp>
      <p:sp>
        <p:nvSpPr>
          <p:cNvPr id="14" name="TextBox 13"/>
          <p:cNvSpPr txBox="1"/>
          <p:nvPr/>
        </p:nvSpPr>
        <p:spPr>
          <a:xfrm>
            <a:off x="2322576" y="2679192"/>
            <a:ext cx="680571" cy="301621"/>
          </a:xfrm>
          <a:prstGeom prst="rect">
            <a:avLst/>
          </a:prstGeom>
          <a:noFill/>
        </p:spPr>
        <p:txBody>
          <a:bodyPr wrap="none" lIns="27432" tIns="27432" rIns="27432" bIns="27432" anchor="t">
            <a:spAutoFit/>
          </a:bodyPr>
          <a:lstStyle/>
          <a:p>
            <a:pPr algn="l"/>
            <a:r>
              <a:rPr sz="1600" b="1">
                <a:solidFill>
                  <a:srgbClr val="F5F8FC"/>
                </a:solidFill>
                <a:latin typeface="Aptos"/>
              </a:rPr>
              <a:t>Harian</a:t>
            </a:r>
          </a:p>
        </p:txBody>
      </p:sp>
      <p:sp>
        <p:nvSpPr>
          <p:cNvPr id="15" name="Rounded Rectangle 14"/>
          <p:cNvSpPr/>
          <p:nvPr/>
        </p:nvSpPr>
        <p:spPr>
          <a:xfrm>
            <a:off x="6163055" y="2587752"/>
            <a:ext cx="5138928" cy="71323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27647" y="2706624"/>
            <a:ext cx="703013" cy="224677"/>
          </a:xfrm>
          <a:prstGeom prst="rect">
            <a:avLst/>
          </a:prstGeom>
          <a:noFill/>
        </p:spPr>
        <p:txBody>
          <a:bodyPr wrap="none" lIns="27432" tIns="27432" rIns="27432" bIns="27432" anchor="t">
            <a:spAutoFit/>
          </a:bodyPr>
          <a:lstStyle/>
          <a:p>
            <a:pPr algn="l"/>
            <a:r>
              <a:rPr sz="1100" b="1">
                <a:solidFill>
                  <a:srgbClr val="3DD6E2"/>
                </a:solidFill>
                <a:latin typeface="Aptos"/>
              </a:rPr>
              <a:t>Observasi</a:t>
            </a:r>
          </a:p>
        </p:txBody>
      </p:sp>
      <p:sp>
        <p:nvSpPr>
          <p:cNvPr id="17" name="TextBox 16"/>
          <p:cNvSpPr txBox="1"/>
          <p:nvPr/>
        </p:nvSpPr>
        <p:spPr>
          <a:xfrm>
            <a:off x="7827263" y="2679192"/>
            <a:ext cx="552331" cy="301621"/>
          </a:xfrm>
          <a:prstGeom prst="rect">
            <a:avLst/>
          </a:prstGeom>
          <a:noFill/>
        </p:spPr>
        <p:txBody>
          <a:bodyPr wrap="none" lIns="27432" tIns="27432" rIns="27432" bIns="27432" anchor="t">
            <a:spAutoFit/>
          </a:bodyPr>
          <a:lstStyle/>
          <a:p>
            <a:pPr algn="l"/>
            <a:r>
              <a:rPr sz="1600" b="1">
                <a:solidFill>
                  <a:srgbClr val="F5F8FC"/>
                </a:solidFill>
                <a:latin typeface="Aptos"/>
              </a:rPr>
              <a:t>2.320</a:t>
            </a:r>
          </a:p>
        </p:txBody>
      </p:sp>
      <p:sp>
        <p:nvSpPr>
          <p:cNvPr id="18" name="Rounded Rectangle 17"/>
          <p:cNvSpPr/>
          <p:nvPr/>
        </p:nvSpPr>
        <p:spPr>
          <a:xfrm>
            <a:off x="658368" y="3456432"/>
            <a:ext cx="5138928" cy="71323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59" y="3575303"/>
            <a:ext cx="456151" cy="224677"/>
          </a:xfrm>
          <a:prstGeom prst="rect">
            <a:avLst/>
          </a:prstGeom>
          <a:noFill/>
        </p:spPr>
        <p:txBody>
          <a:bodyPr wrap="none" lIns="27432" tIns="27432" rIns="27432" bIns="27432" anchor="t">
            <a:spAutoFit/>
          </a:bodyPr>
          <a:lstStyle/>
          <a:p>
            <a:pPr algn="l"/>
            <a:r>
              <a:rPr sz="1100" b="1">
                <a:solidFill>
                  <a:srgbClr val="3DD6E2"/>
                </a:solidFill>
                <a:latin typeface="Aptos"/>
              </a:rPr>
              <a:t>Target</a:t>
            </a:r>
          </a:p>
        </p:txBody>
      </p:sp>
      <p:sp>
        <p:nvSpPr>
          <p:cNvPr id="20" name="TextBox 19"/>
          <p:cNvSpPr txBox="1"/>
          <p:nvPr/>
        </p:nvSpPr>
        <p:spPr>
          <a:xfrm>
            <a:off x="2322576" y="3547872"/>
            <a:ext cx="1190006" cy="301621"/>
          </a:xfrm>
          <a:prstGeom prst="rect">
            <a:avLst/>
          </a:prstGeom>
          <a:noFill/>
        </p:spPr>
        <p:txBody>
          <a:bodyPr wrap="none" lIns="27432" tIns="27432" rIns="27432" bIns="27432" anchor="t">
            <a:spAutoFit/>
          </a:bodyPr>
          <a:lstStyle/>
          <a:p>
            <a:pPr algn="l"/>
            <a:r>
              <a:rPr sz="1600" b="1">
                <a:solidFill>
                  <a:srgbClr val="F5F8FC"/>
                </a:solidFill>
                <a:latin typeface="Aptos"/>
              </a:rPr>
              <a:t>Harga Close</a:t>
            </a:r>
          </a:p>
        </p:txBody>
      </p:sp>
      <p:sp>
        <p:nvSpPr>
          <p:cNvPr id="21" name="Rounded Rectangle 20"/>
          <p:cNvSpPr/>
          <p:nvPr/>
        </p:nvSpPr>
        <p:spPr>
          <a:xfrm>
            <a:off x="6163055" y="3456432"/>
            <a:ext cx="5138928" cy="71323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27647" y="3575303"/>
            <a:ext cx="1345818" cy="224677"/>
          </a:xfrm>
          <a:prstGeom prst="rect">
            <a:avLst/>
          </a:prstGeom>
          <a:noFill/>
        </p:spPr>
        <p:txBody>
          <a:bodyPr wrap="none" lIns="27432" tIns="27432" rIns="27432" bIns="27432" anchor="t">
            <a:spAutoFit/>
          </a:bodyPr>
          <a:lstStyle/>
          <a:p>
            <a:pPr algn="l"/>
            <a:r>
              <a:rPr sz="1100" b="1">
                <a:solidFill>
                  <a:srgbClr val="3DD6E2"/>
                </a:solidFill>
                <a:latin typeface="Aptos"/>
              </a:rPr>
              <a:t>Input Deep Learning</a:t>
            </a:r>
          </a:p>
        </p:txBody>
      </p:sp>
      <p:sp>
        <p:nvSpPr>
          <p:cNvPr id="23" name="TextBox 22"/>
          <p:cNvSpPr txBox="1"/>
          <p:nvPr/>
        </p:nvSpPr>
        <p:spPr>
          <a:xfrm>
            <a:off x="7827263" y="3547872"/>
            <a:ext cx="1568058" cy="301621"/>
          </a:xfrm>
          <a:prstGeom prst="rect">
            <a:avLst/>
          </a:prstGeom>
          <a:noFill/>
        </p:spPr>
        <p:txBody>
          <a:bodyPr wrap="none" lIns="27432" tIns="27432" rIns="27432" bIns="27432" anchor="t">
            <a:spAutoFit/>
          </a:bodyPr>
          <a:lstStyle/>
          <a:p>
            <a:pPr algn="l"/>
            <a:r>
              <a:rPr sz="1600" b="1" dirty="0">
                <a:solidFill>
                  <a:srgbClr val="F5F8FC"/>
                </a:solidFill>
                <a:latin typeface="Aptos"/>
              </a:rPr>
              <a:t>Open, High, Low</a:t>
            </a:r>
          </a:p>
        </p:txBody>
      </p:sp>
      <p:sp>
        <p:nvSpPr>
          <p:cNvPr id="24" name="Rounded Rectangle 23"/>
          <p:cNvSpPr/>
          <p:nvPr/>
        </p:nvSpPr>
        <p:spPr>
          <a:xfrm>
            <a:off x="658368" y="4325112"/>
            <a:ext cx="5138928" cy="71323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59" y="4443983"/>
            <a:ext cx="353558" cy="224677"/>
          </a:xfrm>
          <a:prstGeom prst="rect">
            <a:avLst/>
          </a:prstGeom>
          <a:noFill/>
        </p:spPr>
        <p:txBody>
          <a:bodyPr wrap="none" lIns="27432" tIns="27432" rIns="27432" bIns="27432" anchor="t">
            <a:spAutoFit/>
          </a:bodyPr>
          <a:lstStyle/>
          <a:p>
            <a:pPr algn="l"/>
            <a:r>
              <a:rPr sz="1100" b="1">
                <a:solidFill>
                  <a:srgbClr val="3DD6E2"/>
                </a:solidFill>
                <a:latin typeface="Aptos"/>
              </a:rPr>
              <a:t>Split</a:t>
            </a:r>
          </a:p>
        </p:txBody>
      </p:sp>
      <p:sp>
        <p:nvSpPr>
          <p:cNvPr id="26" name="TextBox 25"/>
          <p:cNvSpPr txBox="1"/>
          <p:nvPr/>
        </p:nvSpPr>
        <p:spPr>
          <a:xfrm>
            <a:off x="2322576" y="4416551"/>
            <a:ext cx="2484142" cy="301621"/>
          </a:xfrm>
          <a:prstGeom prst="rect">
            <a:avLst/>
          </a:prstGeom>
          <a:noFill/>
        </p:spPr>
        <p:txBody>
          <a:bodyPr wrap="none" lIns="27432" tIns="27432" rIns="27432" bIns="27432" anchor="t">
            <a:spAutoFit/>
          </a:bodyPr>
          <a:lstStyle/>
          <a:p>
            <a:pPr algn="l"/>
            <a:r>
              <a:rPr sz="1600" b="1">
                <a:solidFill>
                  <a:srgbClr val="F5F8FC"/>
                </a:solidFill>
                <a:latin typeface="Aptos"/>
              </a:rPr>
              <a:t>80% Training – 20% Testing</a:t>
            </a:r>
          </a:p>
        </p:txBody>
      </p:sp>
      <p:sp>
        <p:nvSpPr>
          <p:cNvPr id="27" name="Rounded Rectangle 26"/>
          <p:cNvSpPr/>
          <p:nvPr/>
        </p:nvSpPr>
        <p:spPr>
          <a:xfrm>
            <a:off x="6163055" y="4325112"/>
            <a:ext cx="5138928" cy="71323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27647" y="4443983"/>
            <a:ext cx="941861" cy="224677"/>
          </a:xfrm>
          <a:prstGeom prst="rect">
            <a:avLst/>
          </a:prstGeom>
          <a:noFill/>
        </p:spPr>
        <p:txBody>
          <a:bodyPr wrap="none" lIns="27432" tIns="27432" rIns="27432" bIns="27432" anchor="t">
            <a:spAutoFit/>
          </a:bodyPr>
          <a:lstStyle/>
          <a:p>
            <a:pPr algn="l"/>
            <a:r>
              <a:rPr sz="1100" b="1">
                <a:solidFill>
                  <a:srgbClr val="3DD6E2"/>
                </a:solidFill>
                <a:latin typeface="Aptos"/>
              </a:rPr>
              <a:t>Validation set</a:t>
            </a:r>
          </a:p>
        </p:txBody>
      </p:sp>
      <p:sp>
        <p:nvSpPr>
          <p:cNvPr id="29" name="TextBox 28"/>
          <p:cNvSpPr txBox="1"/>
          <p:nvPr/>
        </p:nvSpPr>
        <p:spPr>
          <a:xfrm>
            <a:off x="7827263" y="4416551"/>
            <a:ext cx="3046155" cy="301621"/>
          </a:xfrm>
          <a:prstGeom prst="rect">
            <a:avLst/>
          </a:prstGeom>
          <a:noFill/>
        </p:spPr>
        <p:txBody>
          <a:bodyPr wrap="none" lIns="27432" tIns="27432" rIns="27432" bIns="27432" anchor="t">
            <a:spAutoFit/>
          </a:bodyPr>
          <a:lstStyle/>
          <a:p>
            <a:pPr algn="l"/>
            <a:r>
              <a:rPr sz="1600" b="1">
                <a:solidFill>
                  <a:srgbClr val="F5F8FC"/>
                </a:solidFill>
                <a:latin typeface="Aptos"/>
              </a:rPr>
              <a:t>Tidak dijelaskan secara terpisah</a:t>
            </a:r>
          </a:p>
        </p:txBody>
      </p:sp>
      <p:sp>
        <p:nvSpPr>
          <p:cNvPr id="30" name="Rounded Rectangle 29"/>
          <p:cNvSpPr/>
          <p:nvPr/>
        </p:nvSpPr>
        <p:spPr>
          <a:xfrm>
            <a:off x="658368" y="5257800"/>
            <a:ext cx="10716768" cy="685800"/>
          </a:xfrm>
          <a:prstGeom prst="roundRect">
            <a:avLst/>
          </a:prstGeom>
          <a:solidFill>
            <a:srgbClr val="152138"/>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8" y="5431536"/>
            <a:ext cx="1193660" cy="240066"/>
          </a:xfrm>
          <a:prstGeom prst="rect">
            <a:avLst/>
          </a:prstGeom>
          <a:noFill/>
        </p:spPr>
        <p:txBody>
          <a:bodyPr wrap="none" lIns="27432" tIns="27432" rIns="27432" bIns="27432" anchor="t">
            <a:spAutoFit/>
          </a:bodyPr>
          <a:lstStyle/>
          <a:p>
            <a:pPr algn="l"/>
            <a:r>
              <a:rPr sz="1200" b="1" dirty="0" err="1">
                <a:solidFill>
                  <a:srgbClr val="43DA99"/>
                </a:solidFill>
                <a:latin typeface="Aptos"/>
              </a:rPr>
              <a:t>Variabel</a:t>
            </a:r>
            <a:r>
              <a:rPr sz="1200" b="1" dirty="0">
                <a:solidFill>
                  <a:srgbClr val="43DA99"/>
                </a:solidFill>
                <a:latin typeface="Aptos"/>
              </a:rPr>
              <a:t> dataset</a:t>
            </a:r>
          </a:p>
        </p:txBody>
      </p:sp>
      <p:sp>
        <p:nvSpPr>
          <p:cNvPr id="32" name="TextBox 31"/>
          <p:cNvSpPr txBox="1"/>
          <p:nvPr/>
        </p:nvSpPr>
        <p:spPr>
          <a:xfrm>
            <a:off x="2267712" y="5404104"/>
            <a:ext cx="6703760" cy="270843"/>
          </a:xfrm>
          <a:prstGeom prst="rect">
            <a:avLst/>
          </a:prstGeom>
          <a:noFill/>
        </p:spPr>
        <p:txBody>
          <a:bodyPr wrap="square" lIns="27432" tIns="27432" rIns="27432" bIns="27432" anchor="t">
            <a:spAutoFit/>
          </a:bodyPr>
          <a:lstStyle/>
          <a:p>
            <a:pPr algn="l"/>
            <a:r>
              <a:rPr sz="1400" b="1" dirty="0">
                <a:solidFill>
                  <a:srgbClr val="F5F8FC"/>
                </a:solidFill>
                <a:latin typeface="Aptos"/>
              </a:rPr>
              <a:t>Date — Open — High — Low — Close — Volume — Market Capitalization</a:t>
            </a:r>
          </a:p>
        </p:txBody>
      </p:sp>
      <p:sp>
        <p:nvSpPr>
          <p:cNvPr id="33" name="TextBox 32"/>
          <p:cNvSpPr txBox="1"/>
          <p:nvPr/>
        </p:nvSpPr>
        <p:spPr>
          <a:xfrm>
            <a:off x="640080" y="6510528"/>
            <a:ext cx="4572000" cy="164592"/>
          </a:xfrm>
          <a:prstGeom prst="rect">
            <a:avLst/>
          </a:prstGeom>
          <a:noFill/>
        </p:spPr>
        <p:txBody>
          <a:bodyPr wrap="none" lIns="27432" tIns="27432" rIns="27432" bIns="27432" anchor="t">
            <a:spAutoFit/>
          </a:bodyPr>
          <a:lstStyle/>
          <a:p>
            <a:pPr algn="l"/>
            <a:r>
              <a:rPr sz="800" b="0">
                <a:solidFill>
                  <a:srgbClr val="A4B3C9"/>
                </a:solidFill>
                <a:latin typeface="Aptos"/>
              </a:rPr>
              <a:t>Bedah Paper • Metode Peramalan Deret Waktu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4572000" cy="274320"/>
          </a:xfrm>
          <a:prstGeom prst="rect">
            <a:avLst/>
          </a:prstGeom>
          <a:noFill/>
        </p:spPr>
        <p:txBody>
          <a:bodyPr wrap="none" lIns="27432" tIns="27432" rIns="27432" bIns="27432" anchor="t">
            <a:spAutoFit/>
          </a:bodyPr>
          <a:lstStyle/>
          <a:p>
            <a:pPr algn="l"/>
            <a:r>
              <a:rPr sz="1000" b="1">
                <a:solidFill>
                  <a:srgbClr val="3DD6E2"/>
                </a:solidFill>
                <a:latin typeface="Aptos"/>
              </a:rPr>
              <a:t>07  •  METODOLOGI</a:t>
            </a:r>
          </a:p>
        </p:txBody>
      </p:sp>
      <p:sp>
        <p:nvSpPr>
          <p:cNvPr id="3" name="TextBox 2"/>
          <p:cNvSpPr txBox="1"/>
          <p:nvPr/>
        </p:nvSpPr>
        <p:spPr>
          <a:xfrm>
            <a:off x="621792" y="667512"/>
            <a:ext cx="10698480" cy="502920"/>
          </a:xfrm>
          <a:prstGeom prst="rect">
            <a:avLst/>
          </a:prstGeom>
          <a:noFill/>
        </p:spPr>
        <p:txBody>
          <a:bodyPr wrap="none" lIns="27432" tIns="27432" rIns="27432" bIns="27432" anchor="t">
            <a:spAutoFit/>
          </a:bodyPr>
          <a:lstStyle/>
          <a:p>
            <a:pPr algn="l"/>
            <a:r>
              <a:rPr sz="2800" b="1">
                <a:solidFill>
                  <a:srgbClr val="F5F8FC"/>
                </a:solidFill>
                <a:latin typeface="Aptos"/>
              </a:rPr>
              <a:t>Alur penelitian</a:t>
            </a:r>
          </a:p>
        </p:txBody>
      </p:sp>
      <p:sp>
        <p:nvSpPr>
          <p:cNvPr id="4" name="TextBox 3"/>
          <p:cNvSpPr txBox="1"/>
          <p:nvPr/>
        </p:nvSpPr>
        <p:spPr>
          <a:xfrm>
            <a:off x="640080" y="1197864"/>
            <a:ext cx="10607040" cy="365760"/>
          </a:xfrm>
          <a:prstGeom prst="rect">
            <a:avLst/>
          </a:prstGeom>
          <a:noFill/>
        </p:spPr>
        <p:txBody>
          <a:bodyPr wrap="none" lIns="27432" tIns="27432" rIns="27432" bIns="27432" anchor="t">
            <a:spAutoFit/>
          </a:bodyPr>
          <a:lstStyle/>
          <a:p>
            <a:pPr algn="l"/>
            <a:r>
              <a:rPr sz="1150" b="0">
                <a:solidFill>
                  <a:srgbClr val="A4B3C9"/>
                </a:solidFill>
                <a:latin typeface="Aptos"/>
              </a:rPr>
              <a:t>Mengikuti urutan yang dijelaskan dalam outline paper</a:t>
            </a:r>
          </a:p>
        </p:txBody>
      </p:sp>
      <p:sp>
        <p:nvSpPr>
          <p:cNvPr id="5" name="TextBox 4"/>
          <p:cNvSpPr txBox="1"/>
          <p:nvPr/>
        </p:nvSpPr>
        <p:spPr>
          <a:xfrm>
            <a:off x="11018520" y="320040"/>
            <a:ext cx="548640" cy="274320"/>
          </a:xfrm>
          <a:prstGeom prst="rect">
            <a:avLst/>
          </a:prstGeom>
          <a:noFill/>
        </p:spPr>
        <p:txBody>
          <a:bodyPr wrap="none" lIns="27432" tIns="27432" rIns="27432" bIns="27432" anchor="t">
            <a:spAutoFit/>
          </a:bodyPr>
          <a:lstStyle/>
          <a:p>
            <a:pPr algn="r"/>
            <a:r>
              <a:rPr sz="1000" b="1">
                <a:solidFill>
                  <a:srgbClr val="A4B3C9"/>
                </a:solidFill>
                <a:latin typeface="Aptos"/>
              </a:rPr>
              <a:t>07</a:t>
            </a:r>
          </a:p>
        </p:txBody>
      </p:sp>
      <p:sp>
        <p:nvSpPr>
          <p:cNvPr id="6" name="Rounded Rectangle 5"/>
          <p:cNvSpPr/>
          <p:nvPr/>
        </p:nvSpPr>
        <p:spPr>
          <a:xfrm>
            <a:off x="566928" y="1783080"/>
            <a:ext cx="2011680" cy="135331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2376" y="1947672"/>
            <a:ext cx="206082" cy="224677"/>
          </a:xfrm>
          <a:prstGeom prst="rect">
            <a:avLst/>
          </a:prstGeom>
          <a:noFill/>
        </p:spPr>
        <p:txBody>
          <a:bodyPr wrap="none" lIns="27432" tIns="27432" rIns="27432" bIns="27432" anchor="t">
            <a:spAutoFit/>
          </a:bodyPr>
          <a:lstStyle/>
          <a:p>
            <a:pPr algn="l"/>
            <a:r>
              <a:rPr sz="1100" b="1">
                <a:solidFill>
                  <a:srgbClr val="3DD6E2"/>
                </a:solidFill>
                <a:latin typeface="Aptos"/>
              </a:rPr>
              <a:t>01</a:t>
            </a:r>
          </a:p>
        </p:txBody>
      </p:sp>
      <p:sp>
        <p:nvSpPr>
          <p:cNvPr id="8" name="TextBox 7"/>
          <p:cNvSpPr txBox="1"/>
          <p:nvPr/>
        </p:nvSpPr>
        <p:spPr>
          <a:xfrm>
            <a:off x="722376" y="2313432"/>
            <a:ext cx="1608774" cy="270843"/>
          </a:xfrm>
          <a:prstGeom prst="rect">
            <a:avLst/>
          </a:prstGeom>
          <a:noFill/>
        </p:spPr>
        <p:txBody>
          <a:bodyPr wrap="none" lIns="27432" tIns="27432" rIns="27432" bIns="27432" anchor="t">
            <a:spAutoFit/>
          </a:bodyPr>
          <a:lstStyle/>
          <a:p>
            <a:pPr algn="l"/>
            <a:r>
              <a:rPr sz="1400" b="1" dirty="0" err="1">
                <a:solidFill>
                  <a:srgbClr val="F5F8FC"/>
                </a:solidFill>
                <a:latin typeface="Aptos"/>
              </a:rPr>
              <a:t>Pengumpulan</a:t>
            </a:r>
            <a:r>
              <a:rPr sz="1400" b="1" dirty="0">
                <a:solidFill>
                  <a:srgbClr val="F5F8FC"/>
                </a:solidFill>
                <a:latin typeface="Aptos"/>
              </a:rPr>
              <a:t> Data</a:t>
            </a:r>
          </a:p>
        </p:txBody>
      </p:sp>
      <p:cxnSp>
        <p:nvCxnSpPr>
          <p:cNvPr id="9" name="Connector 8"/>
          <p:cNvCxnSpPr/>
          <p:nvPr/>
        </p:nvCxnSpPr>
        <p:spPr>
          <a:xfrm>
            <a:off x="2578608" y="2459736"/>
            <a:ext cx="228600" cy="0"/>
          </a:xfrm>
          <a:prstGeom prst="line">
            <a:avLst/>
          </a:prstGeom>
          <a:ln w="17780">
            <a:solidFill>
              <a:srgbClr val="A4B3C9"/>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71216" y="1783080"/>
            <a:ext cx="2011680" cy="135331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26664" y="1947672"/>
            <a:ext cx="206082" cy="224677"/>
          </a:xfrm>
          <a:prstGeom prst="rect">
            <a:avLst/>
          </a:prstGeom>
          <a:noFill/>
        </p:spPr>
        <p:txBody>
          <a:bodyPr wrap="none" lIns="27432" tIns="27432" rIns="27432" bIns="27432" anchor="t">
            <a:spAutoFit/>
          </a:bodyPr>
          <a:lstStyle/>
          <a:p>
            <a:pPr algn="l"/>
            <a:r>
              <a:rPr sz="1100" b="1">
                <a:solidFill>
                  <a:srgbClr val="8F6FFF"/>
                </a:solidFill>
                <a:latin typeface="Aptos"/>
              </a:rPr>
              <a:t>02</a:t>
            </a:r>
          </a:p>
        </p:txBody>
      </p:sp>
      <p:sp>
        <p:nvSpPr>
          <p:cNvPr id="12" name="TextBox 11"/>
          <p:cNvSpPr txBox="1"/>
          <p:nvPr/>
        </p:nvSpPr>
        <p:spPr>
          <a:xfrm>
            <a:off x="3026664" y="2313432"/>
            <a:ext cx="1686552" cy="270843"/>
          </a:xfrm>
          <a:prstGeom prst="rect">
            <a:avLst/>
          </a:prstGeom>
          <a:noFill/>
        </p:spPr>
        <p:txBody>
          <a:bodyPr wrap="none" lIns="27432" tIns="27432" rIns="27432" bIns="27432" anchor="t">
            <a:spAutoFit/>
          </a:bodyPr>
          <a:lstStyle/>
          <a:p>
            <a:pPr algn="l"/>
            <a:r>
              <a:rPr sz="1400" b="1">
                <a:solidFill>
                  <a:srgbClr val="F5F8FC"/>
                </a:solidFill>
                <a:latin typeface="Aptos"/>
              </a:rPr>
              <a:t>Data Understanding</a:t>
            </a:r>
          </a:p>
        </p:txBody>
      </p:sp>
      <p:cxnSp>
        <p:nvCxnSpPr>
          <p:cNvPr id="13" name="Connector 12"/>
          <p:cNvCxnSpPr/>
          <p:nvPr/>
        </p:nvCxnSpPr>
        <p:spPr>
          <a:xfrm>
            <a:off x="4882896" y="2459736"/>
            <a:ext cx="228600" cy="0"/>
          </a:xfrm>
          <a:prstGeom prst="line">
            <a:avLst/>
          </a:prstGeom>
          <a:ln w="17780">
            <a:solidFill>
              <a:srgbClr val="A4B3C9"/>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175504" y="1783080"/>
            <a:ext cx="2011680" cy="135331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30952" y="1947672"/>
            <a:ext cx="206082" cy="224677"/>
          </a:xfrm>
          <a:prstGeom prst="rect">
            <a:avLst/>
          </a:prstGeom>
          <a:noFill/>
        </p:spPr>
        <p:txBody>
          <a:bodyPr wrap="none" lIns="27432" tIns="27432" rIns="27432" bIns="27432" anchor="t">
            <a:spAutoFit/>
          </a:bodyPr>
          <a:lstStyle/>
          <a:p>
            <a:pPr algn="l"/>
            <a:r>
              <a:rPr sz="1100" b="1">
                <a:solidFill>
                  <a:srgbClr val="43DA99"/>
                </a:solidFill>
                <a:latin typeface="Aptos"/>
              </a:rPr>
              <a:t>03</a:t>
            </a:r>
          </a:p>
        </p:txBody>
      </p:sp>
      <p:sp>
        <p:nvSpPr>
          <p:cNvPr id="16" name="TextBox 15"/>
          <p:cNvSpPr txBox="1"/>
          <p:nvPr/>
        </p:nvSpPr>
        <p:spPr>
          <a:xfrm>
            <a:off x="5330952" y="2313432"/>
            <a:ext cx="1224694" cy="270843"/>
          </a:xfrm>
          <a:prstGeom prst="rect">
            <a:avLst/>
          </a:prstGeom>
          <a:noFill/>
        </p:spPr>
        <p:txBody>
          <a:bodyPr wrap="none" lIns="27432" tIns="27432" rIns="27432" bIns="27432" anchor="t">
            <a:spAutoFit/>
          </a:bodyPr>
          <a:lstStyle/>
          <a:p>
            <a:pPr algn="l"/>
            <a:r>
              <a:rPr sz="1400" b="1">
                <a:solidFill>
                  <a:srgbClr val="F5F8FC"/>
                </a:solidFill>
                <a:latin typeface="Aptos"/>
              </a:rPr>
              <a:t>Preprocessing</a:t>
            </a:r>
          </a:p>
        </p:txBody>
      </p:sp>
      <p:cxnSp>
        <p:nvCxnSpPr>
          <p:cNvPr id="17" name="Connector 16"/>
          <p:cNvCxnSpPr/>
          <p:nvPr/>
        </p:nvCxnSpPr>
        <p:spPr>
          <a:xfrm>
            <a:off x="7187184" y="2459736"/>
            <a:ext cx="228599" cy="0"/>
          </a:xfrm>
          <a:prstGeom prst="line">
            <a:avLst/>
          </a:prstGeom>
          <a:ln w="17780">
            <a:solidFill>
              <a:srgbClr val="A4B3C9"/>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79792" y="1783080"/>
            <a:ext cx="2011680" cy="135331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1947672"/>
            <a:ext cx="206082" cy="224677"/>
          </a:xfrm>
          <a:prstGeom prst="rect">
            <a:avLst/>
          </a:prstGeom>
          <a:noFill/>
        </p:spPr>
        <p:txBody>
          <a:bodyPr wrap="none" lIns="27432" tIns="27432" rIns="27432" bIns="27432" anchor="t">
            <a:spAutoFit/>
          </a:bodyPr>
          <a:lstStyle/>
          <a:p>
            <a:pPr algn="l"/>
            <a:r>
              <a:rPr sz="1100" b="1">
                <a:solidFill>
                  <a:srgbClr val="FFB24B"/>
                </a:solidFill>
                <a:latin typeface="Aptos"/>
              </a:rPr>
              <a:t>04</a:t>
            </a:r>
          </a:p>
        </p:txBody>
      </p:sp>
      <p:sp>
        <p:nvSpPr>
          <p:cNvPr id="20" name="TextBox 19"/>
          <p:cNvSpPr txBox="1"/>
          <p:nvPr/>
        </p:nvSpPr>
        <p:spPr>
          <a:xfrm>
            <a:off x="7635240" y="2313432"/>
            <a:ext cx="1211294" cy="270843"/>
          </a:xfrm>
          <a:prstGeom prst="rect">
            <a:avLst/>
          </a:prstGeom>
          <a:noFill/>
        </p:spPr>
        <p:txBody>
          <a:bodyPr wrap="none" lIns="27432" tIns="27432" rIns="27432" bIns="27432" anchor="t">
            <a:spAutoFit/>
          </a:bodyPr>
          <a:lstStyle/>
          <a:p>
            <a:pPr algn="l"/>
            <a:r>
              <a:rPr sz="1400" b="1">
                <a:solidFill>
                  <a:srgbClr val="F5F8FC"/>
                </a:solidFill>
                <a:latin typeface="Aptos"/>
              </a:rPr>
              <a:t>MinMaxScaler</a:t>
            </a:r>
          </a:p>
        </p:txBody>
      </p:sp>
      <p:cxnSp>
        <p:nvCxnSpPr>
          <p:cNvPr id="21" name="Connector 20"/>
          <p:cNvCxnSpPr/>
          <p:nvPr/>
        </p:nvCxnSpPr>
        <p:spPr>
          <a:xfrm>
            <a:off x="9491472" y="2459736"/>
            <a:ext cx="228600" cy="0"/>
          </a:xfrm>
          <a:prstGeom prst="line">
            <a:avLst/>
          </a:prstGeom>
          <a:ln w="17780">
            <a:solidFill>
              <a:srgbClr val="A4B3C9"/>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784080" y="1783080"/>
            <a:ext cx="2011680" cy="135331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39528" y="1947672"/>
            <a:ext cx="206082" cy="224677"/>
          </a:xfrm>
          <a:prstGeom prst="rect">
            <a:avLst/>
          </a:prstGeom>
          <a:noFill/>
        </p:spPr>
        <p:txBody>
          <a:bodyPr wrap="none" lIns="27432" tIns="27432" rIns="27432" bIns="27432" anchor="t">
            <a:spAutoFit/>
          </a:bodyPr>
          <a:lstStyle/>
          <a:p>
            <a:pPr algn="l"/>
            <a:r>
              <a:rPr sz="1100" b="1">
                <a:solidFill>
                  <a:srgbClr val="3DD6E2"/>
                </a:solidFill>
                <a:latin typeface="Aptos"/>
              </a:rPr>
              <a:t>05</a:t>
            </a:r>
          </a:p>
        </p:txBody>
      </p:sp>
      <p:sp>
        <p:nvSpPr>
          <p:cNvPr id="24" name="TextBox 23"/>
          <p:cNvSpPr txBox="1"/>
          <p:nvPr/>
        </p:nvSpPr>
        <p:spPr>
          <a:xfrm>
            <a:off x="9939528" y="2313432"/>
            <a:ext cx="1313629" cy="270843"/>
          </a:xfrm>
          <a:prstGeom prst="rect">
            <a:avLst/>
          </a:prstGeom>
          <a:noFill/>
        </p:spPr>
        <p:txBody>
          <a:bodyPr wrap="none" lIns="27432" tIns="27432" rIns="27432" bIns="27432" anchor="t">
            <a:spAutoFit/>
          </a:bodyPr>
          <a:lstStyle/>
          <a:p>
            <a:pPr algn="l"/>
            <a:r>
              <a:rPr sz="1400" b="1">
                <a:solidFill>
                  <a:srgbClr val="F5F8FC"/>
                </a:solidFill>
                <a:latin typeface="Aptos"/>
              </a:rPr>
              <a:t>Sliding Window</a:t>
            </a:r>
          </a:p>
        </p:txBody>
      </p:sp>
      <p:sp>
        <p:nvSpPr>
          <p:cNvPr id="25" name="TextBox 24"/>
          <p:cNvSpPr txBox="1"/>
          <p:nvPr/>
        </p:nvSpPr>
        <p:spPr>
          <a:xfrm>
            <a:off x="9939528" y="2715768"/>
            <a:ext cx="499872" cy="209288"/>
          </a:xfrm>
          <a:prstGeom prst="rect">
            <a:avLst/>
          </a:prstGeom>
          <a:noFill/>
        </p:spPr>
        <p:txBody>
          <a:bodyPr wrap="square" lIns="27432" tIns="27432" rIns="27432" bIns="27432" anchor="t">
            <a:spAutoFit/>
          </a:bodyPr>
          <a:lstStyle/>
          <a:p>
            <a:pPr algn="l"/>
            <a:r>
              <a:rPr sz="1000" b="0" dirty="0">
                <a:solidFill>
                  <a:srgbClr val="A4B3C9"/>
                </a:solidFill>
                <a:latin typeface="Aptos"/>
              </a:rPr>
              <a:t>30 </a:t>
            </a:r>
            <a:r>
              <a:rPr sz="1000" b="0" dirty="0" err="1">
                <a:solidFill>
                  <a:srgbClr val="A4B3C9"/>
                </a:solidFill>
                <a:latin typeface="Aptos"/>
              </a:rPr>
              <a:t>hari</a:t>
            </a:r>
            <a:endParaRPr sz="1000" b="0" dirty="0">
              <a:solidFill>
                <a:srgbClr val="A4B3C9"/>
              </a:solidFill>
              <a:latin typeface="Aptos"/>
            </a:endParaRPr>
          </a:p>
        </p:txBody>
      </p:sp>
      <p:sp>
        <p:nvSpPr>
          <p:cNvPr id="27" name="Rounded Rectangle 26"/>
          <p:cNvSpPr/>
          <p:nvPr/>
        </p:nvSpPr>
        <p:spPr>
          <a:xfrm>
            <a:off x="566928" y="3703320"/>
            <a:ext cx="2011680" cy="135331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2376" y="3867911"/>
            <a:ext cx="206082" cy="224677"/>
          </a:xfrm>
          <a:prstGeom prst="rect">
            <a:avLst/>
          </a:prstGeom>
          <a:noFill/>
        </p:spPr>
        <p:txBody>
          <a:bodyPr wrap="none" lIns="27432" tIns="27432" rIns="27432" bIns="27432" anchor="t">
            <a:spAutoFit/>
          </a:bodyPr>
          <a:lstStyle/>
          <a:p>
            <a:pPr algn="l"/>
            <a:r>
              <a:rPr sz="1100" b="1">
                <a:solidFill>
                  <a:srgbClr val="3DD6E2"/>
                </a:solidFill>
                <a:latin typeface="Aptos"/>
              </a:rPr>
              <a:t>06</a:t>
            </a:r>
          </a:p>
        </p:txBody>
      </p:sp>
      <p:sp>
        <p:nvSpPr>
          <p:cNvPr id="29" name="TextBox 28"/>
          <p:cNvSpPr txBox="1"/>
          <p:nvPr/>
        </p:nvSpPr>
        <p:spPr>
          <a:xfrm>
            <a:off x="722376" y="4233672"/>
            <a:ext cx="1273169" cy="270843"/>
          </a:xfrm>
          <a:prstGeom prst="rect">
            <a:avLst/>
          </a:prstGeom>
          <a:noFill/>
        </p:spPr>
        <p:txBody>
          <a:bodyPr wrap="none" lIns="27432" tIns="27432" rIns="27432" bIns="27432" anchor="t">
            <a:spAutoFit/>
          </a:bodyPr>
          <a:lstStyle/>
          <a:p>
            <a:pPr algn="l"/>
            <a:r>
              <a:rPr sz="1400" b="1">
                <a:solidFill>
                  <a:srgbClr val="F5F8FC"/>
                </a:solidFill>
                <a:latin typeface="Aptos"/>
              </a:rPr>
              <a:t>Train–Test Split</a:t>
            </a:r>
          </a:p>
        </p:txBody>
      </p:sp>
      <p:sp>
        <p:nvSpPr>
          <p:cNvPr id="30" name="TextBox 29"/>
          <p:cNvSpPr txBox="1"/>
          <p:nvPr/>
        </p:nvSpPr>
        <p:spPr>
          <a:xfrm>
            <a:off x="722376" y="4636008"/>
            <a:ext cx="489204" cy="209288"/>
          </a:xfrm>
          <a:prstGeom prst="rect">
            <a:avLst/>
          </a:prstGeom>
          <a:noFill/>
        </p:spPr>
        <p:txBody>
          <a:bodyPr wrap="square" lIns="27432" tIns="27432" rIns="27432" bIns="27432" anchor="t">
            <a:spAutoFit/>
          </a:bodyPr>
          <a:lstStyle/>
          <a:p>
            <a:pPr algn="l"/>
            <a:r>
              <a:rPr sz="1000" b="0" dirty="0">
                <a:solidFill>
                  <a:srgbClr val="A4B3C9"/>
                </a:solidFill>
                <a:latin typeface="Aptos"/>
              </a:rPr>
              <a:t>80:20</a:t>
            </a:r>
          </a:p>
        </p:txBody>
      </p:sp>
      <p:cxnSp>
        <p:nvCxnSpPr>
          <p:cNvPr id="31" name="Connector 30"/>
          <p:cNvCxnSpPr/>
          <p:nvPr/>
        </p:nvCxnSpPr>
        <p:spPr>
          <a:xfrm>
            <a:off x="2578608" y="4379976"/>
            <a:ext cx="228600" cy="0"/>
          </a:xfrm>
          <a:prstGeom prst="line">
            <a:avLst/>
          </a:prstGeom>
          <a:ln w="17780">
            <a:solidFill>
              <a:srgbClr val="A4B3C9"/>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2871216" y="3703320"/>
            <a:ext cx="2011680" cy="135331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026664" y="3867911"/>
            <a:ext cx="206082" cy="224677"/>
          </a:xfrm>
          <a:prstGeom prst="rect">
            <a:avLst/>
          </a:prstGeom>
          <a:noFill/>
        </p:spPr>
        <p:txBody>
          <a:bodyPr wrap="none" lIns="27432" tIns="27432" rIns="27432" bIns="27432" anchor="t">
            <a:spAutoFit/>
          </a:bodyPr>
          <a:lstStyle/>
          <a:p>
            <a:pPr algn="l"/>
            <a:r>
              <a:rPr sz="1100" b="1">
                <a:solidFill>
                  <a:srgbClr val="8F6FFF"/>
                </a:solidFill>
                <a:latin typeface="Aptos"/>
              </a:rPr>
              <a:t>07</a:t>
            </a:r>
          </a:p>
        </p:txBody>
      </p:sp>
      <p:sp>
        <p:nvSpPr>
          <p:cNvPr id="34" name="TextBox 33"/>
          <p:cNvSpPr txBox="1"/>
          <p:nvPr/>
        </p:nvSpPr>
        <p:spPr>
          <a:xfrm>
            <a:off x="3026664" y="4233672"/>
            <a:ext cx="982448" cy="270843"/>
          </a:xfrm>
          <a:prstGeom prst="rect">
            <a:avLst/>
          </a:prstGeom>
          <a:noFill/>
        </p:spPr>
        <p:txBody>
          <a:bodyPr wrap="none" lIns="27432" tIns="27432" rIns="27432" bIns="27432" anchor="t">
            <a:spAutoFit/>
          </a:bodyPr>
          <a:lstStyle/>
          <a:p>
            <a:pPr algn="l"/>
            <a:r>
              <a:rPr sz="1400" b="1">
                <a:solidFill>
                  <a:srgbClr val="F5F8FC"/>
                </a:solidFill>
                <a:latin typeface="Aptos"/>
              </a:rPr>
              <a:t>Pemodelan</a:t>
            </a:r>
          </a:p>
        </p:txBody>
      </p:sp>
      <p:sp>
        <p:nvSpPr>
          <p:cNvPr id="35" name="TextBox 34"/>
          <p:cNvSpPr txBox="1"/>
          <p:nvPr/>
        </p:nvSpPr>
        <p:spPr>
          <a:xfrm>
            <a:off x="3026664" y="4636008"/>
            <a:ext cx="1271015" cy="209288"/>
          </a:xfrm>
          <a:prstGeom prst="rect">
            <a:avLst/>
          </a:prstGeom>
          <a:noFill/>
        </p:spPr>
        <p:txBody>
          <a:bodyPr wrap="square" lIns="27432" tIns="27432" rIns="27432" bIns="27432" anchor="t">
            <a:spAutoFit/>
          </a:bodyPr>
          <a:lstStyle/>
          <a:p>
            <a:pPr algn="l"/>
            <a:r>
              <a:rPr sz="1000" b="0" dirty="0">
                <a:solidFill>
                  <a:srgbClr val="A4B3C9"/>
                </a:solidFill>
                <a:latin typeface="Aptos"/>
              </a:rPr>
              <a:t>ARIMA • LSTM • GRU</a:t>
            </a:r>
          </a:p>
        </p:txBody>
      </p:sp>
      <p:cxnSp>
        <p:nvCxnSpPr>
          <p:cNvPr id="36" name="Connector 35"/>
          <p:cNvCxnSpPr/>
          <p:nvPr/>
        </p:nvCxnSpPr>
        <p:spPr>
          <a:xfrm>
            <a:off x="4882896" y="4379976"/>
            <a:ext cx="228600" cy="0"/>
          </a:xfrm>
          <a:prstGeom prst="line">
            <a:avLst/>
          </a:prstGeom>
          <a:ln w="17780">
            <a:solidFill>
              <a:srgbClr val="A4B3C9"/>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175504" y="3703320"/>
            <a:ext cx="2011680" cy="135331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330952" y="3867911"/>
            <a:ext cx="206082" cy="224677"/>
          </a:xfrm>
          <a:prstGeom prst="rect">
            <a:avLst/>
          </a:prstGeom>
          <a:noFill/>
        </p:spPr>
        <p:txBody>
          <a:bodyPr wrap="none" lIns="27432" tIns="27432" rIns="27432" bIns="27432" anchor="t">
            <a:spAutoFit/>
          </a:bodyPr>
          <a:lstStyle/>
          <a:p>
            <a:pPr algn="l"/>
            <a:r>
              <a:rPr sz="1100" b="1">
                <a:solidFill>
                  <a:srgbClr val="43DA99"/>
                </a:solidFill>
                <a:latin typeface="Aptos"/>
              </a:rPr>
              <a:t>08</a:t>
            </a:r>
          </a:p>
        </p:txBody>
      </p:sp>
      <p:sp>
        <p:nvSpPr>
          <p:cNvPr id="39" name="TextBox 38"/>
          <p:cNvSpPr txBox="1"/>
          <p:nvPr/>
        </p:nvSpPr>
        <p:spPr>
          <a:xfrm>
            <a:off x="5330952" y="4233672"/>
            <a:ext cx="742383" cy="270843"/>
          </a:xfrm>
          <a:prstGeom prst="rect">
            <a:avLst/>
          </a:prstGeom>
          <a:noFill/>
        </p:spPr>
        <p:txBody>
          <a:bodyPr wrap="none" lIns="27432" tIns="27432" rIns="27432" bIns="27432" anchor="t">
            <a:spAutoFit/>
          </a:bodyPr>
          <a:lstStyle/>
          <a:p>
            <a:pPr algn="l"/>
            <a:r>
              <a:rPr sz="1400" b="1">
                <a:solidFill>
                  <a:srgbClr val="F5F8FC"/>
                </a:solidFill>
                <a:latin typeface="Aptos"/>
              </a:rPr>
              <a:t>Evaluasi</a:t>
            </a:r>
          </a:p>
        </p:txBody>
      </p:sp>
      <p:sp>
        <p:nvSpPr>
          <p:cNvPr id="40" name="TextBox 39"/>
          <p:cNvSpPr txBox="1"/>
          <p:nvPr/>
        </p:nvSpPr>
        <p:spPr>
          <a:xfrm>
            <a:off x="5330953" y="4636008"/>
            <a:ext cx="1679448" cy="363176"/>
          </a:xfrm>
          <a:prstGeom prst="rect">
            <a:avLst/>
          </a:prstGeom>
          <a:noFill/>
        </p:spPr>
        <p:txBody>
          <a:bodyPr wrap="square" lIns="27432" tIns="27432" rIns="27432" bIns="27432" anchor="t">
            <a:spAutoFit/>
          </a:bodyPr>
          <a:lstStyle/>
          <a:p>
            <a:pPr algn="l"/>
            <a:r>
              <a:rPr sz="1000" b="0">
                <a:solidFill>
                  <a:srgbClr val="A4B3C9"/>
                </a:solidFill>
                <a:latin typeface="Aptos"/>
              </a:rPr>
              <a:t>MAE • RMSE • MAPE • Accuracy • R²</a:t>
            </a:r>
          </a:p>
        </p:txBody>
      </p:sp>
      <p:cxnSp>
        <p:nvCxnSpPr>
          <p:cNvPr id="41" name="Connector 40"/>
          <p:cNvCxnSpPr/>
          <p:nvPr/>
        </p:nvCxnSpPr>
        <p:spPr>
          <a:xfrm>
            <a:off x="7187184" y="4379976"/>
            <a:ext cx="228599" cy="0"/>
          </a:xfrm>
          <a:prstGeom prst="line">
            <a:avLst/>
          </a:prstGeom>
          <a:ln w="17780">
            <a:solidFill>
              <a:srgbClr val="A4B3C9"/>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7479792" y="3703320"/>
            <a:ext cx="2011680" cy="135331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635240" y="3867911"/>
            <a:ext cx="206082" cy="224677"/>
          </a:xfrm>
          <a:prstGeom prst="rect">
            <a:avLst/>
          </a:prstGeom>
          <a:noFill/>
        </p:spPr>
        <p:txBody>
          <a:bodyPr wrap="none" lIns="27432" tIns="27432" rIns="27432" bIns="27432" anchor="t">
            <a:spAutoFit/>
          </a:bodyPr>
          <a:lstStyle/>
          <a:p>
            <a:pPr algn="l"/>
            <a:r>
              <a:rPr sz="1100" b="1">
                <a:solidFill>
                  <a:srgbClr val="FFB24B"/>
                </a:solidFill>
                <a:latin typeface="Aptos"/>
              </a:rPr>
              <a:t>09</a:t>
            </a:r>
          </a:p>
        </p:txBody>
      </p:sp>
      <p:sp>
        <p:nvSpPr>
          <p:cNvPr id="44" name="TextBox 43"/>
          <p:cNvSpPr txBox="1"/>
          <p:nvPr/>
        </p:nvSpPr>
        <p:spPr>
          <a:xfrm>
            <a:off x="7635240" y="4233672"/>
            <a:ext cx="1191993" cy="270843"/>
          </a:xfrm>
          <a:prstGeom prst="rect">
            <a:avLst/>
          </a:prstGeom>
          <a:noFill/>
        </p:spPr>
        <p:txBody>
          <a:bodyPr wrap="none" lIns="27432" tIns="27432" rIns="27432" bIns="27432" anchor="t">
            <a:spAutoFit/>
          </a:bodyPr>
          <a:lstStyle/>
          <a:p>
            <a:pPr algn="l"/>
            <a:r>
              <a:rPr sz="1400" b="1">
                <a:solidFill>
                  <a:srgbClr val="F5F8FC"/>
                </a:solidFill>
                <a:latin typeface="Aptos"/>
              </a:rPr>
              <a:t>Model Terbaik</a:t>
            </a:r>
          </a:p>
        </p:txBody>
      </p:sp>
      <p:cxnSp>
        <p:nvCxnSpPr>
          <p:cNvPr id="45" name="Connector 44"/>
          <p:cNvCxnSpPr/>
          <p:nvPr/>
        </p:nvCxnSpPr>
        <p:spPr>
          <a:xfrm>
            <a:off x="9491472" y="4379976"/>
            <a:ext cx="228600" cy="0"/>
          </a:xfrm>
          <a:prstGeom prst="line">
            <a:avLst/>
          </a:prstGeom>
          <a:ln w="17780">
            <a:solidFill>
              <a:srgbClr val="A4B3C9"/>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9784080" y="3703320"/>
            <a:ext cx="2011680" cy="135331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939528" y="3867911"/>
            <a:ext cx="206082" cy="224677"/>
          </a:xfrm>
          <a:prstGeom prst="rect">
            <a:avLst/>
          </a:prstGeom>
          <a:noFill/>
        </p:spPr>
        <p:txBody>
          <a:bodyPr wrap="none" lIns="27432" tIns="27432" rIns="27432" bIns="27432" anchor="t">
            <a:spAutoFit/>
          </a:bodyPr>
          <a:lstStyle/>
          <a:p>
            <a:pPr algn="l"/>
            <a:r>
              <a:rPr sz="1100" b="1">
                <a:solidFill>
                  <a:srgbClr val="3DD6E2"/>
                </a:solidFill>
                <a:latin typeface="Aptos"/>
              </a:rPr>
              <a:t>10</a:t>
            </a:r>
          </a:p>
        </p:txBody>
      </p:sp>
      <p:sp>
        <p:nvSpPr>
          <p:cNvPr id="48" name="TextBox 47"/>
          <p:cNvSpPr txBox="1"/>
          <p:nvPr/>
        </p:nvSpPr>
        <p:spPr>
          <a:xfrm>
            <a:off x="9939528" y="4233672"/>
            <a:ext cx="814838" cy="270843"/>
          </a:xfrm>
          <a:prstGeom prst="rect">
            <a:avLst/>
          </a:prstGeom>
          <a:noFill/>
        </p:spPr>
        <p:txBody>
          <a:bodyPr wrap="none" lIns="27432" tIns="27432" rIns="27432" bIns="27432" anchor="t">
            <a:spAutoFit/>
          </a:bodyPr>
          <a:lstStyle/>
          <a:p>
            <a:pPr algn="l"/>
            <a:r>
              <a:rPr sz="1400" b="1">
                <a:solidFill>
                  <a:srgbClr val="F5F8FC"/>
                </a:solidFill>
                <a:latin typeface="Aptos"/>
              </a:rPr>
              <a:t>Streamlit</a:t>
            </a:r>
          </a:p>
        </p:txBody>
      </p:sp>
      <p:sp>
        <p:nvSpPr>
          <p:cNvPr id="49" name="TextBox 48"/>
          <p:cNvSpPr txBox="1"/>
          <p:nvPr/>
        </p:nvSpPr>
        <p:spPr>
          <a:xfrm>
            <a:off x="731520" y="5897880"/>
            <a:ext cx="10698480" cy="320040"/>
          </a:xfrm>
          <a:prstGeom prst="rect">
            <a:avLst/>
          </a:prstGeom>
          <a:noFill/>
        </p:spPr>
        <p:txBody>
          <a:bodyPr wrap="none" lIns="27432" tIns="27432" rIns="27432" bIns="27432" anchor="t">
            <a:spAutoFit/>
          </a:bodyPr>
          <a:lstStyle/>
          <a:p>
            <a:pPr algn="ctr"/>
            <a:r>
              <a:rPr sz="1150" b="1">
                <a:solidFill>
                  <a:srgbClr val="3DD6E2"/>
                </a:solidFill>
                <a:latin typeface="Aptos"/>
              </a:rPr>
              <a:t>Chronological split • tanpa shuffle untuk menghindari look-ahead bias</a:t>
            </a:r>
          </a:p>
        </p:txBody>
      </p:sp>
      <p:sp>
        <p:nvSpPr>
          <p:cNvPr id="50" name="TextBox 49"/>
          <p:cNvSpPr txBox="1"/>
          <p:nvPr/>
        </p:nvSpPr>
        <p:spPr>
          <a:xfrm>
            <a:off x="640080" y="6510528"/>
            <a:ext cx="4572000" cy="164592"/>
          </a:xfrm>
          <a:prstGeom prst="rect">
            <a:avLst/>
          </a:prstGeom>
          <a:noFill/>
        </p:spPr>
        <p:txBody>
          <a:bodyPr wrap="none" lIns="27432" tIns="27432" rIns="27432" bIns="27432" anchor="t">
            <a:spAutoFit/>
          </a:bodyPr>
          <a:lstStyle/>
          <a:p>
            <a:pPr algn="l"/>
            <a:r>
              <a:rPr sz="800" b="0">
                <a:solidFill>
                  <a:srgbClr val="A4B3C9"/>
                </a:solidFill>
                <a:latin typeface="Aptos"/>
              </a:rPr>
              <a:t>Bedah Paper • Metode Peramalan Deret Waktu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4572000" cy="274320"/>
          </a:xfrm>
          <a:prstGeom prst="rect">
            <a:avLst/>
          </a:prstGeom>
          <a:noFill/>
        </p:spPr>
        <p:txBody>
          <a:bodyPr wrap="none" lIns="27432" tIns="27432" rIns="27432" bIns="27432" anchor="t">
            <a:spAutoFit/>
          </a:bodyPr>
          <a:lstStyle/>
          <a:p>
            <a:pPr algn="l"/>
            <a:r>
              <a:rPr sz="1000" b="1">
                <a:solidFill>
                  <a:srgbClr val="3DD6E2"/>
                </a:solidFill>
                <a:latin typeface="Aptos"/>
              </a:rPr>
              <a:t>08  •  SPESIFIKASI MODEL</a:t>
            </a:r>
          </a:p>
        </p:txBody>
      </p:sp>
      <p:sp>
        <p:nvSpPr>
          <p:cNvPr id="3" name="TextBox 2"/>
          <p:cNvSpPr txBox="1"/>
          <p:nvPr/>
        </p:nvSpPr>
        <p:spPr>
          <a:xfrm>
            <a:off x="621792" y="667512"/>
            <a:ext cx="10698480" cy="502920"/>
          </a:xfrm>
          <a:prstGeom prst="rect">
            <a:avLst/>
          </a:prstGeom>
          <a:noFill/>
        </p:spPr>
        <p:txBody>
          <a:bodyPr wrap="none" lIns="27432" tIns="27432" rIns="27432" bIns="27432" anchor="t">
            <a:spAutoFit/>
          </a:bodyPr>
          <a:lstStyle/>
          <a:p>
            <a:pPr algn="l"/>
            <a:r>
              <a:rPr sz="2800" b="1">
                <a:solidFill>
                  <a:srgbClr val="F5F8FC"/>
                </a:solidFill>
                <a:latin typeface="Aptos"/>
              </a:rPr>
              <a:t>Tiga pendekatan forecasting</a:t>
            </a:r>
          </a:p>
        </p:txBody>
      </p:sp>
      <p:sp>
        <p:nvSpPr>
          <p:cNvPr id="4" name="TextBox 3"/>
          <p:cNvSpPr txBox="1"/>
          <p:nvPr/>
        </p:nvSpPr>
        <p:spPr>
          <a:xfrm>
            <a:off x="640080" y="1197864"/>
            <a:ext cx="3749040" cy="270843"/>
          </a:xfrm>
          <a:prstGeom prst="rect">
            <a:avLst/>
          </a:prstGeom>
          <a:noFill/>
        </p:spPr>
        <p:txBody>
          <a:bodyPr wrap="square" lIns="27432" tIns="27432" rIns="27432" bIns="27432" anchor="t">
            <a:spAutoFit/>
          </a:bodyPr>
          <a:lstStyle/>
          <a:p>
            <a:pPr algn="l"/>
            <a:r>
              <a:rPr sz="1400" b="0" dirty="0" err="1">
                <a:solidFill>
                  <a:srgbClr val="A4B3C9"/>
                </a:solidFill>
                <a:latin typeface="Aptos"/>
              </a:rPr>
              <a:t>Konfigurasi</a:t>
            </a:r>
            <a:r>
              <a:rPr sz="1400" b="0" dirty="0">
                <a:solidFill>
                  <a:srgbClr val="A4B3C9"/>
                </a:solidFill>
                <a:latin typeface="Aptos"/>
              </a:rPr>
              <a:t> yang </a:t>
            </a:r>
            <a:r>
              <a:rPr sz="1400" b="0" dirty="0" err="1">
                <a:solidFill>
                  <a:srgbClr val="A4B3C9"/>
                </a:solidFill>
                <a:latin typeface="Aptos"/>
              </a:rPr>
              <a:t>dilaporkan</a:t>
            </a:r>
            <a:r>
              <a:rPr sz="1400" b="0" dirty="0">
                <a:solidFill>
                  <a:srgbClr val="A4B3C9"/>
                </a:solidFill>
                <a:latin typeface="Aptos"/>
              </a:rPr>
              <a:t> </a:t>
            </a:r>
            <a:r>
              <a:rPr sz="1400" b="0" dirty="0" err="1">
                <a:solidFill>
                  <a:srgbClr val="A4B3C9"/>
                </a:solidFill>
                <a:latin typeface="Aptos"/>
              </a:rPr>
              <a:t>dalam</a:t>
            </a:r>
            <a:r>
              <a:rPr sz="1400" b="0" dirty="0">
                <a:solidFill>
                  <a:srgbClr val="A4B3C9"/>
                </a:solidFill>
                <a:latin typeface="Aptos"/>
              </a:rPr>
              <a:t> paper</a:t>
            </a:r>
          </a:p>
        </p:txBody>
      </p:sp>
      <p:sp>
        <p:nvSpPr>
          <p:cNvPr id="5" name="TextBox 4"/>
          <p:cNvSpPr txBox="1"/>
          <p:nvPr/>
        </p:nvSpPr>
        <p:spPr>
          <a:xfrm>
            <a:off x="11018520" y="320040"/>
            <a:ext cx="548640" cy="274320"/>
          </a:xfrm>
          <a:prstGeom prst="rect">
            <a:avLst/>
          </a:prstGeom>
          <a:noFill/>
        </p:spPr>
        <p:txBody>
          <a:bodyPr wrap="none" lIns="27432" tIns="27432" rIns="27432" bIns="27432" anchor="t">
            <a:spAutoFit/>
          </a:bodyPr>
          <a:lstStyle/>
          <a:p>
            <a:pPr algn="r"/>
            <a:r>
              <a:rPr sz="1000" b="1">
                <a:solidFill>
                  <a:srgbClr val="A4B3C9"/>
                </a:solidFill>
                <a:latin typeface="Aptos"/>
              </a:rPr>
              <a:t>08</a:t>
            </a:r>
          </a:p>
        </p:txBody>
      </p:sp>
      <p:sp>
        <p:nvSpPr>
          <p:cNvPr id="6" name="Rounded Rectangle 5"/>
          <p:cNvSpPr/>
          <p:nvPr/>
        </p:nvSpPr>
        <p:spPr>
          <a:xfrm>
            <a:off x="658368" y="1719072"/>
            <a:ext cx="3429000" cy="299923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19072"/>
            <a:ext cx="50292" cy="2999232"/>
          </a:xfrm>
          <a:prstGeom prst="rect">
            <a:avLst/>
          </a:prstGeom>
          <a:solidFill>
            <a:srgbClr val="FFB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865376"/>
            <a:ext cx="820033" cy="363176"/>
          </a:xfrm>
          <a:prstGeom prst="rect">
            <a:avLst/>
          </a:prstGeom>
          <a:noFill/>
        </p:spPr>
        <p:txBody>
          <a:bodyPr wrap="none" lIns="27432" tIns="27432" rIns="27432" bIns="27432" anchor="t">
            <a:spAutoFit/>
          </a:bodyPr>
          <a:lstStyle/>
          <a:p>
            <a:pPr algn="l"/>
            <a:r>
              <a:rPr sz="2000" b="1" dirty="0">
                <a:solidFill>
                  <a:srgbClr val="F5F8FC"/>
                </a:solidFill>
                <a:latin typeface="Aptos"/>
              </a:rPr>
              <a:t>ARIMA</a:t>
            </a:r>
          </a:p>
        </p:txBody>
      </p:sp>
      <p:sp>
        <p:nvSpPr>
          <p:cNvPr id="9" name="TextBox 8"/>
          <p:cNvSpPr txBox="1"/>
          <p:nvPr/>
        </p:nvSpPr>
        <p:spPr>
          <a:xfrm>
            <a:off x="859536" y="2249424"/>
            <a:ext cx="1203150" cy="1286506"/>
          </a:xfrm>
          <a:prstGeom prst="rect">
            <a:avLst/>
          </a:prstGeom>
          <a:noFill/>
        </p:spPr>
        <p:txBody>
          <a:bodyPr wrap="none" lIns="27432" tIns="27432" rIns="27432" bIns="27432" anchor="t">
            <a:spAutoFit/>
          </a:bodyPr>
          <a:lstStyle/>
          <a:p>
            <a:pPr algn="l"/>
            <a:r>
              <a:rPr sz="1600" b="0" dirty="0">
                <a:solidFill>
                  <a:srgbClr val="A4B3C9"/>
                </a:solidFill>
                <a:latin typeface="Aptos"/>
              </a:rPr>
              <a:t>ARIMA(1,1,1)
p = 1
 d = 1
 q = 1</a:t>
            </a:r>
          </a:p>
        </p:txBody>
      </p:sp>
      <p:sp>
        <p:nvSpPr>
          <p:cNvPr id="10" name="Rounded Rectangle 9"/>
          <p:cNvSpPr/>
          <p:nvPr/>
        </p:nvSpPr>
        <p:spPr>
          <a:xfrm>
            <a:off x="4389120" y="1719072"/>
            <a:ext cx="3429000" cy="299923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719072"/>
            <a:ext cx="50292" cy="2999232"/>
          </a:xfrm>
          <a:prstGeom prst="rect">
            <a:avLst/>
          </a:prstGeom>
          <a:solidFill>
            <a:srgbClr val="8F6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865376"/>
            <a:ext cx="676339" cy="363176"/>
          </a:xfrm>
          <a:prstGeom prst="rect">
            <a:avLst/>
          </a:prstGeom>
          <a:noFill/>
        </p:spPr>
        <p:txBody>
          <a:bodyPr wrap="none" lIns="27432" tIns="27432" rIns="27432" bIns="27432" anchor="t">
            <a:spAutoFit/>
          </a:bodyPr>
          <a:lstStyle/>
          <a:p>
            <a:pPr algn="l"/>
            <a:r>
              <a:rPr sz="2000" b="1">
                <a:solidFill>
                  <a:srgbClr val="F5F8FC"/>
                </a:solidFill>
                <a:latin typeface="Aptos"/>
              </a:rPr>
              <a:t>LSTM</a:t>
            </a:r>
          </a:p>
        </p:txBody>
      </p:sp>
      <p:sp>
        <p:nvSpPr>
          <p:cNvPr id="13" name="TextBox 12"/>
          <p:cNvSpPr txBox="1"/>
          <p:nvPr/>
        </p:nvSpPr>
        <p:spPr>
          <a:xfrm>
            <a:off x="4590288" y="2249424"/>
            <a:ext cx="2231060" cy="1040285"/>
          </a:xfrm>
          <a:prstGeom prst="rect">
            <a:avLst/>
          </a:prstGeom>
          <a:noFill/>
        </p:spPr>
        <p:txBody>
          <a:bodyPr wrap="none" lIns="27432" tIns="27432" rIns="27432" bIns="27432" anchor="t">
            <a:spAutoFit/>
          </a:bodyPr>
          <a:lstStyle/>
          <a:p>
            <a:pPr algn="l"/>
            <a:r>
              <a:rPr sz="1600" b="0">
                <a:solidFill>
                  <a:srgbClr val="A4B3C9"/>
                </a:solidFill>
                <a:latin typeface="Aptos"/>
              </a:rPr>
              <a:t>2 hidden layer
50 neuron/layer
Dropout = 0,2
Dense output = 1 neuron</a:t>
            </a:r>
          </a:p>
        </p:txBody>
      </p:sp>
      <p:sp>
        <p:nvSpPr>
          <p:cNvPr id="14" name="Rounded Rectangle 13"/>
          <p:cNvSpPr/>
          <p:nvPr/>
        </p:nvSpPr>
        <p:spPr>
          <a:xfrm>
            <a:off x="8119872" y="1719072"/>
            <a:ext cx="3264408" cy="2999232"/>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9872" y="1719072"/>
            <a:ext cx="50292" cy="2999232"/>
          </a:xfrm>
          <a:prstGeom prst="rect">
            <a:avLst/>
          </a:prstGeom>
          <a:solidFill>
            <a:srgbClr val="43D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865376"/>
            <a:ext cx="579582" cy="363176"/>
          </a:xfrm>
          <a:prstGeom prst="rect">
            <a:avLst/>
          </a:prstGeom>
          <a:noFill/>
        </p:spPr>
        <p:txBody>
          <a:bodyPr wrap="none" lIns="27432" tIns="27432" rIns="27432" bIns="27432" anchor="t">
            <a:spAutoFit/>
          </a:bodyPr>
          <a:lstStyle/>
          <a:p>
            <a:pPr algn="l"/>
            <a:r>
              <a:rPr sz="2000" b="1" dirty="0">
                <a:solidFill>
                  <a:srgbClr val="F5F8FC"/>
                </a:solidFill>
                <a:latin typeface="Aptos"/>
              </a:rPr>
              <a:t>GRU</a:t>
            </a:r>
            <a:endParaRPr sz="1600" b="1" dirty="0">
              <a:solidFill>
                <a:srgbClr val="F5F8FC"/>
              </a:solidFill>
              <a:latin typeface="Aptos"/>
            </a:endParaRPr>
          </a:p>
        </p:txBody>
      </p:sp>
      <p:sp>
        <p:nvSpPr>
          <p:cNvPr id="17" name="TextBox 16"/>
          <p:cNvSpPr txBox="1"/>
          <p:nvPr/>
        </p:nvSpPr>
        <p:spPr>
          <a:xfrm>
            <a:off x="8321040" y="2249424"/>
            <a:ext cx="1443408" cy="794064"/>
          </a:xfrm>
          <a:prstGeom prst="rect">
            <a:avLst/>
          </a:prstGeom>
          <a:noFill/>
        </p:spPr>
        <p:txBody>
          <a:bodyPr wrap="none" lIns="27432" tIns="27432" rIns="27432" bIns="27432" anchor="t">
            <a:spAutoFit/>
          </a:bodyPr>
          <a:lstStyle/>
          <a:p>
            <a:pPr algn="l"/>
            <a:r>
              <a:rPr sz="1600" b="0" dirty="0">
                <a:solidFill>
                  <a:srgbClr val="A4B3C9"/>
                </a:solidFill>
                <a:latin typeface="Aptos"/>
              </a:rPr>
              <a:t>2 layer
50 neuron/layer
Dropout = 0,2</a:t>
            </a:r>
          </a:p>
        </p:txBody>
      </p:sp>
      <p:sp>
        <p:nvSpPr>
          <p:cNvPr id="18" name="Rounded Rectangle 17"/>
          <p:cNvSpPr/>
          <p:nvPr/>
        </p:nvSpPr>
        <p:spPr>
          <a:xfrm>
            <a:off x="658368" y="4956048"/>
            <a:ext cx="10725912" cy="822960"/>
          </a:xfrm>
          <a:prstGeom prst="roundRect">
            <a:avLst/>
          </a:prstGeom>
          <a:solidFill>
            <a:srgbClr val="152138"/>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8289" y="5043833"/>
            <a:ext cx="2846070" cy="301621"/>
          </a:xfrm>
          <a:prstGeom prst="rect">
            <a:avLst/>
          </a:prstGeom>
          <a:noFill/>
        </p:spPr>
        <p:txBody>
          <a:bodyPr wrap="square" lIns="27432" tIns="27432" rIns="27432" bIns="27432" anchor="t">
            <a:spAutoFit/>
          </a:bodyPr>
          <a:lstStyle/>
          <a:p>
            <a:pPr algn="ctr"/>
            <a:r>
              <a:rPr sz="1600" b="1" dirty="0">
                <a:solidFill>
                  <a:srgbClr val="3DD6E2"/>
                </a:solidFill>
                <a:latin typeface="Aptos"/>
              </a:rPr>
              <a:t>TRAINING DEEP LEARNING</a:t>
            </a:r>
          </a:p>
        </p:txBody>
      </p:sp>
      <p:sp>
        <p:nvSpPr>
          <p:cNvPr id="20" name="TextBox 19"/>
          <p:cNvSpPr txBox="1"/>
          <p:nvPr/>
        </p:nvSpPr>
        <p:spPr>
          <a:xfrm>
            <a:off x="1771650" y="5369433"/>
            <a:ext cx="8641080" cy="301621"/>
          </a:xfrm>
          <a:prstGeom prst="rect">
            <a:avLst/>
          </a:prstGeom>
          <a:noFill/>
        </p:spPr>
        <p:txBody>
          <a:bodyPr wrap="square" lIns="27432" tIns="27432" rIns="27432" bIns="27432" anchor="t">
            <a:spAutoFit/>
          </a:bodyPr>
          <a:lstStyle/>
          <a:p>
            <a:pPr algn="l"/>
            <a:r>
              <a:rPr sz="1600" b="1" dirty="0">
                <a:solidFill>
                  <a:srgbClr val="F5F8FC"/>
                </a:solidFill>
                <a:latin typeface="Aptos"/>
              </a:rPr>
              <a:t>Loss: MSE   •   Optimizer: Adam   •   LR: 0,001   •   Batch: 32   •   Epoch: 50   •   Window: 30 </a:t>
            </a:r>
            <a:r>
              <a:rPr sz="1600" b="1" dirty="0" err="1">
                <a:solidFill>
                  <a:srgbClr val="F5F8FC"/>
                </a:solidFill>
                <a:latin typeface="Aptos"/>
              </a:rPr>
              <a:t>hari</a:t>
            </a:r>
            <a:endParaRPr sz="1600" b="1" dirty="0">
              <a:solidFill>
                <a:srgbClr val="F5F8FC"/>
              </a:solidFill>
              <a:latin typeface="Aptos"/>
            </a:endParaRPr>
          </a:p>
        </p:txBody>
      </p:sp>
      <p:sp>
        <p:nvSpPr>
          <p:cNvPr id="21" name="TextBox 20"/>
          <p:cNvSpPr txBox="1"/>
          <p:nvPr/>
        </p:nvSpPr>
        <p:spPr>
          <a:xfrm>
            <a:off x="640080" y="6510528"/>
            <a:ext cx="4572000" cy="164592"/>
          </a:xfrm>
          <a:prstGeom prst="rect">
            <a:avLst/>
          </a:prstGeom>
          <a:noFill/>
        </p:spPr>
        <p:txBody>
          <a:bodyPr wrap="none" lIns="27432" tIns="27432" rIns="27432" bIns="27432" anchor="t">
            <a:spAutoFit/>
          </a:bodyPr>
          <a:lstStyle/>
          <a:p>
            <a:pPr algn="l"/>
            <a:r>
              <a:rPr sz="800" b="0">
                <a:solidFill>
                  <a:srgbClr val="A4B3C9"/>
                </a:solidFill>
                <a:latin typeface="Aptos"/>
              </a:rPr>
              <a:t>Bedah Paper • Metode Peramalan Deret Waktu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4572000" cy="274320"/>
          </a:xfrm>
          <a:prstGeom prst="rect">
            <a:avLst/>
          </a:prstGeom>
          <a:noFill/>
        </p:spPr>
        <p:txBody>
          <a:bodyPr wrap="none" lIns="27432" tIns="27432" rIns="27432" bIns="27432" anchor="t">
            <a:spAutoFit/>
          </a:bodyPr>
          <a:lstStyle/>
          <a:p>
            <a:pPr algn="l"/>
            <a:r>
              <a:rPr sz="1000" b="1">
                <a:solidFill>
                  <a:srgbClr val="3DD6E2"/>
                </a:solidFill>
                <a:latin typeface="Aptos"/>
              </a:rPr>
              <a:t>09  •  HASIL PENELITIAN</a:t>
            </a:r>
          </a:p>
        </p:txBody>
      </p:sp>
      <p:sp>
        <p:nvSpPr>
          <p:cNvPr id="3" name="TextBox 2"/>
          <p:cNvSpPr txBox="1"/>
          <p:nvPr/>
        </p:nvSpPr>
        <p:spPr>
          <a:xfrm>
            <a:off x="621792" y="667512"/>
            <a:ext cx="10698480" cy="502920"/>
          </a:xfrm>
          <a:prstGeom prst="rect">
            <a:avLst/>
          </a:prstGeom>
          <a:noFill/>
        </p:spPr>
        <p:txBody>
          <a:bodyPr wrap="none" lIns="27432" tIns="27432" rIns="27432" bIns="27432" anchor="t">
            <a:spAutoFit/>
          </a:bodyPr>
          <a:lstStyle/>
          <a:p>
            <a:pPr algn="l"/>
            <a:r>
              <a:rPr sz="2800" b="1">
                <a:solidFill>
                  <a:srgbClr val="F5F8FC"/>
                </a:solidFill>
                <a:latin typeface="Aptos"/>
              </a:rPr>
              <a:t>Perbandingan performa</a:t>
            </a:r>
          </a:p>
        </p:txBody>
      </p:sp>
      <p:sp>
        <p:nvSpPr>
          <p:cNvPr id="4" name="TextBox 3"/>
          <p:cNvSpPr txBox="1"/>
          <p:nvPr/>
        </p:nvSpPr>
        <p:spPr>
          <a:xfrm>
            <a:off x="640080" y="1197864"/>
            <a:ext cx="10607040" cy="365760"/>
          </a:xfrm>
          <a:prstGeom prst="rect">
            <a:avLst/>
          </a:prstGeom>
          <a:noFill/>
        </p:spPr>
        <p:txBody>
          <a:bodyPr wrap="none" lIns="27432" tIns="27432" rIns="27432" bIns="27432" anchor="t">
            <a:spAutoFit/>
          </a:bodyPr>
          <a:lstStyle/>
          <a:p>
            <a:pPr algn="l"/>
            <a:r>
              <a:rPr sz="1150" b="0">
                <a:solidFill>
                  <a:srgbClr val="A4B3C9"/>
                </a:solidFill>
                <a:latin typeface="Aptos"/>
              </a:rPr>
              <a:t>Angka hasil penelitian yang dilaporkan paper</a:t>
            </a:r>
          </a:p>
        </p:txBody>
      </p:sp>
      <p:sp>
        <p:nvSpPr>
          <p:cNvPr id="5" name="TextBox 4"/>
          <p:cNvSpPr txBox="1"/>
          <p:nvPr/>
        </p:nvSpPr>
        <p:spPr>
          <a:xfrm>
            <a:off x="11018520" y="320040"/>
            <a:ext cx="548640" cy="274320"/>
          </a:xfrm>
          <a:prstGeom prst="rect">
            <a:avLst/>
          </a:prstGeom>
          <a:noFill/>
        </p:spPr>
        <p:txBody>
          <a:bodyPr wrap="none" lIns="27432" tIns="27432" rIns="27432" bIns="27432" anchor="t">
            <a:spAutoFit/>
          </a:bodyPr>
          <a:lstStyle/>
          <a:p>
            <a:pPr algn="r"/>
            <a:r>
              <a:rPr sz="1000" b="1">
                <a:solidFill>
                  <a:srgbClr val="A4B3C9"/>
                </a:solidFill>
                <a:latin typeface="Aptos"/>
              </a:rPr>
              <a:t>09</a:t>
            </a:r>
          </a:p>
        </p:txBody>
      </p:sp>
      <p:graphicFrame>
        <p:nvGraphicFramePr>
          <p:cNvPr id="6" name="Chart 5"/>
          <p:cNvGraphicFramePr>
            <a:graphicFrameLocks noGrp="1"/>
          </p:cNvGraphicFramePr>
          <p:nvPr>
            <p:extLst>
              <p:ext uri="{D42A27DB-BD31-4B8C-83A1-F6EECF244321}">
                <p14:modId xmlns:p14="http://schemas.microsoft.com/office/powerpoint/2010/main" val="3447576762"/>
              </p:ext>
            </p:extLst>
          </p:nvPr>
        </p:nvGraphicFramePr>
        <p:xfrm>
          <a:off x="640080" y="1691640"/>
          <a:ext cx="54864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6446520" y="1719072"/>
            <a:ext cx="2240280" cy="91440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1112" y="1856231"/>
            <a:ext cx="1874519" cy="182880"/>
          </a:xfrm>
          <a:prstGeom prst="rect">
            <a:avLst/>
          </a:prstGeom>
          <a:noFill/>
        </p:spPr>
        <p:txBody>
          <a:bodyPr wrap="none" lIns="27432" tIns="27432" rIns="27432" bIns="27432" anchor="t">
            <a:spAutoFit/>
          </a:bodyPr>
          <a:lstStyle/>
          <a:p>
            <a:pPr algn="l"/>
            <a:r>
              <a:rPr sz="850" b="1">
                <a:solidFill>
                  <a:srgbClr val="43DA99"/>
                </a:solidFill>
                <a:latin typeface="Aptos"/>
              </a:rPr>
              <a:t>MAE</a:t>
            </a:r>
          </a:p>
        </p:txBody>
      </p:sp>
      <p:sp>
        <p:nvSpPr>
          <p:cNvPr id="9" name="TextBox 8"/>
          <p:cNvSpPr txBox="1"/>
          <p:nvPr/>
        </p:nvSpPr>
        <p:spPr>
          <a:xfrm>
            <a:off x="6611112" y="2176272"/>
            <a:ext cx="1874519" cy="274320"/>
          </a:xfrm>
          <a:prstGeom prst="rect">
            <a:avLst/>
          </a:prstGeom>
          <a:noFill/>
        </p:spPr>
        <p:txBody>
          <a:bodyPr wrap="none" lIns="27432" tIns="27432" rIns="27432" bIns="27432" anchor="t">
            <a:spAutoFit/>
          </a:bodyPr>
          <a:lstStyle/>
          <a:p>
            <a:pPr algn="l"/>
            <a:r>
              <a:rPr sz="1300" b="1">
                <a:solidFill>
                  <a:srgbClr val="F5F8FC"/>
                </a:solidFill>
                <a:latin typeface="Aptos"/>
              </a:rPr>
              <a:t>Rp34.773.098,88</a:t>
            </a:r>
          </a:p>
        </p:txBody>
      </p:sp>
      <p:sp>
        <p:nvSpPr>
          <p:cNvPr id="10" name="Rounded Rectangle 9"/>
          <p:cNvSpPr/>
          <p:nvPr/>
        </p:nvSpPr>
        <p:spPr>
          <a:xfrm>
            <a:off x="8869680" y="1719072"/>
            <a:ext cx="2240280" cy="91440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34272" y="1856231"/>
            <a:ext cx="1874519" cy="182880"/>
          </a:xfrm>
          <a:prstGeom prst="rect">
            <a:avLst/>
          </a:prstGeom>
          <a:noFill/>
        </p:spPr>
        <p:txBody>
          <a:bodyPr wrap="none" lIns="27432" tIns="27432" rIns="27432" bIns="27432" anchor="t">
            <a:spAutoFit/>
          </a:bodyPr>
          <a:lstStyle/>
          <a:p>
            <a:pPr algn="l"/>
            <a:r>
              <a:rPr sz="850" b="1">
                <a:solidFill>
                  <a:srgbClr val="43DA99"/>
                </a:solidFill>
                <a:latin typeface="Aptos"/>
              </a:rPr>
              <a:t>RMSE</a:t>
            </a:r>
          </a:p>
        </p:txBody>
      </p:sp>
      <p:sp>
        <p:nvSpPr>
          <p:cNvPr id="12" name="TextBox 11"/>
          <p:cNvSpPr txBox="1"/>
          <p:nvPr/>
        </p:nvSpPr>
        <p:spPr>
          <a:xfrm>
            <a:off x="9034272" y="2176272"/>
            <a:ext cx="1874519" cy="274320"/>
          </a:xfrm>
          <a:prstGeom prst="rect">
            <a:avLst/>
          </a:prstGeom>
          <a:noFill/>
        </p:spPr>
        <p:txBody>
          <a:bodyPr wrap="none" lIns="27432" tIns="27432" rIns="27432" bIns="27432" anchor="t">
            <a:spAutoFit/>
          </a:bodyPr>
          <a:lstStyle/>
          <a:p>
            <a:pPr algn="l"/>
            <a:r>
              <a:rPr sz="1300" b="1">
                <a:solidFill>
                  <a:srgbClr val="F5F8FC"/>
                </a:solidFill>
                <a:latin typeface="Aptos"/>
              </a:rPr>
              <a:t>Rp46.684.832,94</a:t>
            </a:r>
          </a:p>
        </p:txBody>
      </p:sp>
      <p:sp>
        <p:nvSpPr>
          <p:cNvPr id="13" name="Rounded Rectangle 12"/>
          <p:cNvSpPr/>
          <p:nvPr/>
        </p:nvSpPr>
        <p:spPr>
          <a:xfrm>
            <a:off x="6446520" y="2798063"/>
            <a:ext cx="2240280" cy="91440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11112" y="2935223"/>
            <a:ext cx="1874519" cy="182880"/>
          </a:xfrm>
          <a:prstGeom prst="rect">
            <a:avLst/>
          </a:prstGeom>
          <a:noFill/>
        </p:spPr>
        <p:txBody>
          <a:bodyPr wrap="none" lIns="27432" tIns="27432" rIns="27432" bIns="27432" anchor="t">
            <a:spAutoFit/>
          </a:bodyPr>
          <a:lstStyle/>
          <a:p>
            <a:pPr algn="l"/>
            <a:r>
              <a:rPr sz="850" b="1">
                <a:solidFill>
                  <a:srgbClr val="43DA99"/>
                </a:solidFill>
                <a:latin typeface="Aptos"/>
              </a:rPr>
              <a:t>MAPE</a:t>
            </a:r>
          </a:p>
        </p:txBody>
      </p:sp>
      <p:sp>
        <p:nvSpPr>
          <p:cNvPr id="15" name="TextBox 14"/>
          <p:cNvSpPr txBox="1"/>
          <p:nvPr/>
        </p:nvSpPr>
        <p:spPr>
          <a:xfrm>
            <a:off x="6611112" y="3255263"/>
            <a:ext cx="1874519" cy="274320"/>
          </a:xfrm>
          <a:prstGeom prst="rect">
            <a:avLst/>
          </a:prstGeom>
          <a:noFill/>
        </p:spPr>
        <p:txBody>
          <a:bodyPr wrap="none" lIns="27432" tIns="27432" rIns="27432" bIns="27432" anchor="t">
            <a:spAutoFit/>
          </a:bodyPr>
          <a:lstStyle/>
          <a:p>
            <a:pPr algn="l"/>
            <a:r>
              <a:rPr sz="1300" b="1">
                <a:solidFill>
                  <a:srgbClr val="F5F8FC"/>
                </a:solidFill>
                <a:latin typeface="Aptos"/>
              </a:rPr>
              <a:t>2,26%</a:t>
            </a:r>
          </a:p>
        </p:txBody>
      </p:sp>
      <p:sp>
        <p:nvSpPr>
          <p:cNvPr id="16" name="Rounded Rectangle 15"/>
          <p:cNvSpPr/>
          <p:nvPr/>
        </p:nvSpPr>
        <p:spPr>
          <a:xfrm>
            <a:off x="8869680" y="2798063"/>
            <a:ext cx="2240280" cy="91440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34272" y="2935223"/>
            <a:ext cx="1874519" cy="182880"/>
          </a:xfrm>
          <a:prstGeom prst="rect">
            <a:avLst/>
          </a:prstGeom>
          <a:noFill/>
        </p:spPr>
        <p:txBody>
          <a:bodyPr wrap="none" lIns="27432" tIns="27432" rIns="27432" bIns="27432" anchor="t">
            <a:spAutoFit/>
          </a:bodyPr>
          <a:lstStyle/>
          <a:p>
            <a:pPr algn="l"/>
            <a:r>
              <a:rPr sz="850" b="1">
                <a:solidFill>
                  <a:srgbClr val="43DA99"/>
                </a:solidFill>
                <a:latin typeface="Aptos"/>
              </a:rPr>
              <a:t>Accuracy</a:t>
            </a:r>
          </a:p>
        </p:txBody>
      </p:sp>
      <p:sp>
        <p:nvSpPr>
          <p:cNvPr id="18" name="TextBox 17"/>
          <p:cNvSpPr txBox="1"/>
          <p:nvPr/>
        </p:nvSpPr>
        <p:spPr>
          <a:xfrm>
            <a:off x="9034272" y="3255263"/>
            <a:ext cx="1874519" cy="274320"/>
          </a:xfrm>
          <a:prstGeom prst="rect">
            <a:avLst/>
          </a:prstGeom>
          <a:noFill/>
        </p:spPr>
        <p:txBody>
          <a:bodyPr wrap="none" lIns="27432" tIns="27432" rIns="27432" bIns="27432" anchor="t">
            <a:spAutoFit/>
          </a:bodyPr>
          <a:lstStyle/>
          <a:p>
            <a:pPr algn="l"/>
            <a:r>
              <a:rPr sz="1300" b="1">
                <a:solidFill>
                  <a:srgbClr val="F5F8FC"/>
                </a:solidFill>
                <a:latin typeface="Aptos"/>
              </a:rPr>
              <a:t>97,74%</a:t>
            </a:r>
          </a:p>
        </p:txBody>
      </p:sp>
      <p:sp>
        <p:nvSpPr>
          <p:cNvPr id="19" name="Rounded Rectangle 18"/>
          <p:cNvSpPr/>
          <p:nvPr/>
        </p:nvSpPr>
        <p:spPr>
          <a:xfrm>
            <a:off x="6446520" y="3877056"/>
            <a:ext cx="2240280" cy="91440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11112" y="4014216"/>
            <a:ext cx="1874519" cy="182880"/>
          </a:xfrm>
          <a:prstGeom prst="rect">
            <a:avLst/>
          </a:prstGeom>
          <a:noFill/>
        </p:spPr>
        <p:txBody>
          <a:bodyPr wrap="none" lIns="27432" tIns="27432" rIns="27432" bIns="27432" anchor="t">
            <a:spAutoFit/>
          </a:bodyPr>
          <a:lstStyle/>
          <a:p>
            <a:pPr algn="l"/>
            <a:r>
              <a:rPr sz="850" b="1">
                <a:solidFill>
                  <a:srgbClr val="43DA99"/>
                </a:solidFill>
                <a:latin typeface="Aptos"/>
              </a:rPr>
              <a:t>R²</a:t>
            </a:r>
          </a:p>
        </p:txBody>
      </p:sp>
      <p:sp>
        <p:nvSpPr>
          <p:cNvPr id="21" name="TextBox 20"/>
          <p:cNvSpPr txBox="1"/>
          <p:nvPr/>
        </p:nvSpPr>
        <p:spPr>
          <a:xfrm>
            <a:off x="6611112" y="4334256"/>
            <a:ext cx="1874519" cy="274320"/>
          </a:xfrm>
          <a:prstGeom prst="rect">
            <a:avLst/>
          </a:prstGeom>
          <a:noFill/>
        </p:spPr>
        <p:txBody>
          <a:bodyPr wrap="none" lIns="27432" tIns="27432" rIns="27432" bIns="27432" anchor="t">
            <a:spAutoFit/>
          </a:bodyPr>
          <a:lstStyle/>
          <a:p>
            <a:pPr algn="l"/>
            <a:r>
              <a:rPr sz="1300" b="1">
                <a:solidFill>
                  <a:srgbClr val="F5F8FC"/>
                </a:solidFill>
                <a:latin typeface="Aptos"/>
              </a:rPr>
              <a:t>0,9661</a:t>
            </a:r>
          </a:p>
        </p:txBody>
      </p:sp>
      <p:sp>
        <p:nvSpPr>
          <p:cNvPr id="22" name="Rounded Rectangle 21"/>
          <p:cNvSpPr/>
          <p:nvPr/>
        </p:nvSpPr>
        <p:spPr>
          <a:xfrm>
            <a:off x="8851392" y="3883151"/>
            <a:ext cx="2377440" cy="908305"/>
          </a:xfrm>
          <a:prstGeom prst="roundRect">
            <a:avLst/>
          </a:prstGeom>
          <a:solidFill>
            <a:srgbClr val="152138"/>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34272" y="3983962"/>
            <a:ext cx="1097280" cy="228600"/>
          </a:xfrm>
          <a:prstGeom prst="rect">
            <a:avLst/>
          </a:prstGeom>
          <a:noFill/>
        </p:spPr>
        <p:txBody>
          <a:bodyPr wrap="none" lIns="27432" tIns="27432" rIns="27432" bIns="27432" anchor="t">
            <a:spAutoFit/>
          </a:bodyPr>
          <a:lstStyle/>
          <a:p>
            <a:pPr algn="l"/>
            <a:r>
              <a:rPr sz="950" b="1" dirty="0">
                <a:solidFill>
                  <a:srgbClr val="8F6FFF"/>
                </a:solidFill>
                <a:latin typeface="Aptos"/>
              </a:rPr>
              <a:t>Model lain</a:t>
            </a:r>
          </a:p>
        </p:txBody>
      </p:sp>
      <p:sp>
        <p:nvSpPr>
          <p:cNvPr id="24" name="TextBox 23"/>
          <p:cNvSpPr txBox="1"/>
          <p:nvPr/>
        </p:nvSpPr>
        <p:spPr>
          <a:xfrm>
            <a:off x="9034272" y="4165091"/>
            <a:ext cx="1740409" cy="540148"/>
          </a:xfrm>
          <a:prstGeom prst="rect">
            <a:avLst/>
          </a:prstGeom>
          <a:noFill/>
        </p:spPr>
        <p:txBody>
          <a:bodyPr wrap="square" lIns="27432" tIns="27432" rIns="27432" bIns="27432" anchor="t">
            <a:spAutoFit/>
          </a:bodyPr>
          <a:lstStyle/>
          <a:p>
            <a:r>
              <a:rPr sz="1050" b="1" dirty="0">
                <a:solidFill>
                  <a:srgbClr val="F5F8FC"/>
                </a:solidFill>
                <a:latin typeface="Aptos"/>
              </a:rPr>
              <a:t>LSTM: MAPE 2,86%   </a:t>
            </a:r>
            <a:endParaRPr lang="en-US" sz="1050" b="1" dirty="0">
              <a:solidFill>
                <a:srgbClr val="F5F8FC"/>
              </a:solidFill>
              <a:latin typeface="Aptos"/>
            </a:endParaRPr>
          </a:p>
          <a:p>
            <a:r>
              <a:rPr sz="1050" b="1" dirty="0">
                <a:solidFill>
                  <a:srgbClr val="F5F8FC"/>
                </a:solidFill>
                <a:latin typeface="Aptos"/>
              </a:rPr>
              <a:t>ARIMA: MAPE 14,93%</a:t>
            </a:r>
            <a:r>
              <a:rPr lang="en-US" sz="1050" b="1" dirty="0">
                <a:solidFill>
                  <a:srgbClr val="F5F8FC"/>
                </a:solidFill>
                <a:latin typeface="Aptos"/>
              </a:rPr>
              <a:t> </a:t>
            </a:r>
            <a:endParaRPr lang="en-ID" sz="1050" b="1" dirty="0">
              <a:solidFill>
                <a:srgbClr val="F5F8FC"/>
              </a:solidFill>
              <a:latin typeface="Aptos"/>
            </a:endParaRPr>
          </a:p>
          <a:p>
            <a:r>
              <a:rPr sz="1050" b="1" dirty="0">
                <a:solidFill>
                  <a:srgbClr val="F5F8FC"/>
                </a:solidFill>
                <a:latin typeface="Aptos"/>
              </a:rPr>
              <a:t>ARIMA: R² = −0,0136</a:t>
            </a:r>
          </a:p>
        </p:txBody>
      </p:sp>
      <p:sp>
        <p:nvSpPr>
          <p:cNvPr id="25" name="TextBox 24"/>
          <p:cNvSpPr txBox="1"/>
          <p:nvPr/>
        </p:nvSpPr>
        <p:spPr>
          <a:xfrm>
            <a:off x="658368" y="5413248"/>
            <a:ext cx="10744200" cy="232371"/>
          </a:xfrm>
          <a:prstGeom prst="rect">
            <a:avLst/>
          </a:prstGeom>
          <a:noFill/>
        </p:spPr>
        <p:txBody>
          <a:bodyPr wrap="square" lIns="27432" tIns="27432" rIns="27432" bIns="27432" anchor="t">
            <a:spAutoFit/>
          </a:bodyPr>
          <a:lstStyle/>
          <a:p>
            <a:pPr algn="ctr"/>
            <a:r>
              <a:rPr sz="1150" b="1">
                <a:solidFill>
                  <a:srgbClr val="3DD6E2"/>
                </a:solidFill>
                <a:latin typeface="Aptos"/>
              </a:rPr>
              <a:t>Hasil utama paper: GRU dilaporkan menghasilkan error terendah dan R² tertinggi.</a:t>
            </a:r>
          </a:p>
        </p:txBody>
      </p:sp>
      <p:sp>
        <p:nvSpPr>
          <p:cNvPr id="26" name="TextBox 25"/>
          <p:cNvSpPr txBox="1"/>
          <p:nvPr/>
        </p:nvSpPr>
        <p:spPr>
          <a:xfrm>
            <a:off x="640080" y="6510528"/>
            <a:ext cx="4572000" cy="164592"/>
          </a:xfrm>
          <a:prstGeom prst="rect">
            <a:avLst/>
          </a:prstGeom>
          <a:noFill/>
        </p:spPr>
        <p:txBody>
          <a:bodyPr wrap="none" lIns="27432" tIns="27432" rIns="27432" bIns="27432" anchor="t">
            <a:spAutoFit/>
          </a:bodyPr>
          <a:lstStyle/>
          <a:p>
            <a:pPr algn="l"/>
            <a:r>
              <a:rPr sz="800" b="0" dirty="0" err="1">
                <a:solidFill>
                  <a:srgbClr val="A4B3C9"/>
                </a:solidFill>
                <a:latin typeface="Aptos"/>
              </a:rPr>
              <a:t>Bedah</a:t>
            </a:r>
            <a:r>
              <a:rPr sz="800" b="0" dirty="0">
                <a:solidFill>
                  <a:srgbClr val="A4B3C9"/>
                </a:solidFill>
                <a:latin typeface="Aptos"/>
              </a:rPr>
              <a:t> Paper • Metode </a:t>
            </a:r>
            <a:r>
              <a:rPr sz="800" b="0" dirty="0" err="1">
                <a:solidFill>
                  <a:srgbClr val="A4B3C9"/>
                </a:solidFill>
                <a:latin typeface="Aptos"/>
              </a:rPr>
              <a:t>Peramalan</a:t>
            </a:r>
            <a:r>
              <a:rPr sz="800" b="0" dirty="0">
                <a:solidFill>
                  <a:srgbClr val="A4B3C9"/>
                </a:solidFill>
                <a:latin typeface="Aptos"/>
              </a:rPr>
              <a:t> </a:t>
            </a:r>
            <a:r>
              <a:rPr sz="800" b="0" dirty="0" err="1">
                <a:solidFill>
                  <a:srgbClr val="A4B3C9"/>
                </a:solidFill>
                <a:latin typeface="Aptos"/>
              </a:rPr>
              <a:t>Deret</a:t>
            </a:r>
            <a:r>
              <a:rPr sz="800" b="0" dirty="0">
                <a:solidFill>
                  <a:srgbClr val="A4B3C9"/>
                </a:solidFill>
                <a:latin typeface="Aptos"/>
              </a:rPr>
              <a:t> Waktu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4572000" cy="274320"/>
          </a:xfrm>
          <a:prstGeom prst="rect">
            <a:avLst/>
          </a:prstGeom>
          <a:noFill/>
        </p:spPr>
        <p:txBody>
          <a:bodyPr wrap="none" lIns="27432" tIns="27432" rIns="27432" bIns="27432" anchor="t">
            <a:spAutoFit/>
          </a:bodyPr>
          <a:lstStyle/>
          <a:p>
            <a:pPr algn="l"/>
            <a:r>
              <a:rPr sz="1000" b="1">
                <a:solidFill>
                  <a:srgbClr val="3DD6E2"/>
                </a:solidFill>
                <a:latin typeface="Aptos"/>
              </a:rPr>
              <a:t>10  •  INTERPRETASI HASIL</a:t>
            </a:r>
          </a:p>
        </p:txBody>
      </p:sp>
      <p:sp>
        <p:nvSpPr>
          <p:cNvPr id="3" name="TextBox 2"/>
          <p:cNvSpPr txBox="1"/>
          <p:nvPr/>
        </p:nvSpPr>
        <p:spPr>
          <a:xfrm>
            <a:off x="621792" y="667512"/>
            <a:ext cx="10698480" cy="502920"/>
          </a:xfrm>
          <a:prstGeom prst="rect">
            <a:avLst/>
          </a:prstGeom>
          <a:noFill/>
        </p:spPr>
        <p:txBody>
          <a:bodyPr wrap="none" lIns="27432" tIns="27432" rIns="27432" bIns="27432" anchor="t">
            <a:spAutoFit/>
          </a:bodyPr>
          <a:lstStyle/>
          <a:p>
            <a:pPr algn="l"/>
            <a:r>
              <a:rPr sz="2800" b="1">
                <a:solidFill>
                  <a:srgbClr val="F5F8FC"/>
                </a:solidFill>
                <a:latin typeface="Aptos"/>
              </a:rPr>
              <a:t>Bagaimana hasil dibaca?</a:t>
            </a:r>
          </a:p>
        </p:txBody>
      </p:sp>
      <p:sp>
        <p:nvSpPr>
          <p:cNvPr id="4" name="TextBox 3"/>
          <p:cNvSpPr txBox="1"/>
          <p:nvPr/>
        </p:nvSpPr>
        <p:spPr>
          <a:xfrm>
            <a:off x="640080" y="1197864"/>
            <a:ext cx="10607040" cy="365760"/>
          </a:xfrm>
          <a:prstGeom prst="rect">
            <a:avLst/>
          </a:prstGeom>
          <a:noFill/>
        </p:spPr>
        <p:txBody>
          <a:bodyPr wrap="none" lIns="27432" tIns="27432" rIns="27432" bIns="27432" anchor="t">
            <a:spAutoFit/>
          </a:bodyPr>
          <a:lstStyle/>
          <a:p>
            <a:pPr algn="l"/>
            <a:r>
              <a:rPr sz="1150" b="0">
                <a:solidFill>
                  <a:srgbClr val="A4B3C9"/>
                </a:solidFill>
                <a:latin typeface="Aptos"/>
              </a:rPr>
              <a:t>Pisahkan hasil numerik dari interpretasi penulis</a:t>
            </a:r>
          </a:p>
        </p:txBody>
      </p:sp>
      <p:sp>
        <p:nvSpPr>
          <p:cNvPr id="5" name="TextBox 4"/>
          <p:cNvSpPr txBox="1"/>
          <p:nvPr/>
        </p:nvSpPr>
        <p:spPr>
          <a:xfrm>
            <a:off x="11018520" y="320040"/>
            <a:ext cx="548640" cy="274320"/>
          </a:xfrm>
          <a:prstGeom prst="rect">
            <a:avLst/>
          </a:prstGeom>
          <a:noFill/>
        </p:spPr>
        <p:txBody>
          <a:bodyPr wrap="none" lIns="27432" tIns="27432" rIns="27432" bIns="27432" anchor="t">
            <a:spAutoFit/>
          </a:bodyPr>
          <a:lstStyle/>
          <a:p>
            <a:pPr algn="r"/>
            <a:r>
              <a:rPr sz="1000" b="1">
                <a:solidFill>
                  <a:srgbClr val="A4B3C9"/>
                </a:solidFill>
                <a:latin typeface="Aptos"/>
              </a:rPr>
              <a:t>10</a:t>
            </a:r>
          </a:p>
        </p:txBody>
      </p:sp>
      <p:sp>
        <p:nvSpPr>
          <p:cNvPr id="6" name="Rounded Rectangle 5"/>
          <p:cNvSpPr/>
          <p:nvPr/>
        </p:nvSpPr>
        <p:spPr>
          <a:xfrm>
            <a:off x="658368" y="1719072"/>
            <a:ext cx="3429000" cy="242316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19072"/>
            <a:ext cx="50292" cy="2423160"/>
          </a:xfrm>
          <a:prstGeom prst="rect">
            <a:avLst/>
          </a:prstGeom>
          <a:solidFill>
            <a:srgbClr val="43D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865376"/>
            <a:ext cx="3081528" cy="320040"/>
          </a:xfrm>
          <a:prstGeom prst="rect">
            <a:avLst/>
          </a:prstGeom>
          <a:noFill/>
        </p:spPr>
        <p:txBody>
          <a:bodyPr wrap="none" lIns="27432" tIns="27432" rIns="27432" bIns="27432" anchor="t">
            <a:spAutoFit/>
          </a:bodyPr>
          <a:lstStyle/>
          <a:p>
            <a:pPr algn="l"/>
            <a:r>
              <a:rPr sz="1500" b="1">
                <a:solidFill>
                  <a:srgbClr val="F5F8FC"/>
                </a:solidFill>
                <a:latin typeface="Aptos"/>
              </a:rPr>
              <a:t>GRU</a:t>
            </a:r>
          </a:p>
        </p:txBody>
      </p:sp>
      <p:sp>
        <p:nvSpPr>
          <p:cNvPr id="9" name="TextBox 8"/>
          <p:cNvSpPr txBox="1"/>
          <p:nvPr/>
        </p:nvSpPr>
        <p:spPr>
          <a:xfrm>
            <a:off x="859536" y="2249424"/>
            <a:ext cx="2869692" cy="1563505"/>
          </a:xfrm>
          <a:prstGeom prst="rect">
            <a:avLst/>
          </a:prstGeom>
          <a:noFill/>
        </p:spPr>
        <p:txBody>
          <a:bodyPr wrap="square" lIns="27432" tIns="27432" rIns="27432" bIns="27432" anchor="t">
            <a:spAutoFit/>
          </a:bodyPr>
          <a:lstStyle/>
          <a:p>
            <a:pPr algn="l"/>
            <a:r>
              <a:rPr sz="1400" b="0" dirty="0">
                <a:solidFill>
                  <a:srgbClr val="A4B3C9"/>
                </a:solidFill>
                <a:latin typeface="Aptos"/>
              </a:rPr>
              <a:t>• </a:t>
            </a:r>
            <a:r>
              <a:rPr sz="1400" b="0" dirty="0" err="1">
                <a:solidFill>
                  <a:srgbClr val="A4B3C9"/>
                </a:solidFill>
                <a:latin typeface="Aptos"/>
              </a:rPr>
              <a:t>Prediksi</a:t>
            </a:r>
            <a:r>
              <a:rPr sz="1400" b="0" dirty="0">
                <a:solidFill>
                  <a:srgbClr val="A4B3C9"/>
                </a:solidFill>
                <a:latin typeface="Aptos"/>
              </a:rPr>
              <a:t> </a:t>
            </a:r>
            <a:r>
              <a:rPr sz="1400" b="0" dirty="0" err="1">
                <a:solidFill>
                  <a:srgbClr val="A4B3C9"/>
                </a:solidFill>
                <a:latin typeface="Aptos"/>
              </a:rPr>
              <a:t>dilaporkan</a:t>
            </a:r>
            <a:r>
              <a:rPr sz="1400" b="0" dirty="0">
                <a:solidFill>
                  <a:srgbClr val="A4B3C9"/>
                </a:solidFill>
                <a:latin typeface="Aptos"/>
              </a:rPr>
              <a:t> </a:t>
            </a:r>
            <a:r>
              <a:rPr sz="1400" b="0" dirty="0" err="1">
                <a:solidFill>
                  <a:srgbClr val="A4B3C9"/>
                </a:solidFill>
                <a:latin typeface="Aptos"/>
              </a:rPr>
              <a:t>mendekati</a:t>
            </a:r>
            <a:r>
              <a:rPr sz="1400" b="0" dirty="0">
                <a:solidFill>
                  <a:srgbClr val="A4B3C9"/>
                </a:solidFill>
                <a:latin typeface="Aptos"/>
              </a:rPr>
              <a:t> </a:t>
            </a:r>
            <a:r>
              <a:rPr sz="1400" b="0" dirty="0" err="1">
                <a:solidFill>
                  <a:srgbClr val="A4B3C9"/>
                </a:solidFill>
                <a:latin typeface="Aptos"/>
              </a:rPr>
              <a:t>harga</a:t>
            </a:r>
            <a:r>
              <a:rPr sz="1400" b="0" dirty="0">
                <a:solidFill>
                  <a:srgbClr val="A4B3C9"/>
                </a:solidFill>
                <a:latin typeface="Aptos"/>
              </a:rPr>
              <a:t> </a:t>
            </a:r>
            <a:r>
              <a:rPr sz="1400" b="0" dirty="0" err="1">
                <a:solidFill>
                  <a:srgbClr val="A4B3C9"/>
                </a:solidFill>
                <a:latin typeface="Aptos"/>
              </a:rPr>
              <a:t>aktual</a:t>
            </a:r>
            <a:r>
              <a:rPr sz="1400" b="0" dirty="0">
                <a:solidFill>
                  <a:srgbClr val="A4B3C9"/>
                </a:solidFill>
                <a:latin typeface="Aptos"/>
              </a:rPr>
              <a:t>.
• MAPE = 2,26%.
• R² = 0,9661.
• </a:t>
            </a:r>
            <a:r>
              <a:rPr sz="1400" b="0" dirty="0" err="1">
                <a:solidFill>
                  <a:srgbClr val="A4B3C9"/>
                </a:solidFill>
                <a:latin typeface="Aptos"/>
              </a:rPr>
              <a:t>Arsitektur</a:t>
            </a:r>
            <a:r>
              <a:rPr sz="1400" b="0" dirty="0">
                <a:solidFill>
                  <a:srgbClr val="A4B3C9"/>
                </a:solidFill>
                <a:latin typeface="Aptos"/>
              </a:rPr>
              <a:t> </a:t>
            </a:r>
            <a:r>
              <a:rPr sz="1400" b="0" dirty="0" err="1">
                <a:solidFill>
                  <a:srgbClr val="A4B3C9"/>
                </a:solidFill>
                <a:latin typeface="Aptos"/>
              </a:rPr>
              <a:t>lebih</a:t>
            </a:r>
            <a:r>
              <a:rPr sz="1400" b="0" dirty="0">
                <a:solidFill>
                  <a:srgbClr val="A4B3C9"/>
                </a:solidFill>
                <a:latin typeface="Aptos"/>
              </a:rPr>
              <a:t> </a:t>
            </a:r>
            <a:r>
              <a:rPr sz="1400" b="0" dirty="0" err="1">
                <a:solidFill>
                  <a:srgbClr val="A4B3C9"/>
                </a:solidFill>
                <a:latin typeface="Aptos"/>
              </a:rPr>
              <a:t>ringkas</a:t>
            </a:r>
            <a:r>
              <a:rPr sz="1400" b="0" dirty="0">
                <a:solidFill>
                  <a:srgbClr val="A4B3C9"/>
                </a:solidFill>
                <a:latin typeface="Aptos"/>
              </a:rPr>
              <a:t> </a:t>
            </a:r>
            <a:r>
              <a:rPr sz="1400" b="0" dirty="0" err="1">
                <a:solidFill>
                  <a:srgbClr val="A4B3C9"/>
                </a:solidFill>
                <a:latin typeface="Aptos"/>
              </a:rPr>
              <a:t>dibandingkan</a:t>
            </a:r>
            <a:r>
              <a:rPr sz="1400" b="0" dirty="0">
                <a:solidFill>
                  <a:srgbClr val="A4B3C9"/>
                </a:solidFill>
                <a:latin typeface="Aptos"/>
              </a:rPr>
              <a:t> LSTM </a:t>
            </a:r>
            <a:r>
              <a:rPr sz="1400" b="0" dirty="0" err="1">
                <a:solidFill>
                  <a:srgbClr val="A4B3C9"/>
                </a:solidFill>
                <a:latin typeface="Aptos"/>
              </a:rPr>
              <a:t>menurut</a:t>
            </a:r>
            <a:r>
              <a:rPr sz="1400" b="0" dirty="0">
                <a:solidFill>
                  <a:srgbClr val="A4B3C9"/>
                </a:solidFill>
                <a:latin typeface="Aptos"/>
              </a:rPr>
              <a:t> </a:t>
            </a:r>
            <a:r>
              <a:rPr sz="1400" b="0" dirty="0" err="1">
                <a:solidFill>
                  <a:srgbClr val="A4B3C9"/>
                </a:solidFill>
                <a:latin typeface="Aptos"/>
              </a:rPr>
              <a:t>pembahasan</a:t>
            </a:r>
            <a:r>
              <a:rPr sz="1400" b="0" dirty="0">
                <a:solidFill>
                  <a:srgbClr val="A4B3C9"/>
                </a:solidFill>
                <a:latin typeface="Aptos"/>
              </a:rPr>
              <a:t> </a:t>
            </a:r>
            <a:r>
              <a:rPr sz="1400" b="0" dirty="0" err="1">
                <a:solidFill>
                  <a:srgbClr val="A4B3C9"/>
                </a:solidFill>
                <a:latin typeface="Aptos"/>
              </a:rPr>
              <a:t>penulis</a:t>
            </a:r>
            <a:r>
              <a:rPr sz="1400" b="0" dirty="0">
                <a:solidFill>
                  <a:srgbClr val="A4B3C9"/>
                </a:solidFill>
                <a:latin typeface="Aptos"/>
              </a:rPr>
              <a:t>.</a:t>
            </a:r>
          </a:p>
        </p:txBody>
      </p:sp>
      <p:sp>
        <p:nvSpPr>
          <p:cNvPr id="10" name="Rounded Rectangle 9"/>
          <p:cNvSpPr/>
          <p:nvPr/>
        </p:nvSpPr>
        <p:spPr>
          <a:xfrm>
            <a:off x="4389120" y="1719072"/>
            <a:ext cx="3429000" cy="242316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719072"/>
            <a:ext cx="50292" cy="2423160"/>
          </a:xfrm>
          <a:prstGeom prst="rect">
            <a:avLst/>
          </a:prstGeom>
          <a:solidFill>
            <a:srgbClr val="8F6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865376"/>
            <a:ext cx="3081528" cy="320040"/>
          </a:xfrm>
          <a:prstGeom prst="rect">
            <a:avLst/>
          </a:prstGeom>
          <a:noFill/>
        </p:spPr>
        <p:txBody>
          <a:bodyPr wrap="none" lIns="27432" tIns="27432" rIns="27432" bIns="27432" anchor="t">
            <a:spAutoFit/>
          </a:bodyPr>
          <a:lstStyle/>
          <a:p>
            <a:pPr algn="l"/>
            <a:r>
              <a:rPr sz="1500" b="1">
                <a:solidFill>
                  <a:srgbClr val="F5F8FC"/>
                </a:solidFill>
                <a:latin typeface="Aptos"/>
              </a:rPr>
              <a:t>LSTM</a:t>
            </a:r>
          </a:p>
        </p:txBody>
      </p:sp>
      <p:sp>
        <p:nvSpPr>
          <p:cNvPr id="13" name="TextBox 12"/>
          <p:cNvSpPr txBox="1"/>
          <p:nvPr/>
        </p:nvSpPr>
        <p:spPr>
          <a:xfrm>
            <a:off x="4590288" y="2249424"/>
            <a:ext cx="3081528" cy="486287"/>
          </a:xfrm>
          <a:prstGeom prst="rect">
            <a:avLst/>
          </a:prstGeom>
          <a:noFill/>
        </p:spPr>
        <p:txBody>
          <a:bodyPr wrap="square" lIns="27432" tIns="27432" rIns="27432" bIns="27432" anchor="t">
            <a:spAutoFit/>
          </a:bodyPr>
          <a:lstStyle/>
          <a:p>
            <a:pPr algn="l"/>
            <a:r>
              <a:rPr sz="1400" b="0" dirty="0">
                <a:solidFill>
                  <a:srgbClr val="A4B3C9"/>
                </a:solidFill>
                <a:latin typeface="Aptos"/>
              </a:rPr>
              <a:t>• Mampu </a:t>
            </a:r>
            <a:r>
              <a:rPr sz="1400" b="0" dirty="0" err="1">
                <a:solidFill>
                  <a:srgbClr val="A4B3C9"/>
                </a:solidFill>
                <a:latin typeface="Aptos"/>
              </a:rPr>
              <a:t>mengikuti</a:t>
            </a:r>
            <a:r>
              <a:rPr sz="1400" b="0" dirty="0">
                <a:solidFill>
                  <a:srgbClr val="A4B3C9"/>
                </a:solidFill>
                <a:latin typeface="Aptos"/>
              </a:rPr>
              <a:t> </a:t>
            </a:r>
            <a:r>
              <a:rPr sz="1400" b="0" dirty="0" err="1">
                <a:solidFill>
                  <a:srgbClr val="A4B3C9"/>
                </a:solidFill>
                <a:latin typeface="Aptos"/>
              </a:rPr>
              <a:t>pola</a:t>
            </a:r>
            <a:r>
              <a:rPr sz="1400" b="0" dirty="0">
                <a:solidFill>
                  <a:srgbClr val="A4B3C9"/>
                </a:solidFill>
                <a:latin typeface="Aptos"/>
              </a:rPr>
              <a:t> </a:t>
            </a:r>
            <a:r>
              <a:rPr sz="1400" b="0" dirty="0" err="1">
                <a:solidFill>
                  <a:srgbClr val="A4B3C9"/>
                </a:solidFill>
                <a:latin typeface="Aptos"/>
              </a:rPr>
              <a:t>harga</a:t>
            </a:r>
            <a:r>
              <a:rPr sz="1400" b="0" dirty="0">
                <a:solidFill>
                  <a:srgbClr val="A4B3C9"/>
                </a:solidFill>
                <a:latin typeface="Aptos"/>
              </a:rPr>
              <a:t> </a:t>
            </a:r>
            <a:r>
              <a:rPr sz="1400" b="0" dirty="0" err="1">
                <a:solidFill>
                  <a:srgbClr val="A4B3C9"/>
                </a:solidFill>
                <a:latin typeface="Aptos"/>
              </a:rPr>
              <a:t>aktual</a:t>
            </a:r>
            <a:r>
              <a:rPr sz="1400" b="0" dirty="0">
                <a:solidFill>
                  <a:srgbClr val="A4B3C9"/>
                </a:solidFill>
                <a:latin typeface="Aptos"/>
              </a:rPr>
              <a:t>.
• MAPE = 2,86%.</a:t>
            </a:r>
          </a:p>
        </p:txBody>
      </p:sp>
      <p:sp>
        <p:nvSpPr>
          <p:cNvPr id="14" name="Rounded Rectangle 13"/>
          <p:cNvSpPr/>
          <p:nvPr/>
        </p:nvSpPr>
        <p:spPr>
          <a:xfrm>
            <a:off x="8119872" y="1719072"/>
            <a:ext cx="3264408" cy="242316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9872" y="1719072"/>
            <a:ext cx="50292" cy="2423160"/>
          </a:xfrm>
          <a:prstGeom prst="rect">
            <a:avLst/>
          </a:prstGeom>
          <a:solidFill>
            <a:srgbClr val="FFB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865376"/>
            <a:ext cx="2916936" cy="320040"/>
          </a:xfrm>
          <a:prstGeom prst="rect">
            <a:avLst/>
          </a:prstGeom>
          <a:noFill/>
        </p:spPr>
        <p:txBody>
          <a:bodyPr wrap="none" lIns="27432" tIns="27432" rIns="27432" bIns="27432" anchor="t">
            <a:spAutoFit/>
          </a:bodyPr>
          <a:lstStyle/>
          <a:p>
            <a:pPr algn="l"/>
            <a:r>
              <a:rPr sz="1500" b="1">
                <a:solidFill>
                  <a:srgbClr val="F5F8FC"/>
                </a:solidFill>
                <a:latin typeface="Aptos"/>
              </a:rPr>
              <a:t>ARIMA</a:t>
            </a:r>
          </a:p>
        </p:txBody>
      </p:sp>
      <p:sp>
        <p:nvSpPr>
          <p:cNvPr id="17" name="TextBox 16"/>
          <p:cNvSpPr txBox="1"/>
          <p:nvPr/>
        </p:nvSpPr>
        <p:spPr>
          <a:xfrm>
            <a:off x="8321040" y="2249424"/>
            <a:ext cx="2561663" cy="701731"/>
          </a:xfrm>
          <a:prstGeom prst="rect">
            <a:avLst/>
          </a:prstGeom>
          <a:noFill/>
        </p:spPr>
        <p:txBody>
          <a:bodyPr wrap="none" lIns="27432" tIns="27432" rIns="27432" bIns="27432" anchor="t">
            <a:spAutoFit/>
          </a:bodyPr>
          <a:lstStyle/>
          <a:p>
            <a:pPr algn="l"/>
            <a:r>
              <a:rPr sz="1400" b="0" dirty="0">
                <a:solidFill>
                  <a:srgbClr val="A4B3C9"/>
                </a:solidFill>
                <a:latin typeface="Aptos"/>
              </a:rPr>
              <a:t>• </a:t>
            </a:r>
            <a:r>
              <a:rPr sz="1400" b="0" dirty="0" err="1">
                <a:solidFill>
                  <a:srgbClr val="A4B3C9"/>
                </a:solidFill>
                <a:latin typeface="Aptos"/>
              </a:rPr>
              <a:t>Prediksi</a:t>
            </a:r>
            <a:r>
              <a:rPr sz="1400" b="0" dirty="0">
                <a:solidFill>
                  <a:srgbClr val="A4B3C9"/>
                </a:solidFill>
                <a:latin typeface="Aptos"/>
              </a:rPr>
              <a:t> </a:t>
            </a:r>
            <a:r>
              <a:rPr sz="1400" b="0" dirty="0" err="1">
                <a:solidFill>
                  <a:srgbClr val="A4B3C9"/>
                </a:solidFill>
                <a:latin typeface="Aptos"/>
              </a:rPr>
              <a:t>cenderung</a:t>
            </a:r>
            <a:r>
              <a:rPr sz="1400" b="0" dirty="0">
                <a:solidFill>
                  <a:srgbClr val="A4B3C9"/>
                </a:solidFill>
                <a:latin typeface="Aptos"/>
              </a:rPr>
              <a:t> </a:t>
            </a:r>
            <a:r>
              <a:rPr sz="1400" b="0" dirty="0" err="1">
                <a:solidFill>
                  <a:srgbClr val="A4B3C9"/>
                </a:solidFill>
                <a:latin typeface="Aptos"/>
              </a:rPr>
              <a:t>lebih</a:t>
            </a:r>
            <a:r>
              <a:rPr sz="1400" b="0" dirty="0">
                <a:solidFill>
                  <a:srgbClr val="A4B3C9"/>
                </a:solidFill>
                <a:latin typeface="Aptos"/>
              </a:rPr>
              <a:t> </a:t>
            </a:r>
            <a:r>
              <a:rPr sz="1400" b="0" dirty="0" err="1">
                <a:solidFill>
                  <a:srgbClr val="A4B3C9"/>
                </a:solidFill>
                <a:latin typeface="Aptos"/>
              </a:rPr>
              <a:t>datar</a:t>
            </a:r>
            <a:r>
              <a:rPr sz="1400" b="0" dirty="0">
                <a:solidFill>
                  <a:srgbClr val="A4B3C9"/>
                </a:solidFill>
                <a:latin typeface="Aptos"/>
              </a:rPr>
              <a:t>.
• MAPE = 14,93%.
• R² = −0,0136.</a:t>
            </a:r>
          </a:p>
        </p:txBody>
      </p:sp>
      <p:sp>
        <p:nvSpPr>
          <p:cNvPr id="18" name="Rounded Rectangle 17"/>
          <p:cNvSpPr/>
          <p:nvPr/>
        </p:nvSpPr>
        <p:spPr>
          <a:xfrm>
            <a:off x="658368" y="4434840"/>
            <a:ext cx="10725912" cy="884611"/>
          </a:xfrm>
          <a:prstGeom prst="roundRect">
            <a:avLst/>
          </a:prstGeom>
          <a:solidFill>
            <a:srgbClr val="152138"/>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467" y="4626864"/>
            <a:ext cx="2453018" cy="240066"/>
          </a:xfrm>
          <a:prstGeom prst="rect">
            <a:avLst/>
          </a:prstGeom>
          <a:noFill/>
        </p:spPr>
        <p:txBody>
          <a:bodyPr wrap="square" lIns="27432" tIns="27432" rIns="27432" bIns="27432" anchor="t">
            <a:spAutoFit/>
          </a:bodyPr>
          <a:lstStyle/>
          <a:p>
            <a:pPr algn="l"/>
            <a:r>
              <a:rPr sz="1200" b="1" dirty="0">
                <a:solidFill>
                  <a:srgbClr val="3DD6E2"/>
                </a:solidFill>
                <a:latin typeface="Aptos"/>
              </a:rPr>
              <a:t>INTERPRETASI PENULIS</a:t>
            </a:r>
          </a:p>
        </p:txBody>
      </p:sp>
      <p:sp>
        <p:nvSpPr>
          <p:cNvPr id="20" name="TextBox 19"/>
          <p:cNvSpPr txBox="1"/>
          <p:nvPr/>
        </p:nvSpPr>
        <p:spPr>
          <a:xfrm>
            <a:off x="3424988" y="4593009"/>
            <a:ext cx="6812280" cy="547842"/>
          </a:xfrm>
          <a:prstGeom prst="rect">
            <a:avLst/>
          </a:prstGeom>
          <a:noFill/>
        </p:spPr>
        <p:txBody>
          <a:bodyPr wrap="square" lIns="27432" tIns="27432" rIns="27432" bIns="27432" anchor="t">
            <a:spAutoFit/>
          </a:bodyPr>
          <a:lstStyle/>
          <a:p>
            <a:pPr algn="l"/>
            <a:r>
              <a:rPr sz="1600" b="0" dirty="0" err="1">
                <a:solidFill>
                  <a:srgbClr val="F5F8FC"/>
                </a:solidFill>
                <a:latin typeface="Aptos"/>
              </a:rPr>
              <a:t>Penulis</a:t>
            </a:r>
            <a:r>
              <a:rPr sz="1600" b="0" dirty="0">
                <a:solidFill>
                  <a:srgbClr val="F5F8FC"/>
                </a:solidFill>
                <a:latin typeface="Aptos"/>
              </a:rPr>
              <a:t> </a:t>
            </a:r>
            <a:r>
              <a:rPr sz="1600" b="0" dirty="0" err="1">
                <a:solidFill>
                  <a:srgbClr val="F5F8FC"/>
                </a:solidFill>
                <a:latin typeface="Aptos"/>
              </a:rPr>
              <a:t>mengaitkan</a:t>
            </a:r>
            <a:r>
              <a:rPr sz="1600" b="0" dirty="0">
                <a:solidFill>
                  <a:srgbClr val="F5F8FC"/>
                </a:solidFill>
                <a:latin typeface="Aptos"/>
              </a:rPr>
              <a:t> </a:t>
            </a:r>
            <a:r>
              <a:rPr sz="1600" b="0" dirty="0" err="1">
                <a:solidFill>
                  <a:srgbClr val="F5F8FC"/>
                </a:solidFill>
                <a:latin typeface="Aptos"/>
              </a:rPr>
              <a:t>performa</a:t>
            </a:r>
            <a:r>
              <a:rPr sz="1600" b="0" dirty="0">
                <a:solidFill>
                  <a:srgbClr val="F5F8FC"/>
                </a:solidFill>
                <a:latin typeface="Aptos"/>
              </a:rPr>
              <a:t> GRU </a:t>
            </a:r>
            <a:r>
              <a:rPr sz="1600" b="0" dirty="0" err="1">
                <a:solidFill>
                  <a:srgbClr val="F5F8FC"/>
                </a:solidFill>
                <a:latin typeface="Aptos"/>
              </a:rPr>
              <a:t>dengan</a:t>
            </a:r>
            <a:r>
              <a:rPr sz="1600" b="0" dirty="0">
                <a:solidFill>
                  <a:srgbClr val="F5F8FC"/>
                </a:solidFill>
                <a:latin typeface="Aptos"/>
              </a:rPr>
              <a:t> </a:t>
            </a:r>
            <a:r>
              <a:rPr sz="1600" b="0" dirty="0" err="1">
                <a:solidFill>
                  <a:srgbClr val="F5F8FC"/>
                </a:solidFill>
                <a:latin typeface="Aptos"/>
              </a:rPr>
              <a:t>arsitekturnya</a:t>
            </a:r>
            <a:r>
              <a:rPr sz="1600" b="0" dirty="0">
                <a:solidFill>
                  <a:srgbClr val="F5F8FC"/>
                </a:solidFill>
                <a:latin typeface="Aptos"/>
              </a:rPr>
              <a:t> yang </a:t>
            </a:r>
            <a:r>
              <a:rPr sz="1600" b="0" dirty="0" err="1">
                <a:solidFill>
                  <a:srgbClr val="F5F8FC"/>
                </a:solidFill>
                <a:latin typeface="Aptos"/>
              </a:rPr>
              <a:t>lebih</a:t>
            </a:r>
            <a:r>
              <a:rPr sz="1600" b="0" dirty="0">
                <a:solidFill>
                  <a:srgbClr val="F5F8FC"/>
                </a:solidFill>
                <a:latin typeface="Aptos"/>
              </a:rPr>
              <a:t> </a:t>
            </a:r>
            <a:r>
              <a:rPr sz="1600" b="0" dirty="0" err="1">
                <a:solidFill>
                  <a:srgbClr val="F5F8FC"/>
                </a:solidFill>
                <a:latin typeface="Aptos"/>
              </a:rPr>
              <a:t>ringkas</a:t>
            </a:r>
            <a:r>
              <a:rPr sz="1600" b="0" dirty="0">
                <a:solidFill>
                  <a:srgbClr val="F5F8FC"/>
                </a:solidFill>
                <a:latin typeface="Aptos"/>
              </a:rPr>
              <a:t> dan </a:t>
            </a:r>
            <a:r>
              <a:rPr sz="1600" b="0" dirty="0" err="1">
                <a:solidFill>
                  <a:srgbClr val="F5F8FC"/>
                </a:solidFill>
                <a:latin typeface="Aptos"/>
              </a:rPr>
              <a:t>kemampuannya</a:t>
            </a:r>
            <a:r>
              <a:rPr sz="1600" b="0" dirty="0">
                <a:solidFill>
                  <a:srgbClr val="F5F8FC"/>
                </a:solidFill>
                <a:latin typeface="Aptos"/>
              </a:rPr>
              <a:t> </a:t>
            </a:r>
            <a:r>
              <a:rPr sz="1600" b="0" dirty="0" err="1">
                <a:solidFill>
                  <a:srgbClr val="F5F8FC"/>
                </a:solidFill>
                <a:latin typeface="Aptos"/>
              </a:rPr>
              <a:t>menangani</a:t>
            </a:r>
            <a:r>
              <a:rPr sz="1600" b="0" dirty="0">
                <a:solidFill>
                  <a:srgbClr val="F5F8FC"/>
                </a:solidFill>
                <a:latin typeface="Aptos"/>
              </a:rPr>
              <a:t> </a:t>
            </a:r>
            <a:r>
              <a:rPr sz="1600" b="0" dirty="0" err="1">
                <a:solidFill>
                  <a:srgbClr val="F5F8FC"/>
                </a:solidFill>
                <a:latin typeface="Aptos"/>
              </a:rPr>
              <a:t>pola</a:t>
            </a:r>
            <a:r>
              <a:rPr sz="1600" b="0" dirty="0">
                <a:solidFill>
                  <a:srgbClr val="F5F8FC"/>
                </a:solidFill>
                <a:latin typeface="Aptos"/>
              </a:rPr>
              <a:t> temporal pada data yang </a:t>
            </a:r>
            <a:r>
              <a:rPr sz="1600" b="0" dirty="0" err="1">
                <a:solidFill>
                  <a:srgbClr val="F5F8FC"/>
                </a:solidFill>
                <a:latin typeface="Aptos"/>
              </a:rPr>
              <a:t>volatil</a:t>
            </a:r>
            <a:r>
              <a:rPr sz="1600" b="0" dirty="0">
                <a:solidFill>
                  <a:srgbClr val="F5F8FC"/>
                </a:solidFill>
                <a:latin typeface="Aptos"/>
              </a:rPr>
              <a:t>.</a:t>
            </a:r>
          </a:p>
        </p:txBody>
      </p:sp>
      <p:sp>
        <p:nvSpPr>
          <p:cNvPr id="21" name="TextBox 20"/>
          <p:cNvSpPr txBox="1"/>
          <p:nvPr/>
        </p:nvSpPr>
        <p:spPr>
          <a:xfrm>
            <a:off x="640080" y="6510528"/>
            <a:ext cx="4572000" cy="164592"/>
          </a:xfrm>
          <a:prstGeom prst="rect">
            <a:avLst/>
          </a:prstGeom>
          <a:noFill/>
        </p:spPr>
        <p:txBody>
          <a:bodyPr wrap="none" lIns="27432" tIns="27432" rIns="27432" bIns="27432" anchor="t">
            <a:spAutoFit/>
          </a:bodyPr>
          <a:lstStyle/>
          <a:p>
            <a:pPr algn="l"/>
            <a:r>
              <a:rPr sz="800" b="0">
                <a:solidFill>
                  <a:srgbClr val="A4B3C9"/>
                </a:solidFill>
                <a:latin typeface="Aptos"/>
              </a:rPr>
              <a:t>Bedah Paper • Metode Peramalan Deret Waktu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4572000" cy="274320"/>
          </a:xfrm>
          <a:prstGeom prst="rect">
            <a:avLst/>
          </a:prstGeom>
          <a:noFill/>
        </p:spPr>
        <p:txBody>
          <a:bodyPr wrap="none" lIns="27432" tIns="27432" rIns="27432" bIns="27432" anchor="t">
            <a:spAutoFit/>
          </a:bodyPr>
          <a:lstStyle/>
          <a:p>
            <a:pPr algn="l"/>
            <a:r>
              <a:rPr sz="1000" b="1">
                <a:solidFill>
                  <a:srgbClr val="3DD6E2"/>
                </a:solidFill>
                <a:latin typeface="Aptos"/>
              </a:rPr>
              <a:t>11  •  EVALUASI KRITIS</a:t>
            </a:r>
          </a:p>
        </p:txBody>
      </p:sp>
      <p:sp>
        <p:nvSpPr>
          <p:cNvPr id="3" name="TextBox 2"/>
          <p:cNvSpPr txBox="1"/>
          <p:nvPr/>
        </p:nvSpPr>
        <p:spPr>
          <a:xfrm>
            <a:off x="621792" y="667512"/>
            <a:ext cx="10698480" cy="502920"/>
          </a:xfrm>
          <a:prstGeom prst="rect">
            <a:avLst/>
          </a:prstGeom>
          <a:noFill/>
        </p:spPr>
        <p:txBody>
          <a:bodyPr wrap="none" lIns="27432" tIns="27432" rIns="27432" bIns="27432" anchor="t">
            <a:spAutoFit/>
          </a:bodyPr>
          <a:lstStyle/>
          <a:p>
            <a:pPr algn="l"/>
            <a:r>
              <a:rPr sz="2800" b="1">
                <a:solidFill>
                  <a:srgbClr val="F5F8FC"/>
                </a:solidFill>
                <a:latin typeface="Aptos"/>
              </a:rPr>
              <a:t>Strengths vs limitations</a:t>
            </a:r>
          </a:p>
        </p:txBody>
      </p:sp>
      <p:sp>
        <p:nvSpPr>
          <p:cNvPr id="4" name="TextBox 3"/>
          <p:cNvSpPr txBox="1"/>
          <p:nvPr/>
        </p:nvSpPr>
        <p:spPr>
          <a:xfrm>
            <a:off x="640080" y="1197864"/>
            <a:ext cx="5687568" cy="270843"/>
          </a:xfrm>
          <a:prstGeom prst="rect">
            <a:avLst/>
          </a:prstGeom>
          <a:noFill/>
        </p:spPr>
        <p:txBody>
          <a:bodyPr wrap="square" lIns="27432" tIns="27432" rIns="27432" bIns="27432" anchor="t">
            <a:spAutoFit/>
          </a:bodyPr>
          <a:lstStyle/>
          <a:p>
            <a:pPr algn="l"/>
            <a:r>
              <a:rPr sz="1400" b="0" dirty="0">
                <a:solidFill>
                  <a:srgbClr val="A4B3C9"/>
                </a:solidFill>
                <a:latin typeface="Aptos"/>
              </a:rPr>
              <a:t>Ini </a:t>
            </a:r>
            <a:r>
              <a:rPr sz="1400" b="0" dirty="0" err="1">
                <a:solidFill>
                  <a:srgbClr val="A4B3C9"/>
                </a:solidFill>
                <a:latin typeface="Aptos"/>
              </a:rPr>
              <a:t>bagian</a:t>
            </a:r>
            <a:r>
              <a:rPr sz="1400" b="0" dirty="0">
                <a:solidFill>
                  <a:srgbClr val="A4B3C9"/>
                </a:solidFill>
                <a:latin typeface="Aptos"/>
              </a:rPr>
              <a:t> </a:t>
            </a:r>
            <a:r>
              <a:rPr sz="1400" b="0" dirty="0" err="1">
                <a:solidFill>
                  <a:srgbClr val="A4B3C9"/>
                </a:solidFill>
                <a:latin typeface="Aptos"/>
              </a:rPr>
              <a:t>analisis</a:t>
            </a:r>
            <a:r>
              <a:rPr sz="1400" b="0" dirty="0">
                <a:solidFill>
                  <a:srgbClr val="A4B3C9"/>
                </a:solidFill>
                <a:latin typeface="Aptos"/>
              </a:rPr>
              <a:t> </a:t>
            </a:r>
            <a:r>
              <a:rPr sz="1400" b="0" dirty="0" err="1">
                <a:solidFill>
                  <a:srgbClr val="A4B3C9"/>
                </a:solidFill>
                <a:latin typeface="Aptos"/>
              </a:rPr>
              <a:t>kita</a:t>
            </a:r>
            <a:r>
              <a:rPr sz="1400" b="0" dirty="0">
                <a:solidFill>
                  <a:srgbClr val="A4B3C9"/>
                </a:solidFill>
                <a:latin typeface="Aptos"/>
              </a:rPr>
              <a:t> </a:t>
            </a:r>
            <a:r>
              <a:rPr sz="1400" b="0" dirty="0" err="1">
                <a:solidFill>
                  <a:srgbClr val="A4B3C9"/>
                </a:solidFill>
                <a:latin typeface="Aptos"/>
              </a:rPr>
              <a:t>berdasarkan</a:t>
            </a:r>
            <a:r>
              <a:rPr sz="1400" b="0" dirty="0">
                <a:solidFill>
                  <a:srgbClr val="A4B3C9"/>
                </a:solidFill>
                <a:latin typeface="Aptos"/>
              </a:rPr>
              <a:t> </a:t>
            </a:r>
            <a:r>
              <a:rPr sz="1400" b="0" dirty="0" err="1">
                <a:solidFill>
                  <a:srgbClr val="A4B3C9"/>
                </a:solidFill>
                <a:latin typeface="Aptos"/>
              </a:rPr>
              <a:t>informasi</a:t>
            </a:r>
            <a:r>
              <a:rPr sz="1400" b="0" dirty="0">
                <a:solidFill>
                  <a:srgbClr val="A4B3C9"/>
                </a:solidFill>
                <a:latin typeface="Aptos"/>
              </a:rPr>
              <a:t> yang </a:t>
            </a:r>
            <a:r>
              <a:rPr sz="1400" b="0" dirty="0" err="1">
                <a:solidFill>
                  <a:srgbClr val="A4B3C9"/>
                </a:solidFill>
                <a:latin typeface="Aptos"/>
              </a:rPr>
              <a:t>tersedia</a:t>
            </a:r>
            <a:r>
              <a:rPr sz="1400" b="0" dirty="0">
                <a:solidFill>
                  <a:srgbClr val="A4B3C9"/>
                </a:solidFill>
                <a:latin typeface="Aptos"/>
              </a:rPr>
              <a:t> di paper</a:t>
            </a:r>
          </a:p>
        </p:txBody>
      </p:sp>
      <p:sp>
        <p:nvSpPr>
          <p:cNvPr id="5" name="TextBox 4"/>
          <p:cNvSpPr txBox="1"/>
          <p:nvPr/>
        </p:nvSpPr>
        <p:spPr>
          <a:xfrm>
            <a:off x="11018520" y="320040"/>
            <a:ext cx="548640" cy="274320"/>
          </a:xfrm>
          <a:prstGeom prst="rect">
            <a:avLst/>
          </a:prstGeom>
          <a:noFill/>
        </p:spPr>
        <p:txBody>
          <a:bodyPr wrap="none" lIns="27432" tIns="27432" rIns="27432" bIns="27432" anchor="t">
            <a:spAutoFit/>
          </a:bodyPr>
          <a:lstStyle/>
          <a:p>
            <a:pPr algn="r"/>
            <a:r>
              <a:rPr sz="1000" b="1">
                <a:solidFill>
                  <a:srgbClr val="A4B3C9"/>
                </a:solidFill>
                <a:latin typeface="Aptos"/>
              </a:rPr>
              <a:t>11</a:t>
            </a:r>
          </a:p>
        </p:txBody>
      </p:sp>
      <p:sp>
        <p:nvSpPr>
          <p:cNvPr id="6" name="Rounded Rectangle 5"/>
          <p:cNvSpPr/>
          <p:nvPr/>
        </p:nvSpPr>
        <p:spPr>
          <a:xfrm>
            <a:off x="658368" y="1700784"/>
            <a:ext cx="5230368" cy="425196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00784"/>
            <a:ext cx="50292" cy="4251960"/>
          </a:xfrm>
          <a:prstGeom prst="rect">
            <a:avLst/>
          </a:prstGeom>
          <a:solidFill>
            <a:srgbClr val="43D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11463" y="1893741"/>
            <a:ext cx="1519770" cy="286232"/>
          </a:xfrm>
          <a:prstGeom prst="rect">
            <a:avLst/>
          </a:prstGeom>
          <a:noFill/>
        </p:spPr>
        <p:txBody>
          <a:bodyPr wrap="square" lIns="27432" tIns="27432" rIns="27432" bIns="27432" anchor="t">
            <a:spAutoFit/>
          </a:bodyPr>
          <a:lstStyle/>
          <a:p>
            <a:pPr algn="l"/>
            <a:r>
              <a:rPr sz="1500" b="1">
                <a:solidFill>
                  <a:srgbClr val="F5F8FC"/>
                </a:solidFill>
                <a:latin typeface="Aptos"/>
              </a:rPr>
              <a:t>STRENGTHS</a:t>
            </a:r>
          </a:p>
        </p:txBody>
      </p:sp>
      <p:sp>
        <p:nvSpPr>
          <p:cNvPr id="9" name="TextBox 8"/>
          <p:cNvSpPr txBox="1"/>
          <p:nvPr/>
        </p:nvSpPr>
        <p:spPr>
          <a:xfrm>
            <a:off x="859536" y="2231136"/>
            <a:ext cx="4746556" cy="1286506"/>
          </a:xfrm>
          <a:prstGeom prst="rect">
            <a:avLst/>
          </a:prstGeom>
          <a:noFill/>
        </p:spPr>
        <p:txBody>
          <a:bodyPr wrap="none" lIns="27432" tIns="27432" rIns="27432" bIns="27432" anchor="t">
            <a:spAutoFit/>
          </a:bodyPr>
          <a:lstStyle/>
          <a:p>
            <a:pPr algn="l"/>
            <a:r>
              <a:rPr sz="1600" b="0" dirty="0">
                <a:solidFill>
                  <a:srgbClr val="A4B3C9"/>
                </a:solidFill>
                <a:latin typeface="Aptos"/>
              </a:rPr>
              <a:t>✓ </a:t>
            </a:r>
            <a:r>
              <a:rPr sz="1600" b="0" dirty="0" err="1">
                <a:solidFill>
                  <a:srgbClr val="A4B3C9"/>
                </a:solidFill>
                <a:latin typeface="Aptos"/>
              </a:rPr>
              <a:t>Membandingkan</a:t>
            </a:r>
            <a:r>
              <a:rPr sz="1600" b="0" dirty="0">
                <a:solidFill>
                  <a:srgbClr val="A4B3C9"/>
                </a:solidFill>
                <a:latin typeface="Aptos"/>
              </a:rPr>
              <a:t> 3 </a:t>
            </a:r>
            <a:r>
              <a:rPr sz="1600" b="0" dirty="0" err="1">
                <a:solidFill>
                  <a:srgbClr val="A4B3C9"/>
                </a:solidFill>
                <a:latin typeface="Aptos"/>
              </a:rPr>
              <a:t>pendekatan</a:t>
            </a:r>
            <a:r>
              <a:rPr sz="1600" b="0" dirty="0">
                <a:solidFill>
                  <a:srgbClr val="A4B3C9"/>
                </a:solidFill>
                <a:latin typeface="Aptos"/>
              </a:rPr>
              <a:t>: ARIMA, LSTM, GRU
✓ Data time series </a:t>
            </a:r>
            <a:r>
              <a:rPr sz="1600" b="0" dirty="0" err="1">
                <a:solidFill>
                  <a:srgbClr val="A4B3C9"/>
                </a:solidFill>
                <a:latin typeface="Aptos"/>
              </a:rPr>
              <a:t>harian</a:t>
            </a:r>
            <a:r>
              <a:rPr sz="1600" b="0" dirty="0">
                <a:solidFill>
                  <a:srgbClr val="A4B3C9"/>
                </a:solidFill>
                <a:latin typeface="Aptos"/>
              </a:rPr>
              <a:t> </a:t>
            </a:r>
            <a:r>
              <a:rPr sz="1600" b="0" dirty="0" err="1">
                <a:solidFill>
                  <a:srgbClr val="A4B3C9"/>
                </a:solidFill>
                <a:latin typeface="Aptos"/>
              </a:rPr>
              <a:t>dengan</a:t>
            </a:r>
            <a:r>
              <a:rPr sz="1600" b="0" dirty="0">
                <a:solidFill>
                  <a:srgbClr val="A4B3C9"/>
                </a:solidFill>
                <a:latin typeface="Aptos"/>
              </a:rPr>
              <a:t> 2.320 </a:t>
            </a:r>
            <a:r>
              <a:rPr sz="1600" b="0" dirty="0" err="1">
                <a:solidFill>
                  <a:srgbClr val="A4B3C9"/>
                </a:solidFill>
                <a:latin typeface="Aptos"/>
              </a:rPr>
              <a:t>observasi</a:t>
            </a:r>
            <a:r>
              <a:rPr sz="1600" b="0" dirty="0">
                <a:solidFill>
                  <a:srgbClr val="A4B3C9"/>
                </a:solidFill>
                <a:latin typeface="Aptos"/>
              </a:rPr>
              <a:t>
✓ Chronological train-test split
✓ </a:t>
            </a:r>
            <a:r>
              <a:rPr sz="1600" b="0" dirty="0" err="1">
                <a:solidFill>
                  <a:srgbClr val="A4B3C9"/>
                </a:solidFill>
                <a:latin typeface="Aptos"/>
              </a:rPr>
              <a:t>Menggunakan</a:t>
            </a:r>
            <a:r>
              <a:rPr sz="1600" b="0" dirty="0">
                <a:solidFill>
                  <a:srgbClr val="A4B3C9"/>
                </a:solidFill>
                <a:latin typeface="Aptos"/>
              </a:rPr>
              <a:t> </a:t>
            </a:r>
            <a:r>
              <a:rPr sz="1600" b="0" dirty="0" err="1">
                <a:solidFill>
                  <a:srgbClr val="A4B3C9"/>
                </a:solidFill>
                <a:latin typeface="Aptos"/>
              </a:rPr>
              <a:t>beberapa</a:t>
            </a:r>
            <a:r>
              <a:rPr sz="1600" b="0" dirty="0">
                <a:solidFill>
                  <a:srgbClr val="A4B3C9"/>
                </a:solidFill>
                <a:latin typeface="Aptos"/>
              </a:rPr>
              <a:t> </a:t>
            </a:r>
            <a:r>
              <a:rPr sz="1600" b="0" dirty="0" err="1">
                <a:solidFill>
                  <a:srgbClr val="A4B3C9"/>
                </a:solidFill>
                <a:latin typeface="Aptos"/>
              </a:rPr>
              <a:t>metrik</a:t>
            </a:r>
            <a:r>
              <a:rPr sz="1600" b="0" dirty="0">
                <a:solidFill>
                  <a:srgbClr val="A4B3C9"/>
                </a:solidFill>
                <a:latin typeface="Aptos"/>
              </a:rPr>
              <a:t> </a:t>
            </a:r>
            <a:r>
              <a:rPr sz="1600" b="0" dirty="0" err="1">
                <a:solidFill>
                  <a:srgbClr val="A4B3C9"/>
                </a:solidFill>
                <a:latin typeface="Aptos"/>
              </a:rPr>
              <a:t>evaluasi</a:t>
            </a:r>
            <a:r>
              <a:rPr sz="1600" b="0" dirty="0">
                <a:solidFill>
                  <a:srgbClr val="A4B3C9"/>
                </a:solidFill>
                <a:latin typeface="Aptos"/>
              </a:rPr>
              <a:t>
✓ Model </a:t>
            </a:r>
            <a:r>
              <a:rPr sz="1600" b="0" dirty="0" err="1">
                <a:solidFill>
                  <a:srgbClr val="A4B3C9"/>
                </a:solidFill>
                <a:latin typeface="Aptos"/>
              </a:rPr>
              <a:t>terbaik</a:t>
            </a:r>
            <a:r>
              <a:rPr sz="1600" b="0" dirty="0">
                <a:solidFill>
                  <a:srgbClr val="A4B3C9"/>
                </a:solidFill>
                <a:latin typeface="Aptos"/>
              </a:rPr>
              <a:t> </a:t>
            </a:r>
            <a:r>
              <a:rPr sz="1600" b="0" dirty="0" err="1">
                <a:solidFill>
                  <a:srgbClr val="A4B3C9"/>
                </a:solidFill>
                <a:latin typeface="Aptos"/>
              </a:rPr>
              <a:t>diimplementasikan</a:t>
            </a:r>
            <a:r>
              <a:rPr sz="1600" b="0" dirty="0">
                <a:solidFill>
                  <a:srgbClr val="A4B3C9"/>
                </a:solidFill>
                <a:latin typeface="Aptos"/>
              </a:rPr>
              <a:t> </a:t>
            </a:r>
            <a:r>
              <a:rPr sz="1600" b="0" dirty="0" err="1">
                <a:solidFill>
                  <a:srgbClr val="A4B3C9"/>
                </a:solidFill>
                <a:latin typeface="Aptos"/>
              </a:rPr>
              <a:t>ke</a:t>
            </a:r>
            <a:r>
              <a:rPr sz="1600" b="0" dirty="0">
                <a:solidFill>
                  <a:srgbClr val="A4B3C9"/>
                </a:solidFill>
                <a:latin typeface="Aptos"/>
              </a:rPr>
              <a:t> </a:t>
            </a:r>
            <a:r>
              <a:rPr sz="1600" b="0" dirty="0" err="1">
                <a:solidFill>
                  <a:srgbClr val="A4B3C9"/>
                </a:solidFill>
                <a:latin typeface="Aptos"/>
              </a:rPr>
              <a:t>Streamlit</a:t>
            </a:r>
            <a:endParaRPr sz="1600" b="0" dirty="0">
              <a:solidFill>
                <a:srgbClr val="A4B3C9"/>
              </a:solidFill>
              <a:latin typeface="Aptos"/>
            </a:endParaRPr>
          </a:p>
        </p:txBody>
      </p:sp>
      <p:sp>
        <p:nvSpPr>
          <p:cNvPr id="10" name="Rounded Rectangle 9"/>
          <p:cNvSpPr/>
          <p:nvPr/>
        </p:nvSpPr>
        <p:spPr>
          <a:xfrm>
            <a:off x="6126480" y="1700784"/>
            <a:ext cx="5257800" cy="425196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700784"/>
            <a:ext cx="50292" cy="4251960"/>
          </a:xfrm>
          <a:prstGeom prst="rect">
            <a:avLst/>
          </a:prstGeom>
          <a:solidFill>
            <a:srgbClr val="FFB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07566" y="1893743"/>
            <a:ext cx="1279321" cy="286232"/>
          </a:xfrm>
          <a:prstGeom prst="rect">
            <a:avLst/>
          </a:prstGeom>
          <a:noFill/>
        </p:spPr>
        <p:txBody>
          <a:bodyPr wrap="square" lIns="27432" tIns="27432" rIns="27432" bIns="27432" anchor="t">
            <a:spAutoFit/>
          </a:bodyPr>
          <a:lstStyle/>
          <a:p>
            <a:pPr algn="l"/>
            <a:r>
              <a:rPr sz="1500" b="1" dirty="0">
                <a:solidFill>
                  <a:srgbClr val="F5F8FC"/>
                </a:solidFill>
                <a:latin typeface="Aptos"/>
              </a:rPr>
              <a:t>LIMITATIONS</a:t>
            </a:r>
          </a:p>
        </p:txBody>
      </p:sp>
      <p:sp>
        <p:nvSpPr>
          <p:cNvPr id="13" name="TextBox 12"/>
          <p:cNvSpPr txBox="1"/>
          <p:nvPr/>
        </p:nvSpPr>
        <p:spPr>
          <a:xfrm>
            <a:off x="6383634" y="2277791"/>
            <a:ext cx="4772142" cy="2763834"/>
          </a:xfrm>
          <a:prstGeom prst="rect">
            <a:avLst/>
          </a:prstGeom>
          <a:noFill/>
        </p:spPr>
        <p:txBody>
          <a:bodyPr wrap="square" lIns="27432" tIns="27432" rIns="27432" bIns="27432" anchor="t">
            <a:spAutoFit/>
          </a:bodyPr>
          <a:lstStyle/>
          <a:p>
            <a:pPr algn="l"/>
            <a:r>
              <a:rPr sz="1600" b="0" dirty="0">
                <a:solidFill>
                  <a:srgbClr val="A4B3C9"/>
                </a:solidFill>
                <a:latin typeface="Aptos"/>
              </a:rPr>
              <a:t>⚠ Hanya </a:t>
            </a:r>
            <a:r>
              <a:rPr sz="1600" b="0" dirty="0" err="1">
                <a:solidFill>
                  <a:srgbClr val="A4B3C9"/>
                </a:solidFill>
                <a:latin typeface="Aptos"/>
              </a:rPr>
              <a:t>satu</a:t>
            </a:r>
            <a:r>
              <a:rPr sz="1600" b="0" dirty="0">
                <a:solidFill>
                  <a:srgbClr val="A4B3C9"/>
                </a:solidFill>
                <a:latin typeface="Aptos"/>
              </a:rPr>
              <a:t> train-test split
⚠ Tidak </a:t>
            </a:r>
            <a:r>
              <a:rPr sz="1600" b="0" dirty="0" err="1">
                <a:solidFill>
                  <a:srgbClr val="A4B3C9"/>
                </a:solidFill>
                <a:latin typeface="Aptos"/>
              </a:rPr>
              <a:t>dijelaskan</a:t>
            </a:r>
            <a:r>
              <a:rPr sz="1600" b="0" dirty="0">
                <a:solidFill>
                  <a:srgbClr val="A4B3C9"/>
                </a:solidFill>
                <a:latin typeface="Aptos"/>
              </a:rPr>
              <a:t> rolling-origin / walk-forward validation
⚠ Tidak </a:t>
            </a:r>
            <a:r>
              <a:rPr sz="1600" b="0" dirty="0" err="1">
                <a:solidFill>
                  <a:srgbClr val="A4B3C9"/>
                </a:solidFill>
                <a:latin typeface="Aptos"/>
              </a:rPr>
              <a:t>ada</a:t>
            </a:r>
            <a:r>
              <a:rPr sz="1600" b="0" dirty="0">
                <a:solidFill>
                  <a:srgbClr val="A4B3C9"/>
                </a:solidFill>
                <a:latin typeface="Aptos"/>
              </a:rPr>
              <a:t> validation set yang </a:t>
            </a:r>
            <a:r>
              <a:rPr sz="1600" b="0" dirty="0" err="1">
                <a:solidFill>
                  <a:srgbClr val="A4B3C9"/>
                </a:solidFill>
                <a:latin typeface="Aptos"/>
              </a:rPr>
              <a:t>dijelaskan</a:t>
            </a:r>
            <a:r>
              <a:rPr sz="1600" b="0" dirty="0">
                <a:solidFill>
                  <a:srgbClr val="A4B3C9"/>
                </a:solidFill>
                <a:latin typeface="Aptos"/>
              </a:rPr>
              <a:t> </a:t>
            </a:r>
            <a:r>
              <a:rPr sz="1600" b="0" dirty="0" err="1">
                <a:solidFill>
                  <a:srgbClr val="A4B3C9"/>
                </a:solidFill>
                <a:latin typeface="Aptos"/>
              </a:rPr>
              <a:t>terpisah</a:t>
            </a:r>
            <a:r>
              <a:rPr sz="1600" b="0" dirty="0">
                <a:solidFill>
                  <a:srgbClr val="A4B3C9"/>
                </a:solidFill>
                <a:latin typeface="Aptos"/>
              </a:rPr>
              <a:t>
⚠ Hyperparameter tuning </a:t>
            </a:r>
            <a:r>
              <a:rPr sz="1600" b="0" dirty="0" err="1">
                <a:solidFill>
                  <a:srgbClr val="A4B3C9"/>
                </a:solidFill>
                <a:latin typeface="Aptos"/>
              </a:rPr>
              <a:t>kurang</a:t>
            </a:r>
            <a:r>
              <a:rPr sz="1600" b="0" dirty="0">
                <a:solidFill>
                  <a:srgbClr val="A4B3C9"/>
                </a:solidFill>
                <a:latin typeface="Aptos"/>
              </a:rPr>
              <a:t> </a:t>
            </a:r>
            <a:r>
              <a:rPr sz="1600" b="0" dirty="0" err="1">
                <a:solidFill>
                  <a:srgbClr val="A4B3C9"/>
                </a:solidFill>
                <a:latin typeface="Aptos"/>
              </a:rPr>
              <a:t>rinci</a:t>
            </a:r>
            <a:r>
              <a:rPr sz="1600" b="0" dirty="0">
                <a:solidFill>
                  <a:srgbClr val="A4B3C9"/>
                </a:solidFill>
                <a:latin typeface="Aptos"/>
              </a:rPr>
              <a:t>
⚠ </a:t>
            </a:r>
            <a:r>
              <a:rPr sz="1600" b="0" dirty="0" err="1">
                <a:solidFill>
                  <a:srgbClr val="A4B3C9"/>
                </a:solidFill>
                <a:latin typeface="Aptos"/>
              </a:rPr>
              <a:t>Pemilihan</a:t>
            </a:r>
            <a:r>
              <a:rPr sz="1600" b="0" dirty="0">
                <a:solidFill>
                  <a:srgbClr val="A4B3C9"/>
                </a:solidFill>
                <a:latin typeface="Aptos"/>
              </a:rPr>
              <a:t> ARIMA(1,1,1) </a:t>
            </a:r>
            <a:r>
              <a:rPr sz="1600" b="0" dirty="0" err="1">
                <a:solidFill>
                  <a:srgbClr val="A4B3C9"/>
                </a:solidFill>
                <a:latin typeface="Aptos"/>
              </a:rPr>
              <a:t>kurang</a:t>
            </a:r>
            <a:r>
              <a:rPr sz="1600" b="0" dirty="0">
                <a:solidFill>
                  <a:srgbClr val="A4B3C9"/>
                </a:solidFill>
                <a:latin typeface="Aptos"/>
              </a:rPr>
              <a:t> </a:t>
            </a:r>
            <a:r>
              <a:rPr sz="1600" b="0" dirty="0" err="1">
                <a:solidFill>
                  <a:srgbClr val="A4B3C9"/>
                </a:solidFill>
                <a:latin typeface="Aptos"/>
              </a:rPr>
              <a:t>dijelaskan</a:t>
            </a:r>
            <a:r>
              <a:rPr sz="1600" b="0" dirty="0">
                <a:solidFill>
                  <a:srgbClr val="A4B3C9"/>
                </a:solidFill>
                <a:latin typeface="Aptos"/>
              </a:rPr>
              <a:t>
⚠ Tidak </a:t>
            </a:r>
            <a:r>
              <a:rPr sz="1600" b="0" dirty="0" err="1">
                <a:solidFill>
                  <a:srgbClr val="A4B3C9"/>
                </a:solidFill>
                <a:latin typeface="Aptos"/>
              </a:rPr>
              <a:t>mengevaluasi</a:t>
            </a:r>
            <a:r>
              <a:rPr sz="1600" b="0" dirty="0">
                <a:solidFill>
                  <a:srgbClr val="A4B3C9"/>
                </a:solidFill>
                <a:latin typeface="Aptos"/>
              </a:rPr>
              <a:t> prediction interval
⚠ Hanya one-step-ahead forecasting
⚠ </a:t>
            </a:r>
            <a:r>
              <a:rPr sz="1600" b="0" dirty="0" err="1">
                <a:solidFill>
                  <a:srgbClr val="A4B3C9"/>
                </a:solidFill>
                <a:latin typeface="Aptos"/>
              </a:rPr>
              <a:t>Definisi</a:t>
            </a:r>
            <a:r>
              <a:rPr sz="1600" b="0" dirty="0">
                <a:solidFill>
                  <a:srgbClr val="A4B3C9"/>
                </a:solidFill>
                <a:latin typeface="Aptos"/>
              </a:rPr>
              <a:t> Accuracy 97,74% </a:t>
            </a:r>
            <a:r>
              <a:rPr sz="1600" b="0" dirty="0" err="1">
                <a:solidFill>
                  <a:srgbClr val="A4B3C9"/>
                </a:solidFill>
                <a:latin typeface="Aptos"/>
              </a:rPr>
              <a:t>perlu</a:t>
            </a:r>
            <a:r>
              <a:rPr sz="1600" b="0" dirty="0">
                <a:solidFill>
                  <a:srgbClr val="A4B3C9"/>
                </a:solidFill>
                <a:latin typeface="Aptos"/>
              </a:rPr>
              <a:t> </a:t>
            </a:r>
            <a:r>
              <a:rPr sz="1600" b="0" dirty="0" err="1">
                <a:solidFill>
                  <a:srgbClr val="A4B3C9"/>
                </a:solidFill>
                <a:latin typeface="Aptos"/>
              </a:rPr>
              <a:t>diperjelas</a:t>
            </a:r>
            <a:r>
              <a:rPr sz="1600" b="0" dirty="0">
                <a:solidFill>
                  <a:srgbClr val="A4B3C9"/>
                </a:solidFill>
                <a:latin typeface="Aptos"/>
              </a:rPr>
              <a:t>
⚠ </a:t>
            </a:r>
            <a:r>
              <a:rPr sz="1600" b="0" dirty="0" err="1">
                <a:solidFill>
                  <a:srgbClr val="A4B3C9"/>
                </a:solidFill>
                <a:latin typeface="Aptos"/>
              </a:rPr>
              <a:t>Prosedur</a:t>
            </a:r>
            <a:r>
              <a:rPr sz="1600" b="0" dirty="0">
                <a:solidFill>
                  <a:srgbClr val="A4B3C9"/>
                </a:solidFill>
                <a:latin typeface="Aptos"/>
              </a:rPr>
              <a:t> fitting </a:t>
            </a:r>
            <a:r>
              <a:rPr sz="1600" b="0" dirty="0" err="1">
                <a:solidFill>
                  <a:srgbClr val="A4B3C9"/>
                </a:solidFill>
                <a:latin typeface="Aptos"/>
              </a:rPr>
              <a:t>MinMaxScaler</a:t>
            </a:r>
            <a:r>
              <a:rPr sz="1600" b="0" dirty="0">
                <a:solidFill>
                  <a:srgbClr val="A4B3C9"/>
                </a:solidFill>
                <a:latin typeface="Aptos"/>
              </a:rPr>
              <a:t> </a:t>
            </a:r>
            <a:r>
              <a:rPr sz="1600" b="0" dirty="0" err="1">
                <a:solidFill>
                  <a:srgbClr val="A4B3C9"/>
                </a:solidFill>
                <a:latin typeface="Aptos"/>
              </a:rPr>
              <a:t>sebelum</a:t>
            </a:r>
            <a:r>
              <a:rPr sz="1600" b="0" dirty="0">
                <a:solidFill>
                  <a:srgbClr val="A4B3C9"/>
                </a:solidFill>
                <a:latin typeface="Aptos"/>
              </a:rPr>
              <a:t>/</a:t>
            </a:r>
            <a:r>
              <a:rPr sz="1600" b="0" dirty="0" err="1">
                <a:solidFill>
                  <a:srgbClr val="A4B3C9"/>
                </a:solidFill>
                <a:latin typeface="Aptos"/>
              </a:rPr>
              <a:t>sesudah</a:t>
            </a:r>
            <a:r>
              <a:rPr sz="1600" b="0" dirty="0">
                <a:solidFill>
                  <a:srgbClr val="A4B3C9"/>
                </a:solidFill>
                <a:latin typeface="Aptos"/>
              </a:rPr>
              <a:t> split </a:t>
            </a:r>
            <a:r>
              <a:rPr sz="1600" b="0" dirty="0" err="1">
                <a:solidFill>
                  <a:srgbClr val="A4B3C9"/>
                </a:solidFill>
                <a:latin typeface="Aptos"/>
              </a:rPr>
              <a:t>tidak</a:t>
            </a:r>
            <a:r>
              <a:rPr sz="1600" b="0" dirty="0">
                <a:solidFill>
                  <a:srgbClr val="A4B3C9"/>
                </a:solidFill>
                <a:latin typeface="Aptos"/>
              </a:rPr>
              <a:t> </a:t>
            </a:r>
            <a:r>
              <a:rPr sz="1600" b="0" dirty="0" err="1">
                <a:solidFill>
                  <a:srgbClr val="A4B3C9"/>
                </a:solidFill>
                <a:latin typeface="Aptos"/>
              </a:rPr>
              <a:t>eksplisit</a:t>
            </a:r>
            <a:endParaRPr sz="1600" b="0" dirty="0">
              <a:solidFill>
                <a:srgbClr val="A4B3C9"/>
              </a:solidFill>
              <a:latin typeface="Aptos"/>
            </a:endParaRPr>
          </a:p>
        </p:txBody>
      </p:sp>
      <p:sp>
        <p:nvSpPr>
          <p:cNvPr id="14" name="TextBox 13"/>
          <p:cNvSpPr txBox="1"/>
          <p:nvPr/>
        </p:nvSpPr>
        <p:spPr>
          <a:xfrm>
            <a:off x="640080" y="6510528"/>
            <a:ext cx="4572000" cy="164592"/>
          </a:xfrm>
          <a:prstGeom prst="rect">
            <a:avLst/>
          </a:prstGeom>
          <a:noFill/>
        </p:spPr>
        <p:txBody>
          <a:bodyPr wrap="none" lIns="27432" tIns="27432" rIns="27432" bIns="27432" anchor="t">
            <a:spAutoFit/>
          </a:bodyPr>
          <a:lstStyle/>
          <a:p>
            <a:pPr algn="l"/>
            <a:r>
              <a:rPr sz="800" b="0">
                <a:solidFill>
                  <a:srgbClr val="A4B3C9"/>
                </a:solidFill>
                <a:latin typeface="Aptos"/>
              </a:rPr>
              <a:t>Bedah Paper • Metode Peramalan Deret Waktu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4572000" cy="274320"/>
          </a:xfrm>
          <a:prstGeom prst="rect">
            <a:avLst/>
          </a:prstGeom>
          <a:noFill/>
        </p:spPr>
        <p:txBody>
          <a:bodyPr wrap="none" lIns="27432" tIns="27432" rIns="27432" bIns="27432" anchor="t">
            <a:spAutoFit/>
          </a:bodyPr>
          <a:lstStyle/>
          <a:p>
            <a:pPr algn="l"/>
            <a:r>
              <a:rPr sz="1000" b="1">
                <a:solidFill>
                  <a:srgbClr val="3DD6E2"/>
                </a:solidFill>
                <a:latin typeface="Aptos"/>
              </a:rPr>
              <a:t>12  •  KESIMPULAN</a:t>
            </a:r>
          </a:p>
        </p:txBody>
      </p:sp>
      <p:sp>
        <p:nvSpPr>
          <p:cNvPr id="3" name="TextBox 2"/>
          <p:cNvSpPr txBox="1"/>
          <p:nvPr/>
        </p:nvSpPr>
        <p:spPr>
          <a:xfrm>
            <a:off x="621792" y="667512"/>
            <a:ext cx="10698480" cy="502920"/>
          </a:xfrm>
          <a:prstGeom prst="rect">
            <a:avLst/>
          </a:prstGeom>
          <a:noFill/>
        </p:spPr>
        <p:txBody>
          <a:bodyPr wrap="none" lIns="27432" tIns="27432" rIns="27432" bIns="27432" anchor="t">
            <a:spAutoFit/>
          </a:bodyPr>
          <a:lstStyle/>
          <a:p>
            <a:pPr algn="l"/>
            <a:r>
              <a:rPr sz="2800" b="1">
                <a:solidFill>
                  <a:srgbClr val="F5F8FC"/>
                </a:solidFill>
                <a:latin typeface="Aptos"/>
              </a:rPr>
              <a:t>Kesimpulan paper &amp; saran</a:t>
            </a:r>
          </a:p>
        </p:txBody>
      </p:sp>
      <p:sp>
        <p:nvSpPr>
          <p:cNvPr id="4" name="TextBox 3"/>
          <p:cNvSpPr txBox="1"/>
          <p:nvPr/>
        </p:nvSpPr>
        <p:spPr>
          <a:xfrm>
            <a:off x="640080" y="1197864"/>
            <a:ext cx="10607040" cy="365760"/>
          </a:xfrm>
          <a:prstGeom prst="rect">
            <a:avLst/>
          </a:prstGeom>
          <a:noFill/>
        </p:spPr>
        <p:txBody>
          <a:bodyPr wrap="none" lIns="27432" tIns="27432" rIns="27432" bIns="27432" anchor="t">
            <a:spAutoFit/>
          </a:bodyPr>
          <a:lstStyle/>
          <a:p>
            <a:pPr algn="l"/>
            <a:r>
              <a:rPr sz="1150" b="0">
                <a:solidFill>
                  <a:srgbClr val="A4B3C9"/>
                </a:solidFill>
                <a:latin typeface="Aptos"/>
              </a:rPr>
              <a:t>Ringkas hasil + arah pengembangan</a:t>
            </a:r>
          </a:p>
        </p:txBody>
      </p:sp>
      <p:sp>
        <p:nvSpPr>
          <p:cNvPr id="5" name="TextBox 4"/>
          <p:cNvSpPr txBox="1"/>
          <p:nvPr/>
        </p:nvSpPr>
        <p:spPr>
          <a:xfrm>
            <a:off x="11018520" y="320040"/>
            <a:ext cx="548640" cy="274320"/>
          </a:xfrm>
          <a:prstGeom prst="rect">
            <a:avLst/>
          </a:prstGeom>
          <a:noFill/>
        </p:spPr>
        <p:txBody>
          <a:bodyPr wrap="none" lIns="27432" tIns="27432" rIns="27432" bIns="27432" anchor="t">
            <a:spAutoFit/>
          </a:bodyPr>
          <a:lstStyle/>
          <a:p>
            <a:pPr algn="r"/>
            <a:r>
              <a:rPr sz="1000" b="1">
                <a:solidFill>
                  <a:srgbClr val="A4B3C9"/>
                </a:solidFill>
                <a:latin typeface="Aptos"/>
              </a:rPr>
              <a:t>12</a:t>
            </a:r>
          </a:p>
        </p:txBody>
      </p:sp>
      <p:sp>
        <p:nvSpPr>
          <p:cNvPr id="6" name="Rounded Rectangle 5"/>
          <p:cNvSpPr/>
          <p:nvPr/>
        </p:nvSpPr>
        <p:spPr>
          <a:xfrm>
            <a:off x="658368" y="1691640"/>
            <a:ext cx="5257800" cy="324612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691640"/>
            <a:ext cx="50292" cy="3246120"/>
          </a:xfrm>
          <a:prstGeom prst="rect">
            <a:avLst/>
          </a:prstGeom>
          <a:solidFill>
            <a:srgbClr val="3DD6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7260" y="1872013"/>
            <a:ext cx="4910328" cy="320040"/>
          </a:xfrm>
          <a:prstGeom prst="rect">
            <a:avLst/>
          </a:prstGeom>
          <a:noFill/>
        </p:spPr>
        <p:txBody>
          <a:bodyPr wrap="none" lIns="27432" tIns="27432" rIns="27432" bIns="27432" anchor="t">
            <a:spAutoFit/>
          </a:bodyPr>
          <a:lstStyle/>
          <a:p>
            <a:pPr algn="l"/>
            <a:r>
              <a:rPr sz="1500" b="1">
                <a:solidFill>
                  <a:srgbClr val="F5F8FC"/>
                </a:solidFill>
                <a:latin typeface="Aptos"/>
              </a:rPr>
              <a:t>KESIMPULAN PAPER</a:t>
            </a:r>
          </a:p>
        </p:txBody>
      </p:sp>
      <p:sp>
        <p:nvSpPr>
          <p:cNvPr id="9" name="TextBox 8"/>
          <p:cNvSpPr txBox="1"/>
          <p:nvPr/>
        </p:nvSpPr>
        <p:spPr>
          <a:xfrm>
            <a:off x="859536" y="2221992"/>
            <a:ext cx="4832137" cy="1778949"/>
          </a:xfrm>
          <a:prstGeom prst="rect">
            <a:avLst/>
          </a:prstGeom>
          <a:noFill/>
        </p:spPr>
        <p:txBody>
          <a:bodyPr wrap="square" lIns="27432" tIns="27432" rIns="27432" bIns="27432" anchor="t">
            <a:spAutoFit/>
          </a:bodyPr>
          <a:lstStyle/>
          <a:p>
            <a:pPr algn="l"/>
            <a:r>
              <a:rPr sz="1600" b="0">
                <a:solidFill>
                  <a:srgbClr val="A4B3C9"/>
                </a:solidFill>
                <a:latin typeface="Aptos"/>
              </a:rPr>
              <a:t>• LSTM dan GRU menghasilkan performa yang dilaporkan lebih baik dibandingkan ARIMA pada data penelitian.
• GRU memperoleh MAPE 2,26%; MAE Rp34.773.098,88; RMSE Rp46.684.832,94; R² 0,9661; Accuracy 97,74%.
• GRU diimplementasikan ke dashboard Streamlit.</a:t>
            </a:r>
          </a:p>
        </p:txBody>
      </p:sp>
      <p:sp>
        <p:nvSpPr>
          <p:cNvPr id="10" name="Rounded Rectangle 9"/>
          <p:cNvSpPr/>
          <p:nvPr/>
        </p:nvSpPr>
        <p:spPr>
          <a:xfrm>
            <a:off x="6144768" y="1691640"/>
            <a:ext cx="5239512" cy="3246120"/>
          </a:xfrm>
          <a:prstGeom prst="roundRect">
            <a:avLst/>
          </a:prstGeom>
          <a:solidFill>
            <a:srgbClr val="101A2E"/>
          </a:solidFill>
          <a:ln w="8890">
            <a:solidFill>
              <a:srgbClr val="30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44768" y="1691640"/>
            <a:ext cx="50292" cy="3246120"/>
          </a:xfrm>
          <a:prstGeom prst="rect">
            <a:avLst/>
          </a:prstGeom>
          <a:solidFill>
            <a:srgbClr val="8F6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62700" y="1901952"/>
            <a:ext cx="4892040" cy="320040"/>
          </a:xfrm>
          <a:prstGeom prst="rect">
            <a:avLst/>
          </a:prstGeom>
          <a:noFill/>
        </p:spPr>
        <p:txBody>
          <a:bodyPr wrap="none" lIns="27432" tIns="27432" rIns="27432" bIns="27432" anchor="t">
            <a:spAutoFit/>
          </a:bodyPr>
          <a:lstStyle/>
          <a:p>
            <a:pPr algn="l"/>
            <a:r>
              <a:rPr sz="1500" b="1">
                <a:solidFill>
                  <a:srgbClr val="F5F8FC"/>
                </a:solidFill>
                <a:latin typeface="Aptos"/>
              </a:rPr>
              <a:t>SARAN PENULIS</a:t>
            </a:r>
          </a:p>
        </p:txBody>
      </p:sp>
      <p:sp>
        <p:nvSpPr>
          <p:cNvPr id="13" name="TextBox 12"/>
          <p:cNvSpPr txBox="1"/>
          <p:nvPr/>
        </p:nvSpPr>
        <p:spPr>
          <a:xfrm>
            <a:off x="6345936" y="2221992"/>
            <a:ext cx="4474430" cy="1532727"/>
          </a:xfrm>
          <a:prstGeom prst="rect">
            <a:avLst/>
          </a:prstGeom>
          <a:noFill/>
        </p:spPr>
        <p:txBody>
          <a:bodyPr wrap="none" lIns="27432" tIns="27432" rIns="27432" bIns="27432" anchor="t">
            <a:spAutoFit/>
          </a:bodyPr>
          <a:lstStyle/>
          <a:p>
            <a:pPr algn="l"/>
            <a:r>
              <a:rPr sz="1600" b="0" dirty="0" err="1">
                <a:solidFill>
                  <a:srgbClr val="A4B3C9"/>
                </a:solidFill>
                <a:latin typeface="Aptos"/>
              </a:rPr>
              <a:t>Penelitian</a:t>
            </a:r>
            <a:r>
              <a:rPr sz="1600" b="0" dirty="0">
                <a:solidFill>
                  <a:srgbClr val="A4B3C9"/>
                </a:solidFill>
                <a:latin typeface="Aptos"/>
              </a:rPr>
              <a:t> </a:t>
            </a:r>
            <a:r>
              <a:rPr sz="1600" b="0" dirty="0" err="1">
                <a:solidFill>
                  <a:srgbClr val="A4B3C9"/>
                </a:solidFill>
                <a:latin typeface="Aptos"/>
              </a:rPr>
              <a:t>selanjutnya</a:t>
            </a:r>
            <a:r>
              <a:rPr sz="1600" b="0" dirty="0">
                <a:solidFill>
                  <a:srgbClr val="A4B3C9"/>
                </a:solidFill>
                <a:latin typeface="Aptos"/>
              </a:rPr>
              <a:t> </a:t>
            </a:r>
            <a:r>
              <a:rPr sz="1600" b="0" dirty="0" err="1">
                <a:solidFill>
                  <a:srgbClr val="A4B3C9"/>
                </a:solidFill>
                <a:latin typeface="Aptos"/>
              </a:rPr>
              <a:t>dapat</a:t>
            </a:r>
            <a:r>
              <a:rPr sz="1600" b="0" dirty="0">
                <a:solidFill>
                  <a:srgbClr val="A4B3C9"/>
                </a:solidFill>
                <a:latin typeface="Aptos"/>
              </a:rPr>
              <a:t>:
• </a:t>
            </a:r>
            <a:r>
              <a:rPr sz="1600" b="0" dirty="0" err="1">
                <a:solidFill>
                  <a:srgbClr val="A4B3C9"/>
                </a:solidFill>
                <a:latin typeface="Aptos"/>
              </a:rPr>
              <a:t>menambahkan</a:t>
            </a:r>
            <a:r>
              <a:rPr sz="1600" b="0" dirty="0">
                <a:solidFill>
                  <a:srgbClr val="A4B3C9"/>
                </a:solidFill>
                <a:latin typeface="Aptos"/>
              </a:rPr>
              <a:t> </a:t>
            </a:r>
            <a:r>
              <a:rPr sz="1600" b="0" dirty="0" err="1">
                <a:solidFill>
                  <a:srgbClr val="A4B3C9"/>
                </a:solidFill>
                <a:latin typeface="Aptos"/>
              </a:rPr>
              <a:t>sentimen</a:t>
            </a:r>
            <a:r>
              <a:rPr sz="1600" b="0" dirty="0">
                <a:solidFill>
                  <a:srgbClr val="A4B3C9"/>
                </a:solidFill>
                <a:latin typeface="Aptos"/>
              </a:rPr>
              <a:t> </a:t>
            </a:r>
            <a:r>
              <a:rPr sz="1600" b="0" dirty="0" err="1">
                <a:solidFill>
                  <a:srgbClr val="A4B3C9"/>
                </a:solidFill>
                <a:latin typeface="Aptos"/>
              </a:rPr>
              <a:t>publik</a:t>
            </a:r>
            <a:r>
              <a:rPr sz="1600" b="0" dirty="0">
                <a:solidFill>
                  <a:srgbClr val="A4B3C9"/>
                </a:solidFill>
                <a:latin typeface="Aptos"/>
              </a:rPr>
              <a:t>,
• </a:t>
            </a:r>
            <a:r>
              <a:rPr sz="1600" b="0" dirty="0" err="1">
                <a:solidFill>
                  <a:srgbClr val="A4B3C9"/>
                </a:solidFill>
                <a:latin typeface="Aptos"/>
              </a:rPr>
              <a:t>menggunakan</a:t>
            </a:r>
            <a:r>
              <a:rPr sz="1600" b="0" dirty="0">
                <a:solidFill>
                  <a:srgbClr val="A4B3C9"/>
                </a:solidFill>
                <a:latin typeface="Aptos"/>
              </a:rPr>
              <a:t> </a:t>
            </a:r>
            <a:r>
              <a:rPr sz="1600" b="0" dirty="0" err="1">
                <a:solidFill>
                  <a:srgbClr val="A4B3C9"/>
                </a:solidFill>
                <a:latin typeface="Aptos"/>
              </a:rPr>
              <a:t>indikator</a:t>
            </a:r>
            <a:r>
              <a:rPr sz="1600" b="0" dirty="0">
                <a:solidFill>
                  <a:srgbClr val="A4B3C9"/>
                </a:solidFill>
                <a:latin typeface="Aptos"/>
              </a:rPr>
              <a:t> </a:t>
            </a:r>
            <a:r>
              <a:rPr sz="1600" b="0" dirty="0" err="1">
                <a:solidFill>
                  <a:srgbClr val="A4B3C9"/>
                </a:solidFill>
                <a:latin typeface="Aptos"/>
              </a:rPr>
              <a:t>teknikal</a:t>
            </a:r>
            <a:r>
              <a:rPr sz="1600" b="0" dirty="0">
                <a:solidFill>
                  <a:srgbClr val="A4B3C9"/>
                </a:solidFill>
                <a:latin typeface="Aptos"/>
              </a:rPr>
              <a:t>,
• </a:t>
            </a:r>
            <a:r>
              <a:rPr sz="1600" b="0" dirty="0" err="1">
                <a:solidFill>
                  <a:srgbClr val="A4B3C9"/>
                </a:solidFill>
                <a:latin typeface="Aptos"/>
              </a:rPr>
              <a:t>memasukkan</a:t>
            </a:r>
            <a:r>
              <a:rPr sz="1600" b="0" dirty="0">
                <a:solidFill>
                  <a:srgbClr val="A4B3C9"/>
                </a:solidFill>
                <a:latin typeface="Aptos"/>
              </a:rPr>
              <a:t> </a:t>
            </a:r>
            <a:r>
              <a:rPr sz="1600" b="0" dirty="0" err="1">
                <a:solidFill>
                  <a:srgbClr val="A4B3C9"/>
                </a:solidFill>
                <a:latin typeface="Aptos"/>
              </a:rPr>
              <a:t>faktor</a:t>
            </a:r>
            <a:r>
              <a:rPr sz="1600" b="0" dirty="0">
                <a:solidFill>
                  <a:srgbClr val="A4B3C9"/>
                </a:solidFill>
                <a:latin typeface="Aptos"/>
              </a:rPr>
              <a:t> </a:t>
            </a:r>
            <a:r>
              <a:rPr sz="1600" b="0" dirty="0" err="1">
                <a:solidFill>
                  <a:srgbClr val="A4B3C9"/>
                </a:solidFill>
                <a:latin typeface="Aptos"/>
              </a:rPr>
              <a:t>makroekonomi</a:t>
            </a:r>
            <a:r>
              <a:rPr sz="1600" b="0" dirty="0">
                <a:solidFill>
                  <a:srgbClr val="A4B3C9"/>
                </a:solidFill>
                <a:latin typeface="Aptos"/>
              </a:rPr>
              <a:t>,
• </a:t>
            </a:r>
            <a:r>
              <a:rPr sz="1600" b="0" dirty="0" err="1">
                <a:solidFill>
                  <a:srgbClr val="A4B3C9"/>
                </a:solidFill>
                <a:latin typeface="Aptos"/>
              </a:rPr>
              <a:t>mengintegrasikan</a:t>
            </a:r>
            <a:r>
              <a:rPr sz="1600" b="0" dirty="0">
                <a:solidFill>
                  <a:srgbClr val="A4B3C9"/>
                </a:solidFill>
                <a:latin typeface="Aptos"/>
              </a:rPr>
              <a:t> NLP,
• </a:t>
            </a:r>
            <a:r>
              <a:rPr sz="1600" b="0" dirty="0" err="1">
                <a:solidFill>
                  <a:srgbClr val="A4B3C9"/>
                </a:solidFill>
                <a:latin typeface="Aptos"/>
              </a:rPr>
              <a:t>melakukan</a:t>
            </a:r>
            <a:r>
              <a:rPr sz="1600" b="0" dirty="0">
                <a:solidFill>
                  <a:srgbClr val="A4B3C9"/>
                </a:solidFill>
                <a:latin typeface="Aptos"/>
              </a:rPr>
              <a:t> user evaluation </a:t>
            </a:r>
            <a:r>
              <a:rPr sz="1600" b="0" dirty="0" err="1">
                <a:solidFill>
                  <a:srgbClr val="A4B3C9"/>
                </a:solidFill>
                <a:latin typeface="Aptos"/>
              </a:rPr>
              <a:t>terhadap</a:t>
            </a:r>
            <a:r>
              <a:rPr sz="1600" b="0" dirty="0">
                <a:solidFill>
                  <a:srgbClr val="A4B3C9"/>
                </a:solidFill>
                <a:latin typeface="Aptos"/>
              </a:rPr>
              <a:t> dashboard.</a:t>
            </a:r>
          </a:p>
        </p:txBody>
      </p:sp>
      <p:sp>
        <p:nvSpPr>
          <p:cNvPr id="14" name="TextBox 13"/>
          <p:cNvSpPr txBox="1"/>
          <p:nvPr/>
        </p:nvSpPr>
        <p:spPr>
          <a:xfrm>
            <a:off x="658368" y="5376672"/>
            <a:ext cx="10725912" cy="347472"/>
          </a:xfrm>
          <a:prstGeom prst="rect">
            <a:avLst/>
          </a:prstGeom>
          <a:noFill/>
        </p:spPr>
        <p:txBody>
          <a:bodyPr wrap="none" lIns="27432" tIns="27432" rIns="27432" bIns="27432" anchor="t">
            <a:spAutoFit/>
          </a:bodyPr>
          <a:lstStyle/>
          <a:p>
            <a:pPr algn="ctr"/>
            <a:r>
              <a:rPr sz="1100" b="0">
                <a:solidFill>
                  <a:srgbClr val="A4B3C9"/>
                </a:solidFill>
                <a:latin typeface="Aptos"/>
              </a:rPr>
              <a:t>Kesimpulan dibaca dalam konteks konfigurasi eksperimen dan test set yang digunakan paper.</a:t>
            </a:r>
          </a:p>
        </p:txBody>
      </p:sp>
      <p:sp>
        <p:nvSpPr>
          <p:cNvPr id="15" name="TextBox 14"/>
          <p:cNvSpPr txBox="1"/>
          <p:nvPr/>
        </p:nvSpPr>
        <p:spPr>
          <a:xfrm>
            <a:off x="640080" y="6510528"/>
            <a:ext cx="4572000" cy="164592"/>
          </a:xfrm>
          <a:prstGeom prst="rect">
            <a:avLst/>
          </a:prstGeom>
          <a:noFill/>
        </p:spPr>
        <p:txBody>
          <a:bodyPr wrap="none" lIns="27432" tIns="27432" rIns="27432" bIns="27432" anchor="t">
            <a:spAutoFit/>
          </a:bodyPr>
          <a:lstStyle/>
          <a:p>
            <a:pPr algn="l"/>
            <a:r>
              <a:rPr sz="800" b="0">
                <a:solidFill>
                  <a:srgbClr val="A4B3C9"/>
                </a:solidFill>
                <a:latin typeface="Aptos"/>
              </a:rPr>
              <a:t>Bedah Paper • Metode Peramalan Deret Waktu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D1B"/>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85254DA-8F1C-4582-E00C-5962B290FE9E}"/>
              </a:ext>
            </a:extLst>
          </p:cNvPr>
          <p:cNvGrpSpPr/>
          <p:nvPr/>
        </p:nvGrpSpPr>
        <p:grpSpPr>
          <a:xfrm>
            <a:off x="690880" y="1888228"/>
            <a:ext cx="10881360" cy="3050286"/>
            <a:chOff x="640080" y="1878330"/>
            <a:chExt cx="10881360" cy="3050286"/>
          </a:xfrm>
        </p:grpSpPr>
        <p:sp>
          <p:nvSpPr>
            <p:cNvPr id="2" name="TextBox 1"/>
            <p:cNvSpPr txBox="1"/>
            <p:nvPr/>
          </p:nvSpPr>
          <p:spPr>
            <a:xfrm>
              <a:off x="3138837" y="1878330"/>
              <a:ext cx="6066725" cy="1163395"/>
            </a:xfrm>
            <a:prstGeom prst="rect">
              <a:avLst/>
            </a:prstGeom>
            <a:noFill/>
          </p:spPr>
          <p:txBody>
            <a:bodyPr wrap="square" lIns="27432" tIns="27432" rIns="27432" bIns="27432" anchor="t">
              <a:spAutoFit/>
            </a:bodyPr>
            <a:lstStyle/>
            <a:p>
              <a:pPr algn="ctr"/>
              <a:r>
                <a:rPr sz="7200" b="1" dirty="0">
                  <a:solidFill>
                    <a:srgbClr val="F5F8FC"/>
                  </a:solidFill>
                  <a:latin typeface="Aptos"/>
                </a:rPr>
                <a:t>TERIMA KASIH</a:t>
              </a:r>
            </a:p>
          </p:txBody>
        </p:sp>
        <p:grpSp>
          <p:nvGrpSpPr>
            <p:cNvPr id="11" name="Group 10">
              <a:extLst>
                <a:ext uri="{FF2B5EF4-FFF2-40B4-BE49-F238E27FC236}">
                  <a16:creationId xmlns:a16="http://schemas.microsoft.com/office/drawing/2014/main" id="{B0151DE0-CE42-3795-2226-8550043EA5D5}"/>
                </a:ext>
              </a:extLst>
            </p:cNvPr>
            <p:cNvGrpSpPr/>
            <p:nvPr/>
          </p:nvGrpSpPr>
          <p:grpSpPr>
            <a:xfrm>
              <a:off x="640080" y="3020568"/>
              <a:ext cx="10881360" cy="1908048"/>
              <a:chOff x="640080" y="3020568"/>
              <a:chExt cx="10881360" cy="1908048"/>
            </a:xfrm>
          </p:grpSpPr>
          <p:sp>
            <p:nvSpPr>
              <p:cNvPr id="3" name="TextBox 2"/>
              <p:cNvSpPr txBox="1"/>
              <p:nvPr/>
            </p:nvSpPr>
            <p:spPr>
              <a:xfrm>
                <a:off x="4189542" y="3020568"/>
                <a:ext cx="3965317" cy="670953"/>
              </a:xfrm>
              <a:prstGeom prst="rect">
                <a:avLst/>
              </a:prstGeom>
              <a:noFill/>
            </p:spPr>
            <p:txBody>
              <a:bodyPr wrap="square" lIns="27432" tIns="27432" rIns="27432" bIns="27432" anchor="t">
                <a:spAutoFit/>
              </a:bodyPr>
              <a:lstStyle/>
              <a:p>
                <a:pPr algn="ctr"/>
                <a:r>
                  <a:rPr lang="en-ID" sz="4000" b="1" dirty="0">
                    <a:solidFill>
                      <a:srgbClr val="3DD6E2"/>
                    </a:solidFill>
                    <a:latin typeface="Aptos"/>
                  </a:rPr>
                  <a:t>Ada </a:t>
                </a:r>
                <a:r>
                  <a:rPr lang="en-ID" sz="4000" b="1" dirty="0" err="1">
                    <a:solidFill>
                      <a:srgbClr val="3DD6E2"/>
                    </a:solidFill>
                    <a:latin typeface="Aptos"/>
                  </a:rPr>
                  <a:t>pertanyaan</a:t>
                </a:r>
                <a:r>
                  <a:rPr lang="en-ID" sz="4000" b="1" dirty="0">
                    <a:solidFill>
                      <a:srgbClr val="3DD6E2"/>
                    </a:solidFill>
                    <a:latin typeface="Aptos"/>
                  </a:rPr>
                  <a:t>?</a:t>
                </a:r>
                <a:endParaRPr sz="4000" b="1" dirty="0">
                  <a:solidFill>
                    <a:srgbClr val="3DD6E2"/>
                  </a:solidFill>
                  <a:latin typeface="Aptos"/>
                </a:endParaRPr>
              </a:p>
            </p:txBody>
          </p:sp>
          <p:sp>
            <p:nvSpPr>
              <p:cNvPr id="4" name="TextBox 3"/>
              <p:cNvSpPr txBox="1"/>
              <p:nvPr/>
            </p:nvSpPr>
            <p:spPr>
              <a:xfrm>
                <a:off x="640080" y="4014978"/>
                <a:ext cx="10881360" cy="292608"/>
              </a:xfrm>
              <a:prstGeom prst="rect">
                <a:avLst/>
              </a:prstGeom>
              <a:noFill/>
            </p:spPr>
            <p:txBody>
              <a:bodyPr wrap="none" lIns="27432" tIns="27432" rIns="27432" bIns="27432" anchor="t">
                <a:spAutoFit/>
              </a:bodyPr>
              <a:lstStyle/>
              <a:p>
                <a:pPr algn="ctr"/>
                <a:r>
                  <a:rPr sz="1100" b="1" dirty="0">
                    <a:solidFill>
                      <a:srgbClr val="A4B3C9"/>
                    </a:solidFill>
                    <a:latin typeface="Aptos"/>
                  </a:rPr>
                  <a:t>ARIMA   •   LSTM   •   GRU   •   STREAMLIT</a:t>
                </a:r>
              </a:p>
            </p:txBody>
          </p:sp>
          <p:sp>
            <p:nvSpPr>
              <p:cNvPr id="5" name="Rounded Rectangle 4"/>
              <p:cNvSpPr/>
              <p:nvPr/>
            </p:nvSpPr>
            <p:spPr>
              <a:xfrm>
                <a:off x="3781425" y="4361688"/>
                <a:ext cx="1325880" cy="566928"/>
              </a:xfrm>
              <a:prstGeom prst="roundRect">
                <a:avLst/>
              </a:prstGeom>
              <a:solidFill>
                <a:srgbClr val="FFB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781425" y="4498848"/>
                <a:ext cx="1325880" cy="209288"/>
              </a:xfrm>
              <a:prstGeom prst="rect">
                <a:avLst/>
              </a:prstGeom>
              <a:noFill/>
            </p:spPr>
            <p:txBody>
              <a:bodyPr wrap="square" lIns="27432" tIns="27432" rIns="27432" bIns="27432" anchor="t">
                <a:spAutoFit/>
              </a:bodyPr>
              <a:lstStyle/>
              <a:p>
                <a:pPr algn="ctr"/>
                <a:r>
                  <a:rPr sz="1000" b="1">
                    <a:solidFill>
                      <a:srgbClr val="070D1B"/>
                    </a:solidFill>
                    <a:latin typeface="Aptos"/>
                  </a:rPr>
                  <a:t>ARIMA</a:t>
                </a:r>
              </a:p>
            </p:txBody>
          </p:sp>
          <p:sp>
            <p:nvSpPr>
              <p:cNvPr id="7" name="Rounded Rectangle 6"/>
              <p:cNvSpPr/>
              <p:nvPr/>
            </p:nvSpPr>
            <p:spPr>
              <a:xfrm>
                <a:off x="5427345" y="4361688"/>
                <a:ext cx="1325880" cy="566928"/>
              </a:xfrm>
              <a:prstGeom prst="roundRect">
                <a:avLst/>
              </a:prstGeom>
              <a:solidFill>
                <a:srgbClr val="8F6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27345" y="4498848"/>
                <a:ext cx="1325880" cy="209288"/>
              </a:xfrm>
              <a:prstGeom prst="rect">
                <a:avLst/>
              </a:prstGeom>
              <a:noFill/>
            </p:spPr>
            <p:txBody>
              <a:bodyPr wrap="square" lIns="27432" tIns="27432" rIns="27432" bIns="27432" anchor="t">
                <a:spAutoFit/>
              </a:bodyPr>
              <a:lstStyle/>
              <a:p>
                <a:pPr algn="ctr"/>
                <a:r>
                  <a:rPr sz="1000" b="1">
                    <a:solidFill>
                      <a:srgbClr val="070D1B"/>
                    </a:solidFill>
                    <a:latin typeface="Aptos"/>
                  </a:rPr>
                  <a:t>LSTM</a:t>
                </a:r>
              </a:p>
            </p:txBody>
          </p:sp>
          <p:sp>
            <p:nvSpPr>
              <p:cNvPr id="9" name="Rounded Rectangle 8"/>
              <p:cNvSpPr/>
              <p:nvPr/>
            </p:nvSpPr>
            <p:spPr>
              <a:xfrm>
                <a:off x="7073265" y="4361688"/>
                <a:ext cx="1325880" cy="566928"/>
              </a:xfrm>
              <a:prstGeom prst="roundRect">
                <a:avLst/>
              </a:prstGeom>
              <a:solidFill>
                <a:srgbClr val="43D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73265" y="4498848"/>
                <a:ext cx="1325880" cy="209288"/>
              </a:xfrm>
              <a:prstGeom prst="rect">
                <a:avLst/>
              </a:prstGeom>
              <a:noFill/>
            </p:spPr>
            <p:txBody>
              <a:bodyPr wrap="square" lIns="27432" tIns="27432" rIns="27432" bIns="27432" anchor="t">
                <a:spAutoFit/>
              </a:bodyPr>
              <a:lstStyle/>
              <a:p>
                <a:pPr algn="ctr"/>
                <a:r>
                  <a:rPr sz="1000" b="1">
                    <a:solidFill>
                      <a:srgbClr val="070D1B"/>
                    </a:solidFill>
                    <a:latin typeface="Aptos"/>
                  </a:rPr>
                  <a:t>GRU</a:t>
                </a: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1803</Words>
  <Application>Microsoft Office PowerPoint</Application>
  <PresentationFormat>Widescreen</PresentationFormat>
  <Paragraphs>214</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DZULFIKAR NAJIB</cp:lastModifiedBy>
  <cp:revision>2</cp:revision>
  <dcterms:created xsi:type="dcterms:W3CDTF">2013-01-27T09:14:16Z</dcterms:created>
  <dcterms:modified xsi:type="dcterms:W3CDTF">2026-09-29T11:50:36Z</dcterms:modified>
  <cp:category/>
</cp:coreProperties>
</file>